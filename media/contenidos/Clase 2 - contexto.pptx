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359" r:id="rId2"/>
    <p:sldId id="361" r:id="rId3"/>
    <p:sldId id="364" r:id="rId4"/>
    <p:sldId id="362" r:id="rId5"/>
    <p:sldId id="256" r:id="rId6"/>
    <p:sldId id="259" r:id="rId7"/>
    <p:sldId id="286" r:id="rId8"/>
    <p:sldId id="318" r:id="rId9"/>
    <p:sldId id="288" r:id="rId10"/>
    <p:sldId id="289" r:id="rId11"/>
    <p:sldId id="304" r:id="rId12"/>
    <p:sldId id="311" r:id="rId13"/>
    <p:sldId id="305" r:id="rId14"/>
    <p:sldId id="306" r:id="rId15"/>
    <p:sldId id="291" r:id="rId16"/>
    <p:sldId id="360" r:id="rId17"/>
    <p:sldId id="366" r:id="rId18"/>
    <p:sldId id="320" r:id="rId19"/>
    <p:sldId id="307" r:id="rId20"/>
    <p:sldId id="292" r:id="rId21"/>
    <p:sldId id="308" r:id="rId22"/>
    <p:sldId id="310" r:id="rId23"/>
    <p:sldId id="309" r:id="rId24"/>
    <p:sldId id="293" r:id="rId25"/>
    <p:sldId id="315" r:id="rId26"/>
    <p:sldId id="322" r:id="rId27"/>
    <p:sldId id="323" r:id="rId28"/>
    <p:sldId id="324" r:id="rId29"/>
    <p:sldId id="365" r:id="rId30"/>
    <p:sldId id="312" r:id="rId31"/>
    <p:sldId id="313" r:id="rId32"/>
    <p:sldId id="329" r:id="rId33"/>
    <p:sldId id="331" r:id="rId34"/>
    <p:sldId id="330" r:id="rId35"/>
    <p:sldId id="333" r:id="rId36"/>
    <p:sldId id="334" r:id="rId37"/>
    <p:sldId id="351" r:id="rId38"/>
    <p:sldId id="352" r:id="rId39"/>
    <p:sldId id="353" r:id="rId40"/>
    <p:sldId id="319" r:id="rId41"/>
    <p:sldId id="363" r:id="rId42"/>
    <p:sldId id="284" r:id="rId43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5D0F43-EDBE-4C07-B82E-37283514D040}" v="13" dt="2026-04-16T20:45:40.398"/>
    <p1510:client id="{AD0DEAD0-E1C7-48E2-87DE-A6B8D7BDF3BD}" v="15" dt="2026-04-16T23:17:34.4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>
      <p:cViewPr varScale="1">
        <p:scale>
          <a:sx n="74" d="100"/>
          <a:sy n="74" d="100"/>
        </p:scale>
        <p:origin x="1146" y="2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 Romero" userId="92a667c11581d2b5" providerId="LiveId" clId="{B8BD633B-AC77-499D-A8BD-33E65CF11E24}"/>
    <pc:docChg chg="undo custSel addSld delSld modSld">
      <pc:chgData name="Martin Romero" userId="92a667c11581d2b5" providerId="LiveId" clId="{B8BD633B-AC77-499D-A8BD-33E65CF11E24}" dt="2026-04-16T21:26:39.157" v="262" actId="20577"/>
      <pc:docMkLst>
        <pc:docMk/>
      </pc:docMkLst>
      <pc:sldChg chg="addSp modSp mod">
        <pc:chgData name="Martin Romero" userId="92a667c11581d2b5" providerId="LiveId" clId="{B8BD633B-AC77-499D-A8BD-33E65CF11E24}" dt="2026-04-16T20:37:00.330" v="42" actId="1076"/>
        <pc:sldMkLst>
          <pc:docMk/>
          <pc:sldMk cId="0" sldId="291"/>
        </pc:sldMkLst>
        <pc:spChg chg="add mod">
          <ac:chgData name="Martin Romero" userId="92a667c11581d2b5" providerId="LiveId" clId="{B8BD633B-AC77-499D-A8BD-33E65CF11E24}" dt="2026-04-16T20:37:00.330" v="42" actId="1076"/>
          <ac:spMkLst>
            <pc:docMk/>
            <pc:sldMk cId="0" sldId="291"/>
            <ac:spMk id="5" creationId="{61B01367-8F39-C397-0368-DEE6B14B394E}"/>
          </ac:spMkLst>
        </pc:spChg>
      </pc:sldChg>
      <pc:sldChg chg="modSp mod">
        <pc:chgData name="Martin Romero" userId="92a667c11581d2b5" providerId="LiveId" clId="{B8BD633B-AC77-499D-A8BD-33E65CF11E24}" dt="2026-04-16T20:18:37.443" v="3" actId="20577"/>
        <pc:sldMkLst>
          <pc:docMk/>
          <pc:sldMk cId="918415806" sldId="312"/>
        </pc:sldMkLst>
        <pc:spChg chg="mod">
          <ac:chgData name="Martin Romero" userId="92a667c11581d2b5" providerId="LiveId" clId="{B8BD633B-AC77-499D-A8BD-33E65CF11E24}" dt="2026-04-16T20:18:37.443" v="3" actId="20577"/>
          <ac:spMkLst>
            <pc:docMk/>
            <pc:sldMk cId="918415806" sldId="312"/>
            <ac:spMk id="3" creationId="{00000000-0000-0000-0000-000000000000}"/>
          </ac:spMkLst>
        </pc:spChg>
      </pc:sldChg>
      <pc:sldChg chg="del">
        <pc:chgData name="Martin Romero" userId="92a667c11581d2b5" providerId="LiveId" clId="{B8BD633B-AC77-499D-A8BD-33E65CF11E24}" dt="2026-04-16T20:45:01.577" v="109" actId="47"/>
        <pc:sldMkLst>
          <pc:docMk/>
          <pc:sldMk cId="2463008678" sldId="314"/>
        </pc:sldMkLst>
      </pc:sldChg>
      <pc:sldChg chg="modSp mod">
        <pc:chgData name="Martin Romero" userId="92a667c11581d2b5" providerId="LiveId" clId="{B8BD633B-AC77-499D-A8BD-33E65CF11E24}" dt="2026-04-16T20:38:06.098" v="43" actId="313"/>
        <pc:sldMkLst>
          <pc:docMk/>
          <pc:sldMk cId="3543047201" sldId="315"/>
        </pc:sldMkLst>
        <pc:graphicFrameChg chg="modGraphic">
          <ac:chgData name="Martin Romero" userId="92a667c11581d2b5" providerId="LiveId" clId="{B8BD633B-AC77-499D-A8BD-33E65CF11E24}" dt="2026-04-16T20:38:06.098" v="43" actId="313"/>
          <ac:graphicFrameMkLst>
            <pc:docMk/>
            <pc:sldMk cId="3543047201" sldId="315"/>
            <ac:graphicFrameMk id="4" creationId="{00000000-0000-0000-0000-000000000000}"/>
          </ac:graphicFrameMkLst>
        </pc:graphicFrameChg>
      </pc:sldChg>
      <pc:sldChg chg="del">
        <pc:chgData name="Martin Romero" userId="92a667c11581d2b5" providerId="LiveId" clId="{B8BD633B-AC77-499D-A8BD-33E65CF11E24}" dt="2026-04-16T20:45:01.577" v="109" actId="47"/>
        <pc:sldMkLst>
          <pc:docMk/>
          <pc:sldMk cId="109893535" sldId="316"/>
        </pc:sldMkLst>
      </pc:sldChg>
      <pc:sldChg chg="addSp delSp modSp mod">
        <pc:chgData name="Martin Romero" userId="92a667c11581d2b5" providerId="LiveId" clId="{B8BD633B-AC77-499D-A8BD-33E65CF11E24}" dt="2026-04-16T20:42:53.162" v="94" actId="478"/>
        <pc:sldMkLst>
          <pc:docMk/>
          <pc:sldMk cId="0" sldId="324"/>
        </pc:sldMkLst>
        <pc:graphicFrameChg chg="add del mod modGraphic">
          <ac:chgData name="Martin Romero" userId="92a667c11581d2b5" providerId="LiveId" clId="{B8BD633B-AC77-499D-A8BD-33E65CF11E24}" dt="2026-04-16T20:40:23.752" v="58" actId="478"/>
          <ac:graphicFrameMkLst>
            <pc:docMk/>
            <pc:sldMk cId="0" sldId="324"/>
            <ac:graphicFrameMk id="4" creationId="{0BB2E314-60EE-3EEC-EC74-D47BCE4B795B}"/>
          </ac:graphicFrameMkLst>
        </pc:graphicFrameChg>
        <pc:graphicFrameChg chg="add del modGraphic">
          <ac:chgData name="Martin Romero" userId="92a667c11581d2b5" providerId="LiveId" clId="{B8BD633B-AC77-499D-A8BD-33E65CF11E24}" dt="2026-04-16T20:40:58.949" v="60" actId="1032"/>
          <ac:graphicFrameMkLst>
            <pc:docMk/>
            <pc:sldMk cId="0" sldId="324"/>
            <ac:graphicFrameMk id="5" creationId="{A7862216-BA90-6CA9-CD97-C4DEC926BB47}"/>
          </ac:graphicFrameMkLst>
        </pc:graphicFrameChg>
        <pc:graphicFrameChg chg="add del mod modGraphic">
          <ac:chgData name="Martin Romero" userId="92a667c11581d2b5" providerId="LiveId" clId="{B8BD633B-AC77-499D-A8BD-33E65CF11E24}" dt="2026-04-16T20:42:53.162" v="94" actId="478"/>
          <ac:graphicFrameMkLst>
            <pc:docMk/>
            <pc:sldMk cId="0" sldId="324"/>
            <ac:graphicFrameMk id="6" creationId="{6A6E42FD-ACFF-7F5C-DD97-995CE5CB6A54}"/>
          </ac:graphicFrameMkLst>
        </pc:graphicFrameChg>
      </pc:sldChg>
      <pc:sldChg chg="addSp delSp modSp mod modAnim">
        <pc:chgData name="Martin Romero" userId="92a667c11581d2b5" providerId="LiveId" clId="{B8BD633B-AC77-499D-A8BD-33E65CF11E24}" dt="2026-04-16T20:45:40.398" v="110"/>
        <pc:sldMkLst>
          <pc:docMk/>
          <pc:sldMk cId="99345485" sldId="334"/>
        </pc:sldMkLst>
        <pc:spChg chg="del">
          <ac:chgData name="Martin Romero" userId="92a667c11581d2b5" providerId="LiveId" clId="{B8BD633B-AC77-499D-A8BD-33E65CF11E24}" dt="2026-04-16T20:29:51.318" v="12" actId="478"/>
          <ac:spMkLst>
            <pc:docMk/>
            <pc:sldMk cId="99345485" sldId="334"/>
            <ac:spMk id="2" creationId="{00000000-0000-0000-0000-000000000000}"/>
          </ac:spMkLst>
        </pc:spChg>
        <pc:spChg chg="del">
          <ac:chgData name="Martin Romero" userId="92a667c11581d2b5" providerId="LiveId" clId="{B8BD633B-AC77-499D-A8BD-33E65CF11E24}" dt="2026-04-16T20:29:52.578" v="13" actId="478"/>
          <ac:spMkLst>
            <pc:docMk/>
            <pc:sldMk cId="99345485" sldId="334"/>
            <ac:spMk id="3" creationId="{00000000-0000-0000-0000-000000000000}"/>
          </ac:spMkLst>
        </pc:spChg>
        <pc:spChg chg="add mod">
          <ac:chgData name="Martin Romero" userId="92a667c11581d2b5" providerId="LiveId" clId="{B8BD633B-AC77-499D-A8BD-33E65CF11E24}" dt="2026-04-16T20:31:30.138" v="39" actId="403"/>
          <ac:spMkLst>
            <pc:docMk/>
            <pc:sldMk cId="99345485" sldId="334"/>
            <ac:spMk id="7" creationId="{BEDE107C-EA83-3E33-FE5F-A48B655B5773}"/>
          </ac:spMkLst>
        </pc:spChg>
        <pc:spChg chg="add mod">
          <ac:chgData name="Martin Romero" userId="92a667c11581d2b5" providerId="LiveId" clId="{B8BD633B-AC77-499D-A8BD-33E65CF11E24}" dt="2026-04-16T20:31:33.876" v="40" actId="1076"/>
          <ac:spMkLst>
            <pc:docMk/>
            <pc:sldMk cId="99345485" sldId="334"/>
            <ac:spMk id="8" creationId="{27ECA8A1-F4DA-0695-A823-4CA158E9A2B6}"/>
          </ac:spMkLst>
        </pc:spChg>
        <pc:picChg chg="mod">
          <ac:chgData name="Martin Romero" userId="92a667c11581d2b5" providerId="LiveId" clId="{B8BD633B-AC77-499D-A8BD-33E65CF11E24}" dt="2026-04-16T20:31:02.418" v="26" actId="1076"/>
          <ac:picMkLst>
            <pc:docMk/>
            <pc:sldMk cId="99345485" sldId="334"/>
            <ac:picMk id="4" creationId="{00000000-0000-0000-0000-000000000000}"/>
          </ac:picMkLst>
        </pc:picChg>
        <pc:picChg chg="mod">
          <ac:chgData name="Martin Romero" userId="92a667c11581d2b5" providerId="LiveId" clId="{B8BD633B-AC77-499D-A8BD-33E65CF11E24}" dt="2026-04-16T20:31:04.418" v="27" actId="1076"/>
          <ac:picMkLst>
            <pc:docMk/>
            <pc:sldMk cId="99345485" sldId="334"/>
            <ac:picMk id="5" creationId="{00000000-0000-0000-0000-000000000000}"/>
          </ac:picMkLst>
        </pc:picChg>
      </pc:sldChg>
      <pc:sldChg chg="modSp mod">
        <pc:chgData name="Martin Romero" userId="92a667c11581d2b5" providerId="LiveId" clId="{B8BD633B-AC77-499D-A8BD-33E65CF11E24}" dt="2026-04-16T21:12:59.531" v="225" actId="6549"/>
        <pc:sldMkLst>
          <pc:docMk/>
          <pc:sldMk cId="1205365442" sldId="361"/>
        </pc:sldMkLst>
        <pc:spChg chg="mod">
          <ac:chgData name="Martin Romero" userId="92a667c11581d2b5" providerId="LiveId" clId="{B8BD633B-AC77-499D-A8BD-33E65CF11E24}" dt="2026-04-16T21:12:59.531" v="225" actId="6549"/>
          <ac:spMkLst>
            <pc:docMk/>
            <pc:sldMk cId="1205365442" sldId="361"/>
            <ac:spMk id="3" creationId="{2E3E2C3B-6648-0B42-C9E9-0FE758F2CF75}"/>
          </ac:spMkLst>
        </pc:spChg>
      </pc:sldChg>
      <pc:sldChg chg="modSp mod">
        <pc:chgData name="Martin Romero" userId="92a667c11581d2b5" providerId="LiveId" clId="{B8BD633B-AC77-499D-A8BD-33E65CF11E24}" dt="2026-04-16T21:26:39.157" v="262" actId="20577"/>
        <pc:sldMkLst>
          <pc:docMk/>
          <pc:sldMk cId="1599773268" sldId="362"/>
        </pc:sldMkLst>
        <pc:spChg chg="mod">
          <ac:chgData name="Martin Romero" userId="92a667c11581d2b5" providerId="LiveId" clId="{B8BD633B-AC77-499D-A8BD-33E65CF11E24}" dt="2026-04-16T21:26:39.157" v="262" actId="20577"/>
          <ac:spMkLst>
            <pc:docMk/>
            <pc:sldMk cId="1599773268" sldId="362"/>
            <ac:spMk id="3" creationId="{2B7AB3A0-A37C-E125-C047-D467DC592381}"/>
          </ac:spMkLst>
        </pc:spChg>
      </pc:sldChg>
      <pc:sldChg chg="addSp delSp modSp mod">
        <pc:chgData name="Martin Romero" userId="92a667c11581d2b5" providerId="LiveId" clId="{B8BD633B-AC77-499D-A8BD-33E65CF11E24}" dt="2026-04-16T21:25:53.027" v="229" actId="14100"/>
        <pc:sldMkLst>
          <pc:docMk/>
          <pc:sldMk cId="582809802" sldId="364"/>
        </pc:sldMkLst>
        <pc:picChg chg="add mod">
          <ac:chgData name="Martin Romero" userId="92a667c11581d2b5" providerId="LiveId" clId="{B8BD633B-AC77-499D-A8BD-33E65CF11E24}" dt="2026-04-16T21:25:53.027" v="229" actId="14100"/>
          <ac:picMkLst>
            <pc:docMk/>
            <pc:sldMk cId="582809802" sldId="364"/>
            <ac:picMk id="3" creationId="{9D7B6869-B769-7C90-531F-F726BAEA5616}"/>
          </ac:picMkLst>
        </pc:picChg>
        <pc:picChg chg="del">
          <ac:chgData name="Martin Romero" userId="92a667c11581d2b5" providerId="LiveId" clId="{B8BD633B-AC77-499D-A8BD-33E65CF11E24}" dt="2026-04-16T21:25:48.039" v="226" actId="478"/>
          <ac:picMkLst>
            <pc:docMk/>
            <pc:sldMk cId="582809802" sldId="364"/>
            <ac:picMk id="5" creationId="{93CBB3A6-2E44-7F77-D204-532F638E2163}"/>
          </ac:picMkLst>
        </pc:picChg>
      </pc:sldChg>
      <pc:sldChg chg="addSp delSp modSp add mod modAnim">
        <pc:chgData name="Martin Romero" userId="92a667c11581d2b5" providerId="LiveId" clId="{B8BD633B-AC77-499D-A8BD-33E65CF11E24}" dt="2026-04-16T20:44:53.617" v="108" actId="403"/>
        <pc:sldMkLst>
          <pc:docMk/>
          <pc:sldMk cId="2094158969" sldId="365"/>
        </pc:sldMkLst>
        <pc:spChg chg="del">
          <ac:chgData name="Martin Romero" userId="92a667c11581d2b5" providerId="LiveId" clId="{B8BD633B-AC77-499D-A8BD-33E65CF11E24}" dt="2026-04-16T20:43:01.788" v="97" actId="478"/>
          <ac:spMkLst>
            <pc:docMk/>
            <pc:sldMk cId="2094158969" sldId="365"/>
            <ac:spMk id="2" creationId="{464272DC-6D6D-6677-1DA8-B65571091504}"/>
          </ac:spMkLst>
        </pc:spChg>
        <pc:spChg chg="del">
          <ac:chgData name="Martin Romero" userId="92a667c11581d2b5" providerId="LiveId" clId="{B8BD633B-AC77-499D-A8BD-33E65CF11E24}" dt="2026-04-16T20:42:57.767" v="95" actId="478"/>
          <ac:spMkLst>
            <pc:docMk/>
            <pc:sldMk cId="2094158969" sldId="365"/>
            <ac:spMk id="3" creationId="{64E7750B-D8E4-A760-BA86-5E3D063D920A}"/>
          </ac:spMkLst>
        </pc:spChg>
        <pc:spChg chg="add del mod">
          <ac:chgData name="Martin Romero" userId="92a667c11581d2b5" providerId="LiveId" clId="{B8BD633B-AC77-499D-A8BD-33E65CF11E24}" dt="2026-04-16T20:43:00.002" v="96" actId="478"/>
          <ac:spMkLst>
            <pc:docMk/>
            <pc:sldMk cId="2094158969" sldId="365"/>
            <ac:spMk id="5" creationId="{0483D8CF-0465-F36B-39D9-918D9D6DC666}"/>
          </ac:spMkLst>
        </pc:spChg>
        <pc:spChg chg="add del mod">
          <ac:chgData name="Martin Romero" userId="92a667c11581d2b5" providerId="LiveId" clId="{B8BD633B-AC77-499D-A8BD-33E65CF11E24}" dt="2026-04-16T20:43:04.078" v="98" actId="478"/>
          <ac:spMkLst>
            <pc:docMk/>
            <pc:sldMk cId="2094158969" sldId="365"/>
            <ac:spMk id="8" creationId="{19252E6F-E48A-694A-DB81-8385183F269D}"/>
          </ac:spMkLst>
        </pc:spChg>
        <pc:graphicFrameChg chg="mod modGraphic">
          <ac:chgData name="Martin Romero" userId="92a667c11581d2b5" providerId="LiveId" clId="{B8BD633B-AC77-499D-A8BD-33E65CF11E24}" dt="2026-04-16T20:44:53.617" v="108" actId="403"/>
          <ac:graphicFrameMkLst>
            <pc:docMk/>
            <pc:sldMk cId="2094158969" sldId="365"/>
            <ac:graphicFrameMk id="6" creationId="{17C9FA6F-C80E-443B-2CFA-E95D3E491351}"/>
          </ac:graphicFrameMkLst>
        </pc:graphicFrameChg>
      </pc:sldChg>
    </pc:docChg>
  </pc:docChgLst>
  <pc:docChgLst>
    <pc:chgData name="Martin Romero" userId="92a667c11581d2b5" providerId="LiveId" clId="{1B0CCE40-0D0C-4894-81DD-83D718F69A0A}"/>
    <pc:docChg chg="custSel addSld modSld">
      <pc:chgData name="Martin Romero" userId="92a667c11581d2b5" providerId="LiveId" clId="{1B0CCE40-0D0C-4894-81DD-83D718F69A0A}" dt="2026-04-17T00:09:01.883" v="73" actId="20577"/>
      <pc:docMkLst>
        <pc:docMk/>
      </pc:docMkLst>
      <pc:sldChg chg="modSp mod">
        <pc:chgData name="Martin Romero" userId="92a667c11581d2b5" providerId="LiveId" clId="{1B0CCE40-0D0C-4894-81DD-83D718F69A0A}" dt="2026-04-17T00:09:01.883" v="73" actId="20577"/>
        <pc:sldMkLst>
          <pc:docMk/>
          <pc:sldMk cId="0" sldId="284"/>
        </pc:sldMkLst>
        <pc:spChg chg="mod">
          <ac:chgData name="Martin Romero" userId="92a667c11581d2b5" providerId="LiveId" clId="{1B0CCE40-0D0C-4894-81DD-83D718F69A0A}" dt="2026-04-17T00:09:01.883" v="73" actId="20577"/>
          <ac:spMkLst>
            <pc:docMk/>
            <pc:sldMk cId="0" sldId="284"/>
            <ac:spMk id="3" creationId="{00000000-0000-0000-0000-000000000000}"/>
          </ac:spMkLst>
        </pc:spChg>
      </pc:sldChg>
      <pc:sldChg chg="modSp mod">
        <pc:chgData name="Martin Romero" userId="92a667c11581d2b5" providerId="LiveId" clId="{1B0CCE40-0D0C-4894-81DD-83D718F69A0A}" dt="2026-04-16T23:20:20.438" v="71" actId="27636"/>
        <pc:sldMkLst>
          <pc:docMk/>
          <pc:sldMk cId="0" sldId="324"/>
        </pc:sldMkLst>
        <pc:spChg chg="mod">
          <ac:chgData name="Martin Romero" userId="92a667c11581d2b5" providerId="LiveId" clId="{1B0CCE40-0D0C-4894-81DD-83D718F69A0A}" dt="2026-04-16T23:20:20.438" v="71" actId="27636"/>
          <ac:spMkLst>
            <pc:docMk/>
            <pc:sldMk cId="0" sldId="324"/>
            <ac:spMk id="3" creationId="{00000000-0000-0000-0000-000000000000}"/>
          </ac:spMkLst>
        </pc:spChg>
      </pc:sldChg>
      <pc:sldChg chg="addSp delSp modSp mod delAnim">
        <pc:chgData name="Martin Romero" userId="92a667c11581d2b5" providerId="LiveId" clId="{1B0CCE40-0D0C-4894-81DD-83D718F69A0A}" dt="2026-04-16T22:05:04.360" v="3" actId="478"/>
        <pc:sldMkLst>
          <pc:docMk/>
          <pc:sldMk cId="1570632317" sldId="352"/>
        </pc:sldMkLst>
        <pc:spChg chg="add del mod">
          <ac:chgData name="Martin Romero" userId="92a667c11581d2b5" providerId="LiveId" clId="{1B0CCE40-0D0C-4894-81DD-83D718F69A0A}" dt="2026-04-16T22:05:04.360" v="3" actId="478"/>
          <ac:spMkLst>
            <pc:docMk/>
            <pc:sldMk cId="1570632317" sldId="352"/>
            <ac:spMk id="7" creationId="{AEA0BF1F-356E-C670-63C5-17D70AAD981F}"/>
          </ac:spMkLst>
        </pc:spChg>
        <pc:picChg chg="del">
          <ac:chgData name="Martin Romero" userId="92a667c11581d2b5" providerId="LiveId" clId="{1B0CCE40-0D0C-4894-81DD-83D718F69A0A}" dt="2026-04-16T22:00:54.357" v="1" actId="478"/>
          <ac:picMkLst>
            <pc:docMk/>
            <pc:sldMk cId="1570632317" sldId="352"/>
            <ac:picMk id="4" creationId="{2937038E-407B-48C9-A5FF-B4F30B801228}"/>
          </ac:picMkLst>
        </pc:picChg>
        <pc:picChg chg="add mod">
          <ac:chgData name="Martin Romero" userId="92a667c11581d2b5" providerId="LiveId" clId="{1B0CCE40-0D0C-4894-81DD-83D718F69A0A}" dt="2026-04-16T22:05:01.143" v="2" actId="1076"/>
          <ac:picMkLst>
            <pc:docMk/>
            <pc:sldMk cId="1570632317" sldId="352"/>
            <ac:picMk id="5" creationId="{1311959A-7135-AA61-4F43-4E0EB42236B1}"/>
          </ac:picMkLst>
        </pc:picChg>
      </pc:sldChg>
      <pc:sldChg chg="modSp mod">
        <pc:chgData name="Martin Romero" userId="92a667c11581d2b5" providerId="LiveId" clId="{1B0CCE40-0D0C-4894-81DD-83D718F69A0A}" dt="2026-04-16T22:13:47.149" v="13" actId="20577"/>
        <pc:sldMkLst>
          <pc:docMk/>
          <pc:sldMk cId="1205365442" sldId="361"/>
        </pc:sldMkLst>
        <pc:spChg chg="mod">
          <ac:chgData name="Martin Romero" userId="92a667c11581d2b5" providerId="LiveId" clId="{1B0CCE40-0D0C-4894-81DD-83D718F69A0A}" dt="2026-04-16T22:13:47.149" v="13" actId="20577"/>
          <ac:spMkLst>
            <pc:docMk/>
            <pc:sldMk cId="1205365442" sldId="361"/>
            <ac:spMk id="3" creationId="{2E3E2C3B-6648-0B42-C9E9-0FE758F2CF75}"/>
          </ac:spMkLst>
        </pc:spChg>
      </pc:sldChg>
      <pc:sldChg chg="addSp delSp modSp mod">
        <pc:chgData name="Martin Romero" userId="92a667c11581d2b5" providerId="LiveId" clId="{1B0CCE40-0D0C-4894-81DD-83D718F69A0A}" dt="2026-04-16T23:18:10.096" v="24" actId="1076"/>
        <pc:sldMkLst>
          <pc:docMk/>
          <pc:sldMk cId="678856772" sldId="363"/>
        </pc:sldMkLst>
        <pc:spChg chg="mod">
          <ac:chgData name="Martin Romero" userId="92a667c11581d2b5" providerId="LiveId" clId="{1B0CCE40-0D0C-4894-81DD-83D718F69A0A}" dt="2026-04-16T23:17:44.889" v="17" actId="1076"/>
          <ac:spMkLst>
            <pc:docMk/>
            <pc:sldMk cId="678856772" sldId="363"/>
            <ac:spMk id="2" creationId="{3B126F6D-6E73-53EE-2A58-D575FC4911D5}"/>
          </ac:spMkLst>
        </pc:spChg>
        <pc:spChg chg="mod">
          <ac:chgData name="Martin Romero" userId="92a667c11581d2b5" providerId="LiveId" clId="{1B0CCE40-0D0C-4894-81DD-83D718F69A0A}" dt="2026-04-16T23:18:10.096" v="24" actId="1076"/>
          <ac:spMkLst>
            <pc:docMk/>
            <pc:sldMk cId="678856772" sldId="363"/>
            <ac:spMk id="3" creationId="{03513CB5-74F9-8133-D35C-6BFB99F2BACE}"/>
          </ac:spMkLst>
        </pc:spChg>
        <pc:picChg chg="del">
          <ac:chgData name="Martin Romero" userId="92a667c11581d2b5" providerId="LiveId" clId="{1B0CCE40-0D0C-4894-81DD-83D718F69A0A}" dt="2026-04-16T23:17:54.516" v="19" actId="478"/>
          <ac:picMkLst>
            <pc:docMk/>
            <pc:sldMk cId="678856772" sldId="363"/>
            <ac:picMk id="4" creationId="{70C7DAD1-EB59-6C98-7414-478C933AC5EB}"/>
          </ac:picMkLst>
        </pc:picChg>
        <pc:picChg chg="add mod">
          <ac:chgData name="Martin Romero" userId="92a667c11581d2b5" providerId="LiveId" clId="{1B0CCE40-0D0C-4894-81DD-83D718F69A0A}" dt="2026-04-16T23:17:52.285" v="18" actId="1076"/>
          <ac:picMkLst>
            <pc:docMk/>
            <pc:sldMk cId="678856772" sldId="363"/>
            <ac:picMk id="5" creationId="{8AF1475C-AE50-6881-4582-83F281D30230}"/>
          </ac:picMkLst>
        </pc:picChg>
      </pc:sldChg>
      <pc:sldChg chg="delSp new mod">
        <pc:chgData name="Martin Romero" userId="92a667c11581d2b5" providerId="LiveId" clId="{1B0CCE40-0D0C-4894-81DD-83D718F69A0A}" dt="2026-04-16T22:05:36.655" v="6" actId="478"/>
        <pc:sldMkLst>
          <pc:docMk/>
          <pc:sldMk cId="3192069722" sldId="366"/>
        </pc:sldMkLst>
        <pc:spChg chg="del">
          <ac:chgData name="Martin Romero" userId="92a667c11581d2b5" providerId="LiveId" clId="{1B0CCE40-0D0C-4894-81DD-83D718F69A0A}" dt="2026-04-16T22:05:34.207" v="5" actId="478"/>
          <ac:spMkLst>
            <pc:docMk/>
            <pc:sldMk cId="3192069722" sldId="366"/>
            <ac:spMk id="2" creationId="{E4C81304-8464-1D2A-BF11-DAE131281CF1}"/>
          </ac:spMkLst>
        </pc:spChg>
        <pc:spChg chg="del">
          <ac:chgData name="Martin Romero" userId="92a667c11581d2b5" providerId="LiveId" clId="{1B0CCE40-0D0C-4894-81DD-83D718F69A0A}" dt="2026-04-16T22:05:36.655" v="6" actId="478"/>
          <ac:spMkLst>
            <pc:docMk/>
            <pc:sldMk cId="3192069722" sldId="366"/>
            <ac:spMk id="3" creationId="{EA3FDFE6-5628-AB7C-10CF-0543A5DDB7EC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F27359-4B7D-4338-86E6-C784106A48D1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F40D4722-CB9C-4068-A089-8E4B27C8708C}">
      <dgm:prSet phldrT="[Text]"/>
      <dgm:spPr/>
      <dgm:t>
        <a:bodyPr/>
        <a:lstStyle/>
        <a:p>
          <a:r>
            <a:rPr lang="es-AR" noProof="0" dirty="0"/>
            <a:t>Qué fuerzas condicionan el funcionamiento de la organización?</a:t>
          </a:r>
        </a:p>
      </dgm:t>
    </dgm:pt>
    <dgm:pt modelId="{16356D9C-1EE0-4F53-A599-2DBF5F6FF5B5}" type="parTrans" cxnId="{657BCAE0-F285-4528-B50F-6EDACB84312A}">
      <dgm:prSet/>
      <dgm:spPr/>
      <dgm:t>
        <a:bodyPr/>
        <a:lstStyle/>
        <a:p>
          <a:endParaRPr lang="en-US"/>
        </a:p>
      </dgm:t>
    </dgm:pt>
    <dgm:pt modelId="{00DCE6A4-AA3B-44E3-AE8A-91929456630C}" type="sibTrans" cxnId="{657BCAE0-F285-4528-B50F-6EDACB84312A}">
      <dgm:prSet/>
      <dgm:spPr/>
      <dgm:t>
        <a:bodyPr/>
        <a:lstStyle/>
        <a:p>
          <a:endParaRPr lang="en-US"/>
        </a:p>
      </dgm:t>
    </dgm:pt>
    <dgm:pt modelId="{9A6EED18-76D1-4CDB-803F-B6E46C6EB1F4}">
      <dgm:prSet phldrT="[Text]"/>
      <dgm:spPr/>
      <dgm:t>
        <a:bodyPr/>
        <a:lstStyle/>
        <a:p>
          <a:r>
            <a:rPr lang="es-AR" noProof="0" dirty="0"/>
            <a:t>Definir qué tipo de organización necesito. </a:t>
          </a:r>
        </a:p>
      </dgm:t>
    </dgm:pt>
    <dgm:pt modelId="{B6C2F0A2-E265-4958-86AF-24A3FE963614}" type="parTrans" cxnId="{7916BC8B-4CA7-4483-B524-61E0220B4043}">
      <dgm:prSet/>
      <dgm:spPr/>
      <dgm:t>
        <a:bodyPr/>
        <a:lstStyle/>
        <a:p>
          <a:endParaRPr lang="en-US"/>
        </a:p>
      </dgm:t>
    </dgm:pt>
    <dgm:pt modelId="{578CA4AE-03BD-4DE5-8333-19641968BBC3}" type="sibTrans" cxnId="{7916BC8B-4CA7-4483-B524-61E0220B4043}">
      <dgm:prSet/>
      <dgm:spPr/>
      <dgm:t>
        <a:bodyPr/>
        <a:lstStyle/>
        <a:p>
          <a:endParaRPr lang="en-US"/>
        </a:p>
      </dgm:t>
    </dgm:pt>
    <dgm:pt modelId="{09C9CC76-15CA-4DA5-AB86-0407C10C388E}" type="pres">
      <dgm:prSet presAssocID="{C4F27359-4B7D-4338-86E6-C784106A48D1}" presName="CompostProcess" presStyleCnt="0">
        <dgm:presLayoutVars>
          <dgm:dir/>
          <dgm:resizeHandles val="exact"/>
        </dgm:presLayoutVars>
      </dgm:prSet>
      <dgm:spPr/>
    </dgm:pt>
    <dgm:pt modelId="{0DA6682D-1B3B-4C71-9F04-AFD7D79C66C9}" type="pres">
      <dgm:prSet presAssocID="{C4F27359-4B7D-4338-86E6-C784106A48D1}" presName="arrow" presStyleLbl="bgShp" presStyleIdx="0" presStyleCnt="1"/>
      <dgm:spPr/>
    </dgm:pt>
    <dgm:pt modelId="{15C73234-FDCA-4F60-A179-7EA45EF8C380}" type="pres">
      <dgm:prSet presAssocID="{C4F27359-4B7D-4338-86E6-C784106A48D1}" presName="linearProcess" presStyleCnt="0"/>
      <dgm:spPr/>
    </dgm:pt>
    <dgm:pt modelId="{B035710B-9067-4F36-9A1B-3912B23495A8}" type="pres">
      <dgm:prSet presAssocID="{F40D4722-CB9C-4068-A089-8E4B27C8708C}" presName="textNode" presStyleLbl="node1" presStyleIdx="0" presStyleCnt="2">
        <dgm:presLayoutVars>
          <dgm:bulletEnabled val="1"/>
        </dgm:presLayoutVars>
      </dgm:prSet>
      <dgm:spPr/>
    </dgm:pt>
    <dgm:pt modelId="{ECFB1007-7774-4AAF-9901-BDDAA92B0B41}" type="pres">
      <dgm:prSet presAssocID="{00DCE6A4-AA3B-44E3-AE8A-91929456630C}" presName="sibTrans" presStyleCnt="0"/>
      <dgm:spPr/>
    </dgm:pt>
    <dgm:pt modelId="{61F4E5E3-438A-4548-87B4-90B61813D6FB}" type="pres">
      <dgm:prSet presAssocID="{9A6EED18-76D1-4CDB-803F-B6E46C6EB1F4}" presName="textNode" presStyleLbl="node1" presStyleIdx="1" presStyleCnt="2">
        <dgm:presLayoutVars>
          <dgm:bulletEnabled val="1"/>
        </dgm:presLayoutVars>
      </dgm:prSet>
      <dgm:spPr/>
    </dgm:pt>
  </dgm:ptLst>
  <dgm:cxnLst>
    <dgm:cxn modelId="{7008E720-657B-4E8F-B7C2-AAB9D6C69C9E}" type="presOf" srcId="{C4F27359-4B7D-4338-86E6-C784106A48D1}" destId="{09C9CC76-15CA-4DA5-AB86-0407C10C388E}" srcOrd="0" destOrd="0" presId="urn:microsoft.com/office/officeart/2005/8/layout/hProcess9"/>
    <dgm:cxn modelId="{BA772F7E-FD57-42D2-BDD3-DDD3E80FAC01}" type="presOf" srcId="{F40D4722-CB9C-4068-A089-8E4B27C8708C}" destId="{B035710B-9067-4F36-9A1B-3912B23495A8}" srcOrd="0" destOrd="0" presId="urn:microsoft.com/office/officeart/2005/8/layout/hProcess9"/>
    <dgm:cxn modelId="{7916BC8B-4CA7-4483-B524-61E0220B4043}" srcId="{C4F27359-4B7D-4338-86E6-C784106A48D1}" destId="{9A6EED18-76D1-4CDB-803F-B6E46C6EB1F4}" srcOrd="1" destOrd="0" parTransId="{B6C2F0A2-E265-4958-86AF-24A3FE963614}" sibTransId="{578CA4AE-03BD-4DE5-8333-19641968BBC3}"/>
    <dgm:cxn modelId="{8B243EC8-2EA2-427E-AAA8-2145FEE49B90}" type="presOf" srcId="{9A6EED18-76D1-4CDB-803F-B6E46C6EB1F4}" destId="{61F4E5E3-438A-4548-87B4-90B61813D6FB}" srcOrd="0" destOrd="0" presId="urn:microsoft.com/office/officeart/2005/8/layout/hProcess9"/>
    <dgm:cxn modelId="{657BCAE0-F285-4528-B50F-6EDACB84312A}" srcId="{C4F27359-4B7D-4338-86E6-C784106A48D1}" destId="{F40D4722-CB9C-4068-A089-8E4B27C8708C}" srcOrd="0" destOrd="0" parTransId="{16356D9C-1EE0-4F53-A599-2DBF5F6FF5B5}" sibTransId="{00DCE6A4-AA3B-44E3-AE8A-91929456630C}"/>
    <dgm:cxn modelId="{37A3FBB5-4CA0-4A29-AD2F-C184573ED119}" type="presParOf" srcId="{09C9CC76-15CA-4DA5-AB86-0407C10C388E}" destId="{0DA6682D-1B3B-4C71-9F04-AFD7D79C66C9}" srcOrd="0" destOrd="0" presId="urn:microsoft.com/office/officeart/2005/8/layout/hProcess9"/>
    <dgm:cxn modelId="{A6F46A22-507C-4912-8165-260097248E1C}" type="presParOf" srcId="{09C9CC76-15CA-4DA5-AB86-0407C10C388E}" destId="{15C73234-FDCA-4F60-A179-7EA45EF8C380}" srcOrd="1" destOrd="0" presId="urn:microsoft.com/office/officeart/2005/8/layout/hProcess9"/>
    <dgm:cxn modelId="{92F5A19D-B0F1-467C-B9F2-0BD349622622}" type="presParOf" srcId="{15C73234-FDCA-4F60-A179-7EA45EF8C380}" destId="{B035710B-9067-4F36-9A1B-3912B23495A8}" srcOrd="0" destOrd="0" presId="urn:microsoft.com/office/officeart/2005/8/layout/hProcess9"/>
    <dgm:cxn modelId="{AA4E0555-4F0E-4D51-8FAA-BE38029DEA7D}" type="presParOf" srcId="{15C73234-FDCA-4F60-A179-7EA45EF8C380}" destId="{ECFB1007-7774-4AAF-9901-BDDAA92B0B41}" srcOrd="1" destOrd="0" presId="urn:microsoft.com/office/officeart/2005/8/layout/hProcess9"/>
    <dgm:cxn modelId="{CEF090C6-8C89-46EF-B934-FD4D0C78F443}" type="presParOf" srcId="{15C73234-FDCA-4F60-A179-7EA45EF8C380}" destId="{61F4E5E3-438A-4548-87B4-90B61813D6FB}" srcOrd="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17D3201-927D-447F-91F7-5622B0BB1A3C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7C2B66DB-3E16-484D-96D0-3FC0661ED073}">
      <dgm:prSet phldrT="[Text]"/>
      <dgm:spPr/>
      <dgm:t>
        <a:bodyPr/>
        <a:lstStyle/>
        <a:p>
          <a:pPr>
            <a:buNone/>
          </a:pPr>
          <a:r>
            <a:rPr lang="es-AR" b="1" noProof="0" dirty="0"/>
            <a:t>Modelo de valor</a:t>
          </a:r>
          <a:endParaRPr lang="es-AR" dirty="0"/>
        </a:p>
      </dgm:t>
    </dgm:pt>
    <dgm:pt modelId="{52F9AD93-C395-4FA2-8E04-662B9158414F}" type="parTrans" cxnId="{8F830A0D-16F6-47F5-AE11-3824A478A34E}">
      <dgm:prSet/>
      <dgm:spPr/>
      <dgm:t>
        <a:bodyPr/>
        <a:lstStyle/>
        <a:p>
          <a:endParaRPr lang="es-AR"/>
        </a:p>
      </dgm:t>
    </dgm:pt>
    <dgm:pt modelId="{C0141B0C-C52F-4ABE-B05E-1C479A4CF1F3}" type="sibTrans" cxnId="{8F830A0D-16F6-47F5-AE11-3824A478A34E}">
      <dgm:prSet/>
      <dgm:spPr/>
      <dgm:t>
        <a:bodyPr/>
        <a:lstStyle/>
        <a:p>
          <a:endParaRPr lang="es-AR"/>
        </a:p>
      </dgm:t>
    </dgm:pt>
    <dgm:pt modelId="{C50C7CAE-C57D-42A2-A99D-55F5EBD0FD17}">
      <dgm:prSet phldrT="[Text]"/>
      <dgm:spPr/>
      <dgm:t>
        <a:bodyPr/>
        <a:lstStyle/>
        <a:p>
          <a:r>
            <a:rPr lang="es-AR" b="1" noProof="0" dirty="0"/>
            <a:t>Valores nucleares</a:t>
          </a:r>
          <a:endParaRPr lang="es-AR" dirty="0"/>
        </a:p>
      </dgm:t>
    </dgm:pt>
    <dgm:pt modelId="{F98D5C2E-0F03-4241-B522-CF24753243FF}" type="parTrans" cxnId="{E349E252-7EFA-4726-AF40-73503CE12D81}">
      <dgm:prSet/>
      <dgm:spPr/>
      <dgm:t>
        <a:bodyPr/>
        <a:lstStyle/>
        <a:p>
          <a:endParaRPr lang="es-AR"/>
        </a:p>
      </dgm:t>
    </dgm:pt>
    <dgm:pt modelId="{5183368E-12C8-41C1-AF85-4FFD0F700187}" type="sibTrans" cxnId="{E349E252-7EFA-4726-AF40-73503CE12D81}">
      <dgm:prSet/>
      <dgm:spPr/>
      <dgm:t>
        <a:bodyPr/>
        <a:lstStyle/>
        <a:p>
          <a:endParaRPr lang="es-AR"/>
        </a:p>
      </dgm:t>
    </dgm:pt>
    <dgm:pt modelId="{B56A44E7-98F0-48E8-ABFB-75E4490426DA}">
      <dgm:prSet phldrT="[Text]"/>
      <dgm:spPr/>
      <dgm:t>
        <a:bodyPr/>
        <a:lstStyle/>
        <a:p>
          <a:pPr>
            <a:buNone/>
          </a:pPr>
          <a:r>
            <a:rPr lang="es-AR" b="1" noProof="0" dirty="0"/>
            <a:t>Concepto estratégico</a:t>
          </a:r>
          <a:endParaRPr lang="es-AR" dirty="0"/>
        </a:p>
      </dgm:t>
    </dgm:pt>
    <dgm:pt modelId="{0226C02A-68DD-4699-81B0-27A4AAA21557}" type="parTrans" cxnId="{F9224EF6-0226-4E0A-8CE5-7CB473BC0F93}">
      <dgm:prSet/>
      <dgm:spPr/>
      <dgm:t>
        <a:bodyPr/>
        <a:lstStyle/>
        <a:p>
          <a:endParaRPr lang="es-AR"/>
        </a:p>
      </dgm:t>
    </dgm:pt>
    <dgm:pt modelId="{19957231-D6AB-4D2F-82A0-57C9F982BE0A}" type="sibTrans" cxnId="{F9224EF6-0226-4E0A-8CE5-7CB473BC0F93}">
      <dgm:prSet/>
      <dgm:spPr/>
      <dgm:t>
        <a:bodyPr/>
        <a:lstStyle/>
        <a:p>
          <a:endParaRPr lang="es-AR"/>
        </a:p>
      </dgm:t>
    </dgm:pt>
    <dgm:pt modelId="{627C9020-704A-4D41-A3FA-16C10333B5B4}">
      <dgm:prSet custT="1"/>
      <dgm:spPr/>
      <dgm:t>
        <a:bodyPr/>
        <a:lstStyle/>
        <a:p>
          <a:r>
            <a:rPr lang="es-AR" sz="1800" noProof="0" dirty="0"/>
            <a:t>Por qué el cliente elegiría nuestros productos</a:t>
          </a:r>
        </a:p>
      </dgm:t>
    </dgm:pt>
    <dgm:pt modelId="{F6C961BA-E8A7-496D-8734-C117EFBE30F4}" type="parTrans" cxnId="{2401E752-677C-430C-8BBB-99FDD12B4A5F}">
      <dgm:prSet/>
      <dgm:spPr/>
      <dgm:t>
        <a:bodyPr/>
        <a:lstStyle/>
        <a:p>
          <a:endParaRPr lang="es-AR"/>
        </a:p>
      </dgm:t>
    </dgm:pt>
    <dgm:pt modelId="{6B898683-F3C6-4132-B0F0-90DE82D3F68A}" type="sibTrans" cxnId="{2401E752-677C-430C-8BBB-99FDD12B4A5F}">
      <dgm:prSet/>
      <dgm:spPr/>
      <dgm:t>
        <a:bodyPr/>
        <a:lstStyle/>
        <a:p>
          <a:endParaRPr lang="es-AR"/>
        </a:p>
      </dgm:t>
    </dgm:pt>
    <dgm:pt modelId="{07A322E0-539C-4A15-9868-AD68486FEF25}">
      <dgm:prSet custT="1"/>
      <dgm:spPr/>
      <dgm:t>
        <a:bodyPr/>
        <a:lstStyle/>
        <a:p>
          <a:r>
            <a:rPr lang="es-AR" sz="1800" noProof="0" dirty="0"/>
            <a:t>Elementos que forman nuestra propuesta competitiva</a:t>
          </a:r>
        </a:p>
      </dgm:t>
    </dgm:pt>
    <dgm:pt modelId="{CD9B834F-97F7-4F4D-A729-614E1C29BA92}" type="parTrans" cxnId="{2E29C135-0E60-483C-811F-D9091D248BAF}">
      <dgm:prSet/>
      <dgm:spPr/>
      <dgm:t>
        <a:bodyPr/>
        <a:lstStyle/>
        <a:p>
          <a:endParaRPr lang="es-AR"/>
        </a:p>
      </dgm:t>
    </dgm:pt>
    <dgm:pt modelId="{FC4F8B29-D311-461B-A04B-4395AFBDECB6}" type="sibTrans" cxnId="{2E29C135-0E60-483C-811F-D9091D248BAF}">
      <dgm:prSet/>
      <dgm:spPr/>
      <dgm:t>
        <a:bodyPr/>
        <a:lstStyle/>
        <a:p>
          <a:endParaRPr lang="es-AR"/>
        </a:p>
      </dgm:t>
    </dgm:pt>
    <dgm:pt modelId="{AAF801AF-C665-4CD8-B32F-BE2E01A95A42}">
      <dgm:prSet custT="1"/>
      <dgm:spPr/>
      <dgm:t>
        <a:bodyPr/>
        <a:lstStyle/>
        <a:p>
          <a:r>
            <a:rPr lang="es-AR" sz="1800" noProof="0" dirty="0"/>
            <a:t>Propuesta comercial</a:t>
          </a:r>
        </a:p>
      </dgm:t>
    </dgm:pt>
    <dgm:pt modelId="{A98953D8-09DF-4A90-9C69-B8E43FFEC1CF}" type="parTrans" cxnId="{64D97539-D1D5-4C28-BD1A-846B5B5D17B1}">
      <dgm:prSet/>
      <dgm:spPr/>
      <dgm:t>
        <a:bodyPr/>
        <a:lstStyle/>
        <a:p>
          <a:endParaRPr lang="es-AR"/>
        </a:p>
      </dgm:t>
    </dgm:pt>
    <dgm:pt modelId="{BC2A2FBA-8139-4D6E-8C21-51EA2764EF41}" type="sibTrans" cxnId="{64D97539-D1D5-4C28-BD1A-846B5B5D17B1}">
      <dgm:prSet/>
      <dgm:spPr/>
      <dgm:t>
        <a:bodyPr/>
        <a:lstStyle/>
        <a:p>
          <a:endParaRPr lang="es-AR"/>
        </a:p>
      </dgm:t>
    </dgm:pt>
    <dgm:pt modelId="{26A00BAD-193C-422E-B32C-E16CE5D8902B}">
      <dgm:prSet custT="1"/>
      <dgm:spPr/>
      <dgm:t>
        <a:bodyPr/>
        <a:lstStyle/>
        <a:p>
          <a:r>
            <a:rPr lang="es-AR" sz="1800" noProof="0" dirty="0"/>
            <a:t>Propuesta simbólica</a:t>
          </a:r>
          <a:endParaRPr lang="es-AR" sz="1600" noProof="0" dirty="0"/>
        </a:p>
      </dgm:t>
    </dgm:pt>
    <dgm:pt modelId="{A06C8867-3AF3-447A-802D-C1EB667E1D7F}" type="parTrans" cxnId="{DB62F0E2-8779-48D0-9360-B209AC0B0F59}">
      <dgm:prSet/>
      <dgm:spPr/>
      <dgm:t>
        <a:bodyPr/>
        <a:lstStyle/>
        <a:p>
          <a:endParaRPr lang="es-AR"/>
        </a:p>
      </dgm:t>
    </dgm:pt>
    <dgm:pt modelId="{88980F1C-BA39-40A2-8CC6-805018C4A10E}" type="sibTrans" cxnId="{DB62F0E2-8779-48D0-9360-B209AC0B0F59}">
      <dgm:prSet/>
      <dgm:spPr/>
      <dgm:t>
        <a:bodyPr/>
        <a:lstStyle/>
        <a:p>
          <a:endParaRPr lang="es-AR"/>
        </a:p>
      </dgm:t>
    </dgm:pt>
    <dgm:pt modelId="{F77681EB-2EB9-4D98-9D3E-59089A8B7F2B}">
      <dgm:prSet phldrT="[Text]" custT="1"/>
      <dgm:spPr/>
      <dgm:t>
        <a:bodyPr/>
        <a:lstStyle/>
        <a:p>
          <a:r>
            <a:rPr lang="es-AR" sz="1800" noProof="0" dirty="0"/>
            <a:t>Principios esenciales de la filosofía de negocios</a:t>
          </a:r>
          <a:endParaRPr lang="es-AR" sz="1800" dirty="0"/>
        </a:p>
      </dgm:t>
    </dgm:pt>
    <dgm:pt modelId="{541762CE-B09C-46BA-AC84-040A25BA50B0}" type="parTrans" cxnId="{F5D24CC9-A02C-4C86-8CE8-A131FF0093D3}">
      <dgm:prSet/>
      <dgm:spPr/>
      <dgm:t>
        <a:bodyPr/>
        <a:lstStyle/>
        <a:p>
          <a:endParaRPr lang="es-AR"/>
        </a:p>
      </dgm:t>
    </dgm:pt>
    <dgm:pt modelId="{813C327C-8FE0-4FF9-A673-CF5243D189E2}" type="sibTrans" cxnId="{F5D24CC9-A02C-4C86-8CE8-A131FF0093D3}">
      <dgm:prSet/>
      <dgm:spPr/>
      <dgm:t>
        <a:bodyPr/>
        <a:lstStyle/>
        <a:p>
          <a:endParaRPr lang="es-AR"/>
        </a:p>
      </dgm:t>
    </dgm:pt>
    <dgm:pt modelId="{847B45F0-7CB5-4BC2-B083-9EA85F229074}">
      <dgm:prSet phldrT="[Text]" custT="1"/>
      <dgm:spPr/>
      <dgm:t>
        <a:bodyPr/>
        <a:lstStyle/>
        <a:p>
          <a:r>
            <a:rPr lang="es-AR" sz="1800" noProof="0" dirty="0"/>
            <a:t>Valores culturales</a:t>
          </a:r>
          <a:endParaRPr lang="es-AR" sz="1800" dirty="0"/>
        </a:p>
      </dgm:t>
    </dgm:pt>
    <dgm:pt modelId="{A7B3FF67-57BC-4BF4-9EC2-D239787C1A9F}" type="parTrans" cxnId="{8B539C78-18A1-447B-AFBF-F1CF9A7AD27A}">
      <dgm:prSet/>
      <dgm:spPr/>
      <dgm:t>
        <a:bodyPr/>
        <a:lstStyle/>
        <a:p>
          <a:endParaRPr lang="es-AR"/>
        </a:p>
      </dgm:t>
    </dgm:pt>
    <dgm:pt modelId="{BCA26029-FE35-42D0-9073-306D3FBB9EBC}" type="sibTrans" cxnId="{8B539C78-18A1-447B-AFBF-F1CF9A7AD27A}">
      <dgm:prSet/>
      <dgm:spPr/>
      <dgm:t>
        <a:bodyPr/>
        <a:lstStyle/>
        <a:p>
          <a:endParaRPr lang="es-AR"/>
        </a:p>
      </dgm:t>
    </dgm:pt>
    <dgm:pt modelId="{FB8C99B6-6BCE-4A2D-83ED-027211F472A5}">
      <dgm:prSet custT="1"/>
      <dgm:spPr/>
      <dgm:t>
        <a:bodyPr/>
        <a:lstStyle/>
        <a:p>
          <a:r>
            <a:rPr lang="es-AR" sz="1800" noProof="0" dirty="0"/>
            <a:t>Principales elementos críticos del ambiente de negocios</a:t>
          </a:r>
        </a:p>
      </dgm:t>
    </dgm:pt>
    <dgm:pt modelId="{8F297B90-3A14-49EA-9AF6-FE20857B8856}" type="parTrans" cxnId="{F2EBE2D5-617C-4FC2-B5FD-1D9D319B2ECE}">
      <dgm:prSet/>
      <dgm:spPr/>
      <dgm:t>
        <a:bodyPr/>
        <a:lstStyle/>
        <a:p>
          <a:endParaRPr lang="es-AR"/>
        </a:p>
      </dgm:t>
    </dgm:pt>
    <dgm:pt modelId="{6BA14C8B-23C1-470D-9066-A1D0365C775E}" type="sibTrans" cxnId="{F2EBE2D5-617C-4FC2-B5FD-1D9D319B2ECE}">
      <dgm:prSet/>
      <dgm:spPr/>
      <dgm:t>
        <a:bodyPr/>
        <a:lstStyle/>
        <a:p>
          <a:endParaRPr lang="es-AR"/>
        </a:p>
      </dgm:t>
    </dgm:pt>
    <dgm:pt modelId="{277B6A29-0B42-4330-B8E9-C389F0C3759F}">
      <dgm:prSet custT="1"/>
      <dgm:spPr/>
      <dgm:t>
        <a:bodyPr/>
        <a:lstStyle/>
        <a:p>
          <a:r>
            <a:rPr lang="es-AR" sz="1800" noProof="0" dirty="0"/>
            <a:t>Lógica competitiva del sector</a:t>
          </a:r>
        </a:p>
      </dgm:t>
    </dgm:pt>
    <dgm:pt modelId="{6C12BEA7-C783-40B7-961A-A339E224BDCD}" type="parTrans" cxnId="{EE310B26-C42C-4EB7-A7FC-2B353FF7BAB3}">
      <dgm:prSet/>
      <dgm:spPr/>
      <dgm:t>
        <a:bodyPr/>
        <a:lstStyle/>
        <a:p>
          <a:endParaRPr lang="es-AR"/>
        </a:p>
      </dgm:t>
    </dgm:pt>
    <dgm:pt modelId="{FE953C6B-FE9B-4B6D-88F6-135B01C1EC72}" type="sibTrans" cxnId="{EE310B26-C42C-4EB7-A7FC-2B353FF7BAB3}">
      <dgm:prSet/>
      <dgm:spPr/>
      <dgm:t>
        <a:bodyPr/>
        <a:lstStyle/>
        <a:p>
          <a:endParaRPr lang="es-AR"/>
        </a:p>
      </dgm:t>
    </dgm:pt>
    <dgm:pt modelId="{7CEAA8F5-C408-4D58-B949-9BE4A6270C59}">
      <dgm:prSet/>
      <dgm:spPr/>
      <dgm:t>
        <a:bodyPr/>
        <a:lstStyle/>
        <a:p>
          <a:pPr>
            <a:buNone/>
          </a:pPr>
          <a:r>
            <a:rPr lang="es-AR" b="1" noProof="0"/>
            <a:t>Iniciativas estratégicas</a:t>
          </a:r>
          <a:endParaRPr lang="es-AR" noProof="0" dirty="0"/>
        </a:p>
      </dgm:t>
    </dgm:pt>
    <dgm:pt modelId="{A255F907-BFD3-4AFD-8FA7-DB559D6E6A26}" type="parTrans" cxnId="{7DF9BADE-035F-4D06-B199-44F4216063DC}">
      <dgm:prSet/>
      <dgm:spPr/>
      <dgm:t>
        <a:bodyPr/>
        <a:lstStyle/>
        <a:p>
          <a:endParaRPr lang="es-AR"/>
        </a:p>
      </dgm:t>
    </dgm:pt>
    <dgm:pt modelId="{793FA8BA-6CFA-4770-B062-5A5714B1B179}" type="sibTrans" cxnId="{7DF9BADE-035F-4D06-B199-44F4216063DC}">
      <dgm:prSet/>
      <dgm:spPr/>
      <dgm:t>
        <a:bodyPr/>
        <a:lstStyle/>
        <a:p>
          <a:endParaRPr lang="es-AR"/>
        </a:p>
      </dgm:t>
    </dgm:pt>
    <dgm:pt modelId="{CC24988B-124B-4CFB-95FF-0BCF27772F1D}">
      <dgm:prSet custT="1"/>
      <dgm:spPr/>
      <dgm:t>
        <a:bodyPr/>
        <a:lstStyle/>
        <a:p>
          <a:r>
            <a:rPr lang="es-AR" sz="1800" noProof="0" dirty="0"/>
            <a:t>Objetivos específicos</a:t>
          </a:r>
        </a:p>
      </dgm:t>
    </dgm:pt>
    <dgm:pt modelId="{F768F1C9-7D98-4595-B4E6-75A74A1CAE19}" type="parTrans" cxnId="{E4DC9878-EAED-4FF0-8ED7-208D87188038}">
      <dgm:prSet/>
      <dgm:spPr/>
      <dgm:t>
        <a:bodyPr/>
        <a:lstStyle/>
        <a:p>
          <a:endParaRPr lang="es-AR"/>
        </a:p>
      </dgm:t>
    </dgm:pt>
    <dgm:pt modelId="{6C0CFE8A-8027-4F6B-A9EB-C51398F9EC43}" type="sibTrans" cxnId="{E4DC9878-EAED-4FF0-8ED7-208D87188038}">
      <dgm:prSet/>
      <dgm:spPr/>
      <dgm:t>
        <a:bodyPr/>
        <a:lstStyle/>
        <a:p>
          <a:endParaRPr lang="es-AR"/>
        </a:p>
      </dgm:t>
    </dgm:pt>
    <dgm:pt modelId="{3FA67635-8B3E-4411-8049-D3D2F73B0F02}">
      <dgm:prSet custT="1"/>
      <dgm:spPr/>
      <dgm:t>
        <a:bodyPr/>
        <a:lstStyle/>
        <a:p>
          <a:r>
            <a:rPr lang="es-AR" sz="1800" noProof="0" dirty="0"/>
            <a:t>Tácticas a utilizar</a:t>
          </a:r>
        </a:p>
      </dgm:t>
    </dgm:pt>
    <dgm:pt modelId="{8FBB4C5E-D4DD-4CE7-A6D1-C069C36ED90A}" type="parTrans" cxnId="{EB922C2E-5762-42A5-868C-206EEE2D15F7}">
      <dgm:prSet/>
      <dgm:spPr/>
      <dgm:t>
        <a:bodyPr/>
        <a:lstStyle/>
        <a:p>
          <a:endParaRPr lang="es-AR"/>
        </a:p>
      </dgm:t>
    </dgm:pt>
    <dgm:pt modelId="{7ABBE8B3-101E-4FE7-9FBC-67F285D30113}" type="sibTrans" cxnId="{EB922C2E-5762-42A5-868C-206EEE2D15F7}">
      <dgm:prSet/>
      <dgm:spPr/>
      <dgm:t>
        <a:bodyPr/>
        <a:lstStyle/>
        <a:p>
          <a:endParaRPr lang="es-AR"/>
        </a:p>
      </dgm:t>
    </dgm:pt>
    <dgm:pt modelId="{94635985-BC20-4351-98DF-1AB9B927ED1B}">
      <dgm:prSet custT="1"/>
      <dgm:spPr/>
      <dgm:t>
        <a:bodyPr/>
        <a:lstStyle/>
        <a:p>
          <a:r>
            <a:rPr lang="es-AR" sz="1800" noProof="0" dirty="0"/>
            <a:t>Identificación de áreas clave </a:t>
          </a:r>
        </a:p>
      </dgm:t>
    </dgm:pt>
    <dgm:pt modelId="{C4CA8ED4-35D1-4AF0-8D96-DC1F32AB7797}" type="parTrans" cxnId="{3A47B164-2A49-4B28-9E53-E33E25CD85A8}">
      <dgm:prSet/>
      <dgm:spPr/>
      <dgm:t>
        <a:bodyPr/>
        <a:lstStyle/>
        <a:p>
          <a:endParaRPr lang="es-AR"/>
        </a:p>
      </dgm:t>
    </dgm:pt>
    <dgm:pt modelId="{BFDA267C-A356-474F-A96B-5B1C224E8561}" type="sibTrans" cxnId="{3A47B164-2A49-4B28-9E53-E33E25CD85A8}">
      <dgm:prSet/>
      <dgm:spPr/>
      <dgm:t>
        <a:bodyPr/>
        <a:lstStyle/>
        <a:p>
          <a:endParaRPr lang="es-AR"/>
        </a:p>
      </dgm:t>
    </dgm:pt>
    <dgm:pt modelId="{E2530CA9-270B-467A-A391-0987697BC579}">
      <dgm:prSet custT="1"/>
      <dgm:spPr/>
      <dgm:t>
        <a:bodyPr/>
        <a:lstStyle/>
        <a:p>
          <a:r>
            <a:rPr lang="es-AR" sz="1800" noProof="0" dirty="0"/>
            <a:t>Establecimiento de metas específicas</a:t>
          </a:r>
        </a:p>
      </dgm:t>
    </dgm:pt>
    <dgm:pt modelId="{AFEE6B61-ED24-489E-8038-D58B82310AA3}" type="parTrans" cxnId="{16D4B09C-0738-4D2C-9365-DA5F7F06B5AF}">
      <dgm:prSet/>
      <dgm:spPr/>
      <dgm:t>
        <a:bodyPr/>
        <a:lstStyle/>
        <a:p>
          <a:endParaRPr lang="es-AR"/>
        </a:p>
      </dgm:t>
    </dgm:pt>
    <dgm:pt modelId="{CEB84E88-E9FC-4AEC-9B33-DAE11001C55E}" type="sibTrans" cxnId="{16D4B09C-0738-4D2C-9365-DA5F7F06B5AF}">
      <dgm:prSet/>
      <dgm:spPr/>
      <dgm:t>
        <a:bodyPr/>
        <a:lstStyle/>
        <a:p>
          <a:endParaRPr lang="es-AR"/>
        </a:p>
      </dgm:t>
    </dgm:pt>
    <dgm:pt modelId="{43481F42-CE63-454D-8E98-A30BD97E07BD}" type="pres">
      <dgm:prSet presAssocID="{117D3201-927D-447F-91F7-5622B0BB1A3C}" presName="Name0" presStyleCnt="0">
        <dgm:presLayoutVars>
          <dgm:dir/>
          <dgm:animLvl val="lvl"/>
          <dgm:resizeHandles val="exact"/>
        </dgm:presLayoutVars>
      </dgm:prSet>
      <dgm:spPr/>
    </dgm:pt>
    <dgm:pt modelId="{945D2C67-FA4D-4C38-B0AA-4D8961ADE51A}" type="pres">
      <dgm:prSet presAssocID="{7C2B66DB-3E16-484D-96D0-3FC0661ED073}" presName="linNode" presStyleCnt="0"/>
      <dgm:spPr/>
    </dgm:pt>
    <dgm:pt modelId="{A83F727C-748A-42A8-8C4A-C044B543A681}" type="pres">
      <dgm:prSet presAssocID="{7C2B66DB-3E16-484D-96D0-3FC0661ED073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360EEA9F-D03C-4086-BD78-4955F808B0B4}" type="pres">
      <dgm:prSet presAssocID="{7C2B66DB-3E16-484D-96D0-3FC0661ED073}" presName="descendantText" presStyleLbl="alignAccFollowNode1" presStyleIdx="0" presStyleCnt="4">
        <dgm:presLayoutVars>
          <dgm:bulletEnabled val="1"/>
        </dgm:presLayoutVars>
      </dgm:prSet>
      <dgm:spPr/>
    </dgm:pt>
    <dgm:pt modelId="{C42605B0-111A-45D4-BC89-685288203B9A}" type="pres">
      <dgm:prSet presAssocID="{C0141B0C-C52F-4ABE-B05E-1C479A4CF1F3}" presName="sp" presStyleCnt="0"/>
      <dgm:spPr/>
    </dgm:pt>
    <dgm:pt modelId="{6A5522BA-F735-4307-A673-784DACC9FBA0}" type="pres">
      <dgm:prSet presAssocID="{C50C7CAE-C57D-42A2-A99D-55F5EBD0FD17}" presName="linNode" presStyleCnt="0"/>
      <dgm:spPr/>
    </dgm:pt>
    <dgm:pt modelId="{5369F852-FE7A-4445-8FC3-E02F466F6EB5}" type="pres">
      <dgm:prSet presAssocID="{C50C7CAE-C57D-42A2-A99D-55F5EBD0FD17}" presName="parentText" presStyleLbl="node1" presStyleIdx="1" presStyleCnt="4" custLinFactNeighborX="743" custLinFactNeighborY="0">
        <dgm:presLayoutVars>
          <dgm:chMax val="1"/>
          <dgm:bulletEnabled val="1"/>
        </dgm:presLayoutVars>
      </dgm:prSet>
      <dgm:spPr/>
    </dgm:pt>
    <dgm:pt modelId="{7B133323-7D1D-48C9-96A8-50EC67D9064B}" type="pres">
      <dgm:prSet presAssocID="{C50C7CAE-C57D-42A2-A99D-55F5EBD0FD17}" presName="descendantText" presStyleLbl="alignAccFollowNode1" presStyleIdx="1" presStyleCnt="4">
        <dgm:presLayoutVars>
          <dgm:bulletEnabled val="1"/>
        </dgm:presLayoutVars>
      </dgm:prSet>
      <dgm:spPr/>
    </dgm:pt>
    <dgm:pt modelId="{7E60BF1C-852B-4EB1-BF54-8E8F717FAB07}" type="pres">
      <dgm:prSet presAssocID="{5183368E-12C8-41C1-AF85-4FFD0F700187}" presName="sp" presStyleCnt="0"/>
      <dgm:spPr/>
    </dgm:pt>
    <dgm:pt modelId="{DDA4021B-F18C-43CB-81D4-C607091CA3EC}" type="pres">
      <dgm:prSet presAssocID="{B56A44E7-98F0-48E8-ABFB-75E4490426DA}" presName="linNode" presStyleCnt="0"/>
      <dgm:spPr/>
    </dgm:pt>
    <dgm:pt modelId="{88DF4659-19FE-4B6D-9D9A-FE1DDAC9C54D}" type="pres">
      <dgm:prSet presAssocID="{B56A44E7-98F0-48E8-ABFB-75E4490426DA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FC05793C-DCD7-446C-8BC3-D6EC5E4BA573}" type="pres">
      <dgm:prSet presAssocID="{B56A44E7-98F0-48E8-ABFB-75E4490426DA}" presName="descendantText" presStyleLbl="alignAccFollowNode1" presStyleIdx="2" presStyleCnt="4">
        <dgm:presLayoutVars>
          <dgm:bulletEnabled val="1"/>
        </dgm:presLayoutVars>
      </dgm:prSet>
      <dgm:spPr/>
    </dgm:pt>
    <dgm:pt modelId="{81BEB9BF-9B84-4283-B863-7643F23BE9D7}" type="pres">
      <dgm:prSet presAssocID="{19957231-D6AB-4D2F-82A0-57C9F982BE0A}" presName="sp" presStyleCnt="0"/>
      <dgm:spPr/>
    </dgm:pt>
    <dgm:pt modelId="{D8190ABF-6472-4713-8530-B69E3E126DEF}" type="pres">
      <dgm:prSet presAssocID="{7CEAA8F5-C408-4D58-B949-9BE4A6270C59}" presName="linNode" presStyleCnt="0"/>
      <dgm:spPr/>
    </dgm:pt>
    <dgm:pt modelId="{D578B4EB-2082-415A-A62D-3A618C0C120D}" type="pres">
      <dgm:prSet presAssocID="{7CEAA8F5-C408-4D58-B949-9BE4A6270C59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71E9617A-3DCF-4F5C-A43D-99D1701F4BAE}" type="pres">
      <dgm:prSet presAssocID="{7CEAA8F5-C408-4D58-B949-9BE4A6270C59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8F830A0D-16F6-47F5-AE11-3824A478A34E}" srcId="{117D3201-927D-447F-91F7-5622B0BB1A3C}" destId="{7C2B66DB-3E16-484D-96D0-3FC0661ED073}" srcOrd="0" destOrd="0" parTransId="{52F9AD93-C395-4FA2-8E04-662B9158414F}" sibTransId="{C0141B0C-C52F-4ABE-B05E-1C479A4CF1F3}"/>
    <dgm:cxn modelId="{59B44815-E3BB-4752-88E4-8100F909CABA}" type="presOf" srcId="{F77681EB-2EB9-4D98-9D3E-59089A8B7F2B}" destId="{7B133323-7D1D-48C9-96A8-50EC67D9064B}" srcOrd="0" destOrd="0" presId="urn:microsoft.com/office/officeart/2005/8/layout/vList5"/>
    <dgm:cxn modelId="{EE310B26-C42C-4EB7-A7FC-2B353FF7BAB3}" srcId="{B56A44E7-98F0-48E8-ABFB-75E4490426DA}" destId="{277B6A29-0B42-4330-B8E9-C389F0C3759F}" srcOrd="1" destOrd="0" parTransId="{6C12BEA7-C783-40B7-961A-A339E224BDCD}" sibTransId="{FE953C6B-FE9B-4B6D-88F6-135B01C1EC72}"/>
    <dgm:cxn modelId="{EB922C2E-5762-42A5-868C-206EEE2D15F7}" srcId="{7CEAA8F5-C408-4D58-B949-9BE4A6270C59}" destId="{3FA67635-8B3E-4411-8049-D3D2F73B0F02}" srcOrd="1" destOrd="0" parTransId="{8FBB4C5E-D4DD-4CE7-A6D1-C069C36ED90A}" sibTransId="{7ABBE8B3-101E-4FE7-9FBC-67F285D30113}"/>
    <dgm:cxn modelId="{BFB51932-3FEE-47AE-B798-C5A318EE5B34}" type="presOf" srcId="{94635985-BC20-4351-98DF-1AB9B927ED1B}" destId="{71E9617A-3DCF-4F5C-A43D-99D1701F4BAE}" srcOrd="0" destOrd="2" presId="urn:microsoft.com/office/officeart/2005/8/layout/vList5"/>
    <dgm:cxn modelId="{31244F33-4543-415F-94A2-CE32E3334C3D}" type="presOf" srcId="{CC24988B-124B-4CFB-95FF-0BCF27772F1D}" destId="{71E9617A-3DCF-4F5C-A43D-99D1701F4BAE}" srcOrd="0" destOrd="0" presId="urn:microsoft.com/office/officeart/2005/8/layout/vList5"/>
    <dgm:cxn modelId="{2E29C135-0E60-483C-811F-D9091D248BAF}" srcId="{7C2B66DB-3E16-484D-96D0-3FC0661ED073}" destId="{07A322E0-539C-4A15-9868-AD68486FEF25}" srcOrd="1" destOrd="0" parTransId="{CD9B834F-97F7-4F4D-A729-614E1C29BA92}" sibTransId="{FC4F8B29-D311-461B-A04B-4395AFBDECB6}"/>
    <dgm:cxn modelId="{64D97539-D1D5-4C28-BD1A-846B5B5D17B1}" srcId="{07A322E0-539C-4A15-9868-AD68486FEF25}" destId="{AAF801AF-C665-4CD8-B32F-BE2E01A95A42}" srcOrd="0" destOrd="0" parTransId="{A98953D8-09DF-4A90-9C69-B8E43FFEC1CF}" sibTransId="{BC2A2FBA-8139-4D6E-8C21-51EA2764EF41}"/>
    <dgm:cxn modelId="{CBC2D95D-7CD2-4DDA-98ED-1B116AD5FEC8}" type="presOf" srcId="{07A322E0-539C-4A15-9868-AD68486FEF25}" destId="{360EEA9F-D03C-4086-BD78-4955F808B0B4}" srcOrd="0" destOrd="1" presId="urn:microsoft.com/office/officeart/2005/8/layout/vList5"/>
    <dgm:cxn modelId="{D23E9861-E60B-4F9B-9414-BAEE0C2A8440}" type="presOf" srcId="{7CEAA8F5-C408-4D58-B949-9BE4A6270C59}" destId="{D578B4EB-2082-415A-A62D-3A618C0C120D}" srcOrd="0" destOrd="0" presId="urn:microsoft.com/office/officeart/2005/8/layout/vList5"/>
    <dgm:cxn modelId="{3A47B164-2A49-4B28-9E53-E33E25CD85A8}" srcId="{7CEAA8F5-C408-4D58-B949-9BE4A6270C59}" destId="{94635985-BC20-4351-98DF-1AB9B927ED1B}" srcOrd="2" destOrd="0" parTransId="{C4CA8ED4-35D1-4AF0-8D96-DC1F32AB7797}" sibTransId="{BFDA267C-A356-474F-A96B-5B1C224E8561}"/>
    <dgm:cxn modelId="{4E37BE44-59EE-40B3-A51D-8DE9A35C3031}" type="presOf" srcId="{C50C7CAE-C57D-42A2-A99D-55F5EBD0FD17}" destId="{5369F852-FE7A-4445-8FC3-E02F466F6EB5}" srcOrd="0" destOrd="0" presId="urn:microsoft.com/office/officeart/2005/8/layout/vList5"/>
    <dgm:cxn modelId="{CC2B0A70-B2D1-4AD1-B552-290619585EAA}" type="presOf" srcId="{AAF801AF-C665-4CD8-B32F-BE2E01A95A42}" destId="{360EEA9F-D03C-4086-BD78-4955F808B0B4}" srcOrd="0" destOrd="2" presId="urn:microsoft.com/office/officeart/2005/8/layout/vList5"/>
    <dgm:cxn modelId="{E349E252-7EFA-4726-AF40-73503CE12D81}" srcId="{117D3201-927D-447F-91F7-5622B0BB1A3C}" destId="{C50C7CAE-C57D-42A2-A99D-55F5EBD0FD17}" srcOrd="1" destOrd="0" parTransId="{F98D5C2E-0F03-4241-B522-CF24753243FF}" sibTransId="{5183368E-12C8-41C1-AF85-4FFD0F700187}"/>
    <dgm:cxn modelId="{2401E752-677C-430C-8BBB-99FDD12B4A5F}" srcId="{7C2B66DB-3E16-484D-96D0-3FC0661ED073}" destId="{627C9020-704A-4D41-A3FA-16C10333B5B4}" srcOrd="0" destOrd="0" parTransId="{F6C961BA-E8A7-496D-8734-C117EFBE30F4}" sibTransId="{6B898683-F3C6-4132-B0F0-90DE82D3F68A}"/>
    <dgm:cxn modelId="{E4DC9878-EAED-4FF0-8ED7-208D87188038}" srcId="{7CEAA8F5-C408-4D58-B949-9BE4A6270C59}" destId="{CC24988B-124B-4CFB-95FF-0BCF27772F1D}" srcOrd="0" destOrd="0" parTransId="{F768F1C9-7D98-4595-B4E6-75A74A1CAE19}" sibTransId="{6C0CFE8A-8027-4F6B-A9EB-C51398F9EC43}"/>
    <dgm:cxn modelId="{8B539C78-18A1-447B-AFBF-F1CF9A7AD27A}" srcId="{C50C7CAE-C57D-42A2-A99D-55F5EBD0FD17}" destId="{847B45F0-7CB5-4BC2-B083-9EA85F229074}" srcOrd="1" destOrd="0" parTransId="{A7B3FF67-57BC-4BF4-9EC2-D239787C1A9F}" sibTransId="{BCA26029-FE35-42D0-9073-306D3FBB9EBC}"/>
    <dgm:cxn modelId="{34D1827B-2723-4E12-B3A7-EA2E73726751}" type="presOf" srcId="{627C9020-704A-4D41-A3FA-16C10333B5B4}" destId="{360EEA9F-D03C-4086-BD78-4955F808B0B4}" srcOrd="0" destOrd="0" presId="urn:microsoft.com/office/officeart/2005/8/layout/vList5"/>
    <dgm:cxn modelId="{4155AE86-26B6-4DAC-B5B2-BB424F85959C}" type="presOf" srcId="{3FA67635-8B3E-4411-8049-D3D2F73B0F02}" destId="{71E9617A-3DCF-4F5C-A43D-99D1701F4BAE}" srcOrd="0" destOrd="1" presId="urn:microsoft.com/office/officeart/2005/8/layout/vList5"/>
    <dgm:cxn modelId="{E114FF94-B8BD-4ECA-8937-440F960F04DC}" type="presOf" srcId="{26A00BAD-193C-422E-B32C-E16CE5D8902B}" destId="{360EEA9F-D03C-4086-BD78-4955F808B0B4}" srcOrd="0" destOrd="3" presId="urn:microsoft.com/office/officeart/2005/8/layout/vList5"/>
    <dgm:cxn modelId="{A04F8B96-F184-4C8F-BBFF-ABCE0FB41923}" type="presOf" srcId="{847B45F0-7CB5-4BC2-B083-9EA85F229074}" destId="{7B133323-7D1D-48C9-96A8-50EC67D9064B}" srcOrd="0" destOrd="1" presId="urn:microsoft.com/office/officeart/2005/8/layout/vList5"/>
    <dgm:cxn modelId="{16D4B09C-0738-4D2C-9365-DA5F7F06B5AF}" srcId="{7CEAA8F5-C408-4D58-B949-9BE4A6270C59}" destId="{E2530CA9-270B-467A-A391-0987697BC579}" srcOrd="3" destOrd="0" parTransId="{AFEE6B61-ED24-489E-8038-D58B82310AA3}" sibTransId="{CEB84E88-E9FC-4AEC-9B33-DAE11001C55E}"/>
    <dgm:cxn modelId="{6BEAF2A2-0B11-450A-962B-359666F09996}" type="presOf" srcId="{B56A44E7-98F0-48E8-ABFB-75E4490426DA}" destId="{88DF4659-19FE-4B6D-9D9A-FE1DDAC9C54D}" srcOrd="0" destOrd="0" presId="urn:microsoft.com/office/officeart/2005/8/layout/vList5"/>
    <dgm:cxn modelId="{88285EBB-AD69-48A5-9DAE-2A7B910FC7B8}" type="presOf" srcId="{7C2B66DB-3E16-484D-96D0-3FC0661ED073}" destId="{A83F727C-748A-42A8-8C4A-C044B543A681}" srcOrd="0" destOrd="0" presId="urn:microsoft.com/office/officeart/2005/8/layout/vList5"/>
    <dgm:cxn modelId="{D3A314C8-236F-4FE0-AE1D-29811CD6472E}" type="presOf" srcId="{E2530CA9-270B-467A-A391-0987697BC579}" destId="{71E9617A-3DCF-4F5C-A43D-99D1701F4BAE}" srcOrd="0" destOrd="3" presId="urn:microsoft.com/office/officeart/2005/8/layout/vList5"/>
    <dgm:cxn modelId="{F5D24CC9-A02C-4C86-8CE8-A131FF0093D3}" srcId="{C50C7CAE-C57D-42A2-A99D-55F5EBD0FD17}" destId="{F77681EB-2EB9-4D98-9D3E-59089A8B7F2B}" srcOrd="0" destOrd="0" parTransId="{541762CE-B09C-46BA-AC84-040A25BA50B0}" sibTransId="{813C327C-8FE0-4FF9-A673-CF5243D189E2}"/>
    <dgm:cxn modelId="{2FC881D1-E070-4C67-8D15-2D617463E88C}" type="presOf" srcId="{277B6A29-0B42-4330-B8E9-C389F0C3759F}" destId="{FC05793C-DCD7-446C-8BC3-D6EC5E4BA573}" srcOrd="0" destOrd="1" presId="urn:microsoft.com/office/officeart/2005/8/layout/vList5"/>
    <dgm:cxn modelId="{F2EBE2D5-617C-4FC2-B5FD-1D9D319B2ECE}" srcId="{B56A44E7-98F0-48E8-ABFB-75E4490426DA}" destId="{FB8C99B6-6BCE-4A2D-83ED-027211F472A5}" srcOrd="0" destOrd="0" parTransId="{8F297B90-3A14-49EA-9AF6-FE20857B8856}" sibTransId="{6BA14C8B-23C1-470D-9066-A1D0365C775E}"/>
    <dgm:cxn modelId="{7DF9BADE-035F-4D06-B199-44F4216063DC}" srcId="{117D3201-927D-447F-91F7-5622B0BB1A3C}" destId="{7CEAA8F5-C408-4D58-B949-9BE4A6270C59}" srcOrd="3" destOrd="0" parTransId="{A255F907-BFD3-4AFD-8FA7-DB559D6E6A26}" sibTransId="{793FA8BA-6CFA-4770-B062-5A5714B1B179}"/>
    <dgm:cxn modelId="{DB62F0E2-8779-48D0-9360-B209AC0B0F59}" srcId="{07A322E0-539C-4A15-9868-AD68486FEF25}" destId="{26A00BAD-193C-422E-B32C-E16CE5D8902B}" srcOrd="1" destOrd="0" parTransId="{A06C8867-3AF3-447A-802D-C1EB667E1D7F}" sibTransId="{88980F1C-BA39-40A2-8CC6-805018C4A10E}"/>
    <dgm:cxn modelId="{A98529E9-7AFF-44E6-A13E-7E58B918520F}" type="presOf" srcId="{117D3201-927D-447F-91F7-5622B0BB1A3C}" destId="{43481F42-CE63-454D-8E98-A30BD97E07BD}" srcOrd="0" destOrd="0" presId="urn:microsoft.com/office/officeart/2005/8/layout/vList5"/>
    <dgm:cxn modelId="{F9224EF6-0226-4E0A-8CE5-7CB473BC0F93}" srcId="{117D3201-927D-447F-91F7-5622B0BB1A3C}" destId="{B56A44E7-98F0-48E8-ABFB-75E4490426DA}" srcOrd="2" destOrd="0" parTransId="{0226C02A-68DD-4699-81B0-27A4AAA21557}" sibTransId="{19957231-D6AB-4D2F-82A0-57C9F982BE0A}"/>
    <dgm:cxn modelId="{0E46AAFF-4A58-43B3-8ECA-333B08DD17BF}" type="presOf" srcId="{FB8C99B6-6BCE-4A2D-83ED-027211F472A5}" destId="{FC05793C-DCD7-446C-8BC3-D6EC5E4BA573}" srcOrd="0" destOrd="0" presId="urn:microsoft.com/office/officeart/2005/8/layout/vList5"/>
    <dgm:cxn modelId="{2A670E5E-F4CF-4975-A52D-551309B56976}" type="presParOf" srcId="{43481F42-CE63-454D-8E98-A30BD97E07BD}" destId="{945D2C67-FA4D-4C38-B0AA-4D8961ADE51A}" srcOrd="0" destOrd="0" presId="urn:microsoft.com/office/officeart/2005/8/layout/vList5"/>
    <dgm:cxn modelId="{D177B1FD-4319-493D-8938-8195B9786DED}" type="presParOf" srcId="{945D2C67-FA4D-4C38-B0AA-4D8961ADE51A}" destId="{A83F727C-748A-42A8-8C4A-C044B543A681}" srcOrd="0" destOrd="0" presId="urn:microsoft.com/office/officeart/2005/8/layout/vList5"/>
    <dgm:cxn modelId="{12D14A94-BAE3-4D28-AB27-3B0C44D9296C}" type="presParOf" srcId="{945D2C67-FA4D-4C38-B0AA-4D8961ADE51A}" destId="{360EEA9F-D03C-4086-BD78-4955F808B0B4}" srcOrd="1" destOrd="0" presId="urn:microsoft.com/office/officeart/2005/8/layout/vList5"/>
    <dgm:cxn modelId="{DD612D6A-1250-43A2-973B-D438D7BB0369}" type="presParOf" srcId="{43481F42-CE63-454D-8E98-A30BD97E07BD}" destId="{C42605B0-111A-45D4-BC89-685288203B9A}" srcOrd="1" destOrd="0" presId="urn:microsoft.com/office/officeart/2005/8/layout/vList5"/>
    <dgm:cxn modelId="{BE8AB637-9135-46DF-8408-8EECF2FE2444}" type="presParOf" srcId="{43481F42-CE63-454D-8E98-A30BD97E07BD}" destId="{6A5522BA-F735-4307-A673-784DACC9FBA0}" srcOrd="2" destOrd="0" presId="urn:microsoft.com/office/officeart/2005/8/layout/vList5"/>
    <dgm:cxn modelId="{22E5BDAF-19FC-41DD-A87E-51457BC1E289}" type="presParOf" srcId="{6A5522BA-F735-4307-A673-784DACC9FBA0}" destId="{5369F852-FE7A-4445-8FC3-E02F466F6EB5}" srcOrd="0" destOrd="0" presId="urn:microsoft.com/office/officeart/2005/8/layout/vList5"/>
    <dgm:cxn modelId="{F7CB4E9F-32C4-4736-B1C7-F0064D02E2D2}" type="presParOf" srcId="{6A5522BA-F735-4307-A673-784DACC9FBA0}" destId="{7B133323-7D1D-48C9-96A8-50EC67D9064B}" srcOrd="1" destOrd="0" presId="urn:microsoft.com/office/officeart/2005/8/layout/vList5"/>
    <dgm:cxn modelId="{4034C1BE-2CFC-429A-B113-E5E374E79B1D}" type="presParOf" srcId="{43481F42-CE63-454D-8E98-A30BD97E07BD}" destId="{7E60BF1C-852B-4EB1-BF54-8E8F717FAB07}" srcOrd="3" destOrd="0" presId="urn:microsoft.com/office/officeart/2005/8/layout/vList5"/>
    <dgm:cxn modelId="{B6D594D8-229A-4470-8837-1DB7B2AFCF3C}" type="presParOf" srcId="{43481F42-CE63-454D-8E98-A30BD97E07BD}" destId="{DDA4021B-F18C-43CB-81D4-C607091CA3EC}" srcOrd="4" destOrd="0" presId="urn:microsoft.com/office/officeart/2005/8/layout/vList5"/>
    <dgm:cxn modelId="{331B25B8-0614-48CE-A4CD-65CC0B8AF24C}" type="presParOf" srcId="{DDA4021B-F18C-43CB-81D4-C607091CA3EC}" destId="{88DF4659-19FE-4B6D-9D9A-FE1DDAC9C54D}" srcOrd="0" destOrd="0" presId="urn:microsoft.com/office/officeart/2005/8/layout/vList5"/>
    <dgm:cxn modelId="{8DF9000F-135D-4782-B64C-5C0868455F6C}" type="presParOf" srcId="{DDA4021B-F18C-43CB-81D4-C607091CA3EC}" destId="{FC05793C-DCD7-446C-8BC3-D6EC5E4BA573}" srcOrd="1" destOrd="0" presId="urn:microsoft.com/office/officeart/2005/8/layout/vList5"/>
    <dgm:cxn modelId="{6C9F2EDA-0600-4AD5-A581-D388D6615027}" type="presParOf" srcId="{43481F42-CE63-454D-8E98-A30BD97E07BD}" destId="{81BEB9BF-9B84-4283-B863-7643F23BE9D7}" srcOrd="5" destOrd="0" presId="urn:microsoft.com/office/officeart/2005/8/layout/vList5"/>
    <dgm:cxn modelId="{8132D2EF-CC88-4305-BCB2-F8BFE8BDDFD3}" type="presParOf" srcId="{43481F42-CE63-454D-8E98-A30BD97E07BD}" destId="{D8190ABF-6472-4713-8530-B69E3E126DEF}" srcOrd="6" destOrd="0" presId="urn:microsoft.com/office/officeart/2005/8/layout/vList5"/>
    <dgm:cxn modelId="{E78AA301-B843-4FB4-9D5B-A3CD7F2DCE48}" type="presParOf" srcId="{D8190ABF-6472-4713-8530-B69E3E126DEF}" destId="{D578B4EB-2082-415A-A62D-3A618C0C120D}" srcOrd="0" destOrd="0" presId="urn:microsoft.com/office/officeart/2005/8/layout/vList5"/>
    <dgm:cxn modelId="{CC800B9B-A8E5-485B-B018-408E66C58CC8}" type="presParOf" srcId="{D8190ABF-6472-4713-8530-B69E3E126DEF}" destId="{71E9617A-3DCF-4F5C-A43D-99D1701F4BA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A0F6667-DFFF-45AB-99AD-50F252BAC3BE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73EC36CA-33FE-43C3-98AD-ACA97EE000F3}">
      <dgm:prSet phldrT="[Text]"/>
      <dgm:spPr/>
      <dgm:t>
        <a:bodyPr/>
        <a:lstStyle/>
        <a:p>
          <a:r>
            <a:rPr lang="es-AR" noProof="0" dirty="0"/>
            <a:t>Necesidad</a:t>
          </a:r>
        </a:p>
      </dgm:t>
    </dgm:pt>
    <dgm:pt modelId="{0097DF4D-0BEB-4164-98C9-922E2DCD3A8C}" type="parTrans" cxnId="{4ABF754A-B183-43F0-9851-6E712F483B59}">
      <dgm:prSet/>
      <dgm:spPr/>
      <dgm:t>
        <a:bodyPr/>
        <a:lstStyle/>
        <a:p>
          <a:endParaRPr lang="en-US"/>
        </a:p>
      </dgm:t>
    </dgm:pt>
    <dgm:pt modelId="{77242162-9503-4720-9BAA-A9CAE09BE159}" type="sibTrans" cxnId="{4ABF754A-B183-43F0-9851-6E712F483B59}">
      <dgm:prSet/>
      <dgm:spPr/>
      <dgm:t>
        <a:bodyPr/>
        <a:lstStyle/>
        <a:p>
          <a:endParaRPr lang="es-AR" noProof="0" dirty="0"/>
        </a:p>
      </dgm:t>
    </dgm:pt>
    <dgm:pt modelId="{FDC974DC-6366-4CC6-9133-83C317F7EDCE}">
      <dgm:prSet phldrT="[Text]"/>
      <dgm:spPr/>
      <dgm:t>
        <a:bodyPr/>
        <a:lstStyle/>
        <a:p>
          <a:r>
            <a:rPr lang="es-AR" noProof="0" dirty="0"/>
            <a:t>Satisfactores</a:t>
          </a:r>
        </a:p>
      </dgm:t>
    </dgm:pt>
    <dgm:pt modelId="{E1933F2E-C542-4D89-9E16-11C2009D5E67}" type="parTrans" cxnId="{30DC3014-BB1F-4C0F-BFF0-5FC7EC3CE973}">
      <dgm:prSet/>
      <dgm:spPr/>
      <dgm:t>
        <a:bodyPr/>
        <a:lstStyle/>
        <a:p>
          <a:endParaRPr lang="en-US"/>
        </a:p>
      </dgm:t>
    </dgm:pt>
    <dgm:pt modelId="{2A66EB6D-2A1E-4314-B7B5-0B777EA03FBC}" type="sibTrans" cxnId="{30DC3014-BB1F-4C0F-BFF0-5FC7EC3CE973}">
      <dgm:prSet/>
      <dgm:spPr/>
      <dgm:t>
        <a:bodyPr/>
        <a:lstStyle/>
        <a:p>
          <a:endParaRPr lang="en-US"/>
        </a:p>
      </dgm:t>
    </dgm:pt>
    <dgm:pt modelId="{EF186988-F016-42B4-9E18-89A7F3B1E40B}" type="pres">
      <dgm:prSet presAssocID="{4A0F6667-DFFF-45AB-99AD-50F252BAC3BE}" presName="Name0" presStyleCnt="0">
        <dgm:presLayoutVars>
          <dgm:dir/>
          <dgm:resizeHandles val="exact"/>
        </dgm:presLayoutVars>
      </dgm:prSet>
      <dgm:spPr/>
    </dgm:pt>
    <dgm:pt modelId="{3B121C1A-D345-46EF-AB6B-CF3BD143566D}" type="pres">
      <dgm:prSet presAssocID="{73EC36CA-33FE-43C3-98AD-ACA97EE000F3}" presName="node" presStyleLbl="node1" presStyleIdx="0" presStyleCnt="2">
        <dgm:presLayoutVars>
          <dgm:bulletEnabled val="1"/>
        </dgm:presLayoutVars>
      </dgm:prSet>
      <dgm:spPr/>
    </dgm:pt>
    <dgm:pt modelId="{A7FD825B-3348-4F91-A26B-E5CA42144DCC}" type="pres">
      <dgm:prSet presAssocID="{77242162-9503-4720-9BAA-A9CAE09BE159}" presName="sibTrans" presStyleLbl="sibTrans2D1" presStyleIdx="0" presStyleCnt="1"/>
      <dgm:spPr/>
    </dgm:pt>
    <dgm:pt modelId="{1C73059A-397F-46E0-AF37-B444023E774A}" type="pres">
      <dgm:prSet presAssocID="{77242162-9503-4720-9BAA-A9CAE09BE159}" presName="connectorText" presStyleLbl="sibTrans2D1" presStyleIdx="0" presStyleCnt="1"/>
      <dgm:spPr/>
    </dgm:pt>
    <dgm:pt modelId="{84B2856F-91F3-405D-BC70-75649DEE64F1}" type="pres">
      <dgm:prSet presAssocID="{FDC974DC-6366-4CC6-9133-83C317F7EDCE}" presName="node" presStyleLbl="node1" presStyleIdx="1" presStyleCnt="2">
        <dgm:presLayoutVars>
          <dgm:bulletEnabled val="1"/>
        </dgm:presLayoutVars>
      </dgm:prSet>
      <dgm:spPr/>
    </dgm:pt>
  </dgm:ptLst>
  <dgm:cxnLst>
    <dgm:cxn modelId="{30DC3014-BB1F-4C0F-BFF0-5FC7EC3CE973}" srcId="{4A0F6667-DFFF-45AB-99AD-50F252BAC3BE}" destId="{FDC974DC-6366-4CC6-9133-83C317F7EDCE}" srcOrd="1" destOrd="0" parTransId="{E1933F2E-C542-4D89-9E16-11C2009D5E67}" sibTransId="{2A66EB6D-2A1E-4314-B7B5-0B777EA03FBC}"/>
    <dgm:cxn modelId="{4ABF754A-B183-43F0-9851-6E712F483B59}" srcId="{4A0F6667-DFFF-45AB-99AD-50F252BAC3BE}" destId="{73EC36CA-33FE-43C3-98AD-ACA97EE000F3}" srcOrd="0" destOrd="0" parTransId="{0097DF4D-0BEB-4164-98C9-922E2DCD3A8C}" sibTransId="{77242162-9503-4720-9BAA-A9CAE09BE159}"/>
    <dgm:cxn modelId="{D9BA8785-6BC0-4B95-B05B-8D6365AF3560}" type="presOf" srcId="{77242162-9503-4720-9BAA-A9CAE09BE159}" destId="{1C73059A-397F-46E0-AF37-B444023E774A}" srcOrd="1" destOrd="0" presId="urn:microsoft.com/office/officeart/2005/8/layout/process1"/>
    <dgm:cxn modelId="{08F35492-515A-4032-990E-9E9E8D4B2A1B}" type="presOf" srcId="{FDC974DC-6366-4CC6-9133-83C317F7EDCE}" destId="{84B2856F-91F3-405D-BC70-75649DEE64F1}" srcOrd="0" destOrd="0" presId="urn:microsoft.com/office/officeart/2005/8/layout/process1"/>
    <dgm:cxn modelId="{B6BA48B7-84BA-447B-A3E2-43DEFF4ED49D}" type="presOf" srcId="{4A0F6667-DFFF-45AB-99AD-50F252BAC3BE}" destId="{EF186988-F016-42B4-9E18-89A7F3B1E40B}" srcOrd="0" destOrd="0" presId="urn:microsoft.com/office/officeart/2005/8/layout/process1"/>
    <dgm:cxn modelId="{1E7B5AC3-DCF8-404D-B939-751B9911CB06}" type="presOf" srcId="{73EC36CA-33FE-43C3-98AD-ACA97EE000F3}" destId="{3B121C1A-D345-46EF-AB6B-CF3BD143566D}" srcOrd="0" destOrd="0" presId="urn:microsoft.com/office/officeart/2005/8/layout/process1"/>
    <dgm:cxn modelId="{93FAA8CD-38EF-40C3-A8AE-F6691677CC45}" type="presOf" srcId="{77242162-9503-4720-9BAA-A9CAE09BE159}" destId="{A7FD825B-3348-4F91-A26B-E5CA42144DCC}" srcOrd="0" destOrd="0" presId="urn:microsoft.com/office/officeart/2005/8/layout/process1"/>
    <dgm:cxn modelId="{5AC25C22-9852-4643-A4AA-E1C6373C0701}" type="presParOf" srcId="{EF186988-F016-42B4-9E18-89A7F3B1E40B}" destId="{3B121C1A-D345-46EF-AB6B-CF3BD143566D}" srcOrd="0" destOrd="0" presId="urn:microsoft.com/office/officeart/2005/8/layout/process1"/>
    <dgm:cxn modelId="{6CA8F750-EA41-4300-923E-7FF37BC8DB4D}" type="presParOf" srcId="{EF186988-F016-42B4-9E18-89A7F3B1E40B}" destId="{A7FD825B-3348-4F91-A26B-E5CA42144DCC}" srcOrd="1" destOrd="0" presId="urn:microsoft.com/office/officeart/2005/8/layout/process1"/>
    <dgm:cxn modelId="{C0C7C213-85CB-4816-A1DD-E4AAEE65E4C6}" type="presParOf" srcId="{A7FD825B-3348-4F91-A26B-E5CA42144DCC}" destId="{1C73059A-397F-46E0-AF37-B444023E774A}" srcOrd="0" destOrd="0" presId="urn:microsoft.com/office/officeart/2005/8/layout/process1"/>
    <dgm:cxn modelId="{09F43466-0F6B-4F9A-BB65-43486E5A0D97}" type="presParOf" srcId="{EF186988-F016-42B4-9E18-89A7F3B1E40B}" destId="{84B2856F-91F3-405D-BC70-75649DEE64F1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A6682D-1B3B-4C71-9F04-AFD7D79C66C9}">
      <dsp:nvSpPr>
        <dsp:cNvPr id="0" name=""/>
        <dsp:cNvSpPr/>
      </dsp:nvSpPr>
      <dsp:spPr>
        <a:xfrm>
          <a:off x="609599" y="0"/>
          <a:ext cx="6908800" cy="5424655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35710B-9067-4F36-9A1B-3912B23495A8}">
      <dsp:nvSpPr>
        <dsp:cNvPr id="0" name=""/>
        <dsp:cNvSpPr/>
      </dsp:nvSpPr>
      <dsp:spPr>
        <a:xfrm>
          <a:off x="459680" y="1627396"/>
          <a:ext cx="3505200" cy="2169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3000" kern="1200" noProof="0" dirty="0"/>
            <a:t>Qué fuerzas condicionan el funcionamiento de la organización?</a:t>
          </a:r>
        </a:p>
      </dsp:txBody>
      <dsp:txXfrm>
        <a:off x="565604" y="1733320"/>
        <a:ext cx="3293352" cy="1958014"/>
      </dsp:txXfrm>
    </dsp:sp>
    <dsp:sp modelId="{61F4E5E3-438A-4548-87B4-90B61813D6FB}">
      <dsp:nvSpPr>
        <dsp:cNvPr id="0" name=""/>
        <dsp:cNvSpPr/>
      </dsp:nvSpPr>
      <dsp:spPr>
        <a:xfrm>
          <a:off x="4163119" y="1627396"/>
          <a:ext cx="3505200" cy="2169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3000" kern="1200" noProof="0" dirty="0"/>
            <a:t>Definir qué tipo de organización necesito. </a:t>
          </a:r>
        </a:p>
      </dsp:txBody>
      <dsp:txXfrm>
        <a:off x="4269043" y="1733320"/>
        <a:ext cx="3293352" cy="19580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0EEA9F-D03C-4086-BD78-4955F808B0B4}">
      <dsp:nvSpPr>
        <dsp:cNvPr id="0" name=""/>
        <dsp:cNvSpPr/>
      </dsp:nvSpPr>
      <dsp:spPr>
        <a:xfrm rot="5400000">
          <a:off x="7106666" y="-2859764"/>
          <a:ext cx="1235134" cy="726986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AR" sz="1800" kern="1200" noProof="0" dirty="0"/>
            <a:t>Por qué el cliente elegiría nuestros productos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AR" sz="1800" kern="1200" noProof="0" dirty="0"/>
            <a:t>Elementos que forman nuestra propuesta competitiva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AR" sz="1800" kern="1200" noProof="0" dirty="0"/>
            <a:t>Propuesta comercial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AR" sz="1800" kern="1200" noProof="0" dirty="0"/>
            <a:t>Propuesta simbólica</a:t>
          </a:r>
          <a:endParaRPr lang="es-AR" sz="1600" kern="1200" noProof="0" dirty="0"/>
        </a:p>
      </dsp:txBody>
      <dsp:txXfrm rot="-5400000">
        <a:off x="4089300" y="217896"/>
        <a:ext cx="7209572" cy="1114546"/>
      </dsp:txXfrm>
    </dsp:sp>
    <dsp:sp modelId="{A83F727C-748A-42A8-8C4A-C044B543A681}">
      <dsp:nvSpPr>
        <dsp:cNvPr id="0" name=""/>
        <dsp:cNvSpPr/>
      </dsp:nvSpPr>
      <dsp:spPr>
        <a:xfrm>
          <a:off x="0" y="3209"/>
          <a:ext cx="4089300" cy="154391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81915" rIns="163830" bIns="8191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4300" b="1" kern="1200" noProof="0" dirty="0"/>
            <a:t>Modelo de valor</a:t>
          </a:r>
          <a:endParaRPr lang="es-AR" sz="4300" kern="1200" dirty="0"/>
        </a:p>
      </dsp:txBody>
      <dsp:txXfrm>
        <a:off x="75368" y="78577"/>
        <a:ext cx="3938564" cy="1393181"/>
      </dsp:txXfrm>
    </dsp:sp>
    <dsp:sp modelId="{7B133323-7D1D-48C9-96A8-50EC67D9064B}">
      <dsp:nvSpPr>
        <dsp:cNvPr id="0" name=""/>
        <dsp:cNvSpPr/>
      </dsp:nvSpPr>
      <dsp:spPr>
        <a:xfrm rot="5400000">
          <a:off x="7106666" y="-1238651"/>
          <a:ext cx="1235134" cy="726986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AR" sz="1800" kern="1200" noProof="0" dirty="0"/>
            <a:t>Principios esenciales de la filosofía de negocios</a:t>
          </a:r>
          <a:endParaRPr lang="es-AR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AR" sz="1800" kern="1200" noProof="0" dirty="0"/>
            <a:t>Valores culturales</a:t>
          </a:r>
          <a:endParaRPr lang="es-AR" sz="1800" kern="1200" dirty="0"/>
        </a:p>
      </dsp:txBody>
      <dsp:txXfrm rot="-5400000">
        <a:off x="4089300" y="1839009"/>
        <a:ext cx="7209572" cy="1114546"/>
      </dsp:txXfrm>
    </dsp:sp>
    <dsp:sp modelId="{5369F852-FE7A-4445-8FC3-E02F466F6EB5}">
      <dsp:nvSpPr>
        <dsp:cNvPr id="0" name=""/>
        <dsp:cNvSpPr/>
      </dsp:nvSpPr>
      <dsp:spPr>
        <a:xfrm>
          <a:off x="54015" y="1624323"/>
          <a:ext cx="4089300" cy="154391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81915" rIns="163830" bIns="8191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4300" b="1" kern="1200" noProof="0" dirty="0"/>
            <a:t>Valores nucleares</a:t>
          </a:r>
          <a:endParaRPr lang="es-AR" sz="4300" kern="1200" dirty="0"/>
        </a:p>
      </dsp:txBody>
      <dsp:txXfrm>
        <a:off x="129383" y="1699691"/>
        <a:ext cx="3938564" cy="1393181"/>
      </dsp:txXfrm>
    </dsp:sp>
    <dsp:sp modelId="{FC05793C-DCD7-446C-8BC3-D6EC5E4BA573}">
      <dsp:nvSpPr>
        <dsp:cNvPr id="0" name=""/>
        <dsp:cNvSpPr/>
      </dsp:nvSpPr>
      <dsp:spPr>
        <a:xfrm rot="5400000">
          <a:off x="7106666" y="382462"/>
          <a:ext cx="1235134" cy="726986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AR" sz="1800" kern="1200" noProof="0" dirty="0"/>
            <a:t>Principales elementos críticos del ambiente de negocios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AR" sz="1800" kern="1200" noProof="0" dirty="0"/>
            <a:t>Lógica competitiva del sector</a:t>
          </a:r>
        </a:p>
      </dsp:txBody>
      <dsp:txXfrm rot="-5400000">
        <a:off x="4089300" y="3460122"/>
        <a:ext cx="7209572" cy="1114546"/>
      </dsp:txXfrm>
    </dsp:sp>
    <dsp:sp modelId="{88DF4659-19FE-4B6D-9D9A-FE1DDAC9C54D}">
      <dsp:nvSpPr>
        <dsp:cNvPr id="0" name=""/>
        <dsp:cNvSpPr/>
      </dsp:nvSpPr>
      <dsp:spPr>
        <a:xfrm>
          <a:off x="0" y="3245436"/>
          <a:ext cx="4089300" cy="154391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81915" rIns="163830" bIns="8191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4300" b="1" kern="1200" noProof="0" dirty="0"/>
            <a:t>Concepto estratégico</a:t>
          </a:r>
          <a:endParaRPr lang="es-AR" sz="4300" kern="1200" dirty="0"/>
        </a:p>
      </dsp:txBody>
      <dsp:txXfrm>
        <a:off x="75368" y="3320804"/>
        <a:ext cx="3938564" cy="1393181"/>
      </dsp:txXfrm>
    </dsp:sp>
    <dsp:sp modelId="{71E9617A-3DCF-4F5C-A43D-99D1701F4BAE}">
      <dsp:nvSpPr>
        <dsp:cNvPr id="0" name=""/>
        <dsp:cNvSpPr/>
      </dsp:nvSpPr>
      <dsp:spPr>
        <a:xfrm rot="5400000">
          <a:off x="7106666" y="2003575"/>
          <a:ext cx="1235134" cy="726986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AR" sz="1800" kern="1200" noProof="0" dirty="0"/>
            <a:t>Objetivos específicos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AR" sz="1800" kern="1200" noProof="0" dirty="0"/>
            <a:t>Tácticas a utilizar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AR" sz="1800" kern="1200" noProof="0" dirty="0"/>
            <a:t>Identificación de áreas clave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AR" sz="1800" kern="1200" noProof="0" dirty="0"/>
            <a:t>Establecimiento de metas específicas</a:t>
          </a:r>
        </a:p>
      </dsp:txBody>
      <dsp:txXfrm rot="-5400000">
        <a:off x="4089300" y="5081235"/>
        <a:ext cx="7209572" cy="1114546"/>
      </dsp:txXfrm>
    </dsp:sp>
    <dsp:sp modelId="{D578B4EB-2082-415A-A62D-3A618C0C120D}">
      <dsp:nvSpPr>
        <dsp:cNvPr id="0" name=""/>
        <dsp:cNvSpPr/>
      </dsp:nvSpPr>
      <dsp:spPr>
        <a:xfrm>
          <a:off x="0" y="4866550"/>
          <a:ext cx="4089300" cy="154391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81915" rIns="163830" bIns="8191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4300" b="1" kern="1200" noProof="0"/>
            <a:t>Iniciativas estratégicas</a:t>
          </a:r>
          <a:endParaRPr lang="es-AR" sz="4300" kern="1200" noProof="0" dirty="0"/>
        </a:p>
      </dsp:txBody>
      <dsp:txXfrm>
        <a:off x="75368" y="4941918"/>
        <a:ext cx="3938564" cy="139318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121C1A-D345-46EF-AB6B-CF3BD143566D}">
      <dsp:nvSpPr>
        <dsp:cNvPr id="0" name=""/>
        <dsp:cNvSpPr/>
      </dsp:nvSpPr>
      <dsp:spPr>
        <a:xfrm>
          <a:off x="1352" y="0"/>
          <a:ext cx="2883379" cy="15921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3800" kern="1200" noProof="0" dirty="0"/>
            <a:t>Necesidad</a:t>
          </a:r>
        </a:p>
      </dsp:txBody>
      <dsp:txXfrm>
        <a:off x="47985" y="46633"/>
        <a:ext cx="2790113" cy="1498903"/>
      </dsp:txXfrm>
    </dsp:sp>
    <dsp:sp modelId="{A7FD825B-3348-4F91-A26B-E5CA42144DCC}">
      <dsp:nvSpPr>
        <dsp:cNvPr id="0" name=""/>
        <dsp:cNvSpPr/>
      </dsp:nvSpPr>
      <dsp:spPr>
        <a:xfrm>
          <a:off x="3173069" y="438545"/>
          <a:ext cx="611276" cy="7150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3000" kern="1200" noProof="0" dirty="0"/>
        </a:p>
      </dsp:txBody>
      <dsp:txXfrm>
        <a:off x="3173069" y="581561"/>
        <a:ext cx="427893" cy="429046"/>
      </dsp:txXfrm>
    </dsp:sp>
    <dsp:sp modelId="{84B2856F-91F3-405D-BC70-75649DEE64F1}">
      <dsp:nvSpPr>
        <dsp:cNvPr id="0" name=""/>
        <dsp:cNvSpPr/>
      </dsp:nvSpPr>
      <dsp:spPr>
        <a:xfrm>
          <a:off x="4038082" y="0"/>
          <a:ext cx="2883379" cy="15921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3800" kern="1200" noProof="0" dirty="0"/>
            <a:t>Satisfactores</a:t>
          </a:r>
        </a:p>
      </dsp:txBody>
      <dsp:txXfrm>
        <a:off x="4084715" y="46633"/>
        <a:ext cx="2790113" cy="14989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14C4D9-5BAC-416D-8415-0D580F86175E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12FCF5-80DA-4B5B-BC5F-1367C1383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915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12FCF5-80DA-4B5B-BC5F-1367C1383DC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4443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12FCF5-80DA-4B5B-BC5F-1367C1383DC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6849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12FCF5-80DA-4B5B-BC5F-1367C1383DC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1149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12FCF5-80DA-4B5B-BC5F-1367C1383DC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5160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12FCF5-80DA-4B5B-BC5F-1367C1383DC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4422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12FCF5-80DA-4B5B-BC5F-1367C1383DC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9185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12FCF5-80DA-4B5B-BC5F-1367C1383DC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2094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706ACE-15C9-4C9B-B7E5-1CB526657F8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897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D7F12-176D-4417-9AB8-A66609DB5CAB}" type="datetimeFigureOut">
              <a:rPr lang="es-AR" smtClean="0"/>
              <a:pPr/>
              <a:t>16/4/2026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93CC-C838-435F-B280-C6019B28A254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12802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D7F12-176D-4417-9AB8-A66609DB5CAB}" type="datetimeFigureOut">
              <a:rPr lang="es-AR" smtClean="0"/>
              <a:pPr/>
              <a:t>16/4/2026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93CC-C838-435F-B280-C6019B28A254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72241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D7F12-176D-4417-9AB8-A66609DB5CAB}" type="datetimeFigureOut">
              <a:rPr lang="es-AR" smtClean="0"/>
              <a:pPr/>
              <a:t>16/4/2026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93CC-C838-435F-B280-C6019B28A254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51051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D7F12-176D-4417-9AB8-A66609DB5CAB}" type="datetimeFigureOut">
              <a:rPr lang="es-AR" smtClean="0"/>
              <a:pPr/>
              <a:t>16/4/2026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93CC-C838-435F-B280-C6019B28A254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31851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D7F12-176D-4417-9AB8-A66609DB5CAB}" type="datetimeFigureOut">
              <a:rPr lang="es-AR" smtClean="0"/>
              <a:pPr/>
              <a:t>16/4/2026</a:t>
            </a:fld>
            <a:endParaRPr lang="es-AR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93CC-C838-435F-B280-C6019B28A254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11384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D7F12-176D-4417-9AB8-A66609DB5CAB}" type="datetimeFigureOut">
              <a:rPr lang="es-AR" smtClean="0"/>
              <a:pPr/>
              <a:t>16/4/2026</a:t>
            </a:fld>
            <a:endParaRPr lang="es-A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93CC-C838-435F-B280-C6019B28A254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39865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D7F12-176D-4417-9AB8-A66609DB5CAB}" type="datetimeFigureOut">
              <a:rPr lang="es-AR" smtClean="0"/>
              <a:pPr/>
              <a:t>16/4/2026</a:t>
            </a:fld>
            <a:endParaRPr lang="es-AR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93CC-C838-435F-B280-C6019B28A254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35087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D7F12-176D-4417-9AB8-A66609DB5CAB}" type="datetimeFigureOut">
              <a:rPr lang="es-AR" smtClean="0"/>
              <a:pPr/>
              <a:t>16/4/2026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93CC-C838-435F-B280-C6019B28A254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48170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D7F12-176D-4417-9AB8-A66609DB5CAB}" type="datetimeFigureOut">
              <a:rPr lang="es-AR" smtClean="0"/>
              <a:pPr/>
              <a:t>16/4/2026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93CC-C838-435F-B280-C6019B28A254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32369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D7F12-176D-4417-9AB8-A66609DB5CAB}" type="datetimeFigureOut">
              <a:rPr lang="es-AR" smtClean="0"/>
              <a:pPr/>
              <a:t>16/4/2026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93CC-C838-435F-B280-C6019B28A254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33432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D7F12-176D-4417-9AB8-A66609DB5CAB}" type="datetimeFigureOut">
              <a:rPr lang="es-AR" smtClean="0"/>
              <a:pPr/>
              <a:t>16/4/2026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93CC-C838-435F-B280-C6019B28A254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19428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8D7F12-176D-4417-9AB8-A66609DB5CAB}" type="datetimeFigureOut">
              <a:rPr lang="es-AR" smtClean="0"/>
              <a:pPr/>
              <a:t>16/4/2026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CD93CC-C838-435F-B280-C6019B28A254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65953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6158D-4891-4ECB-87B7-CB293C80DE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90543"/>
            <a:ext cx="9144000" cy="3462516"/>
          </a:xfrm>
        </p:spPr>
        <p:txBody>
          <a:bodyPr/>
          <a:lstStyle/>
          <a:p>
            <a:r>
              <a:rPr lang="es-AR" noProof="0" dirty="0"/>
              <a:t>Hola a todos!  </a:t>
            </a:r>
            <a:br>
              <a:rPr lang="es-AR" noProof="0" dirty="0"/>
            </a:br>
            <a:r>
              <a:rPr lang="es-AR" noProof="0" dirty="0"/>
              <a:t>19.10 arrancamos</a:t>
            </a:r>
          </a:p>
        </p:txBody>
      </p:sp>
    </p:spTree>
    <p:extLst>
      <p:ext uri="{BB962C8B-B14F-4D97-AF65-F5344CB8AC3E}">
        <p14:creationId xmlns:p14="http://schemas.microsoft.com/office/powerpoint/2010/main" val="1168538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090E2-5016-CCC5-3F5B-381C14D86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noProof="0" dirty="0"/>
              <a:t>Primero, parroquiales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E2C3B-6648-0B42-C9E9-0FE758F2C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AR" noProof="0" dirty="0"/>
              <a:t>Fechas de parciales:</a:t>
            </a:r>
          </a:p>
          <a:p>
            <a:pPr marL="0" indent="0">
              <a:buNone/>
            </a:pPr>
            <a:r>
              <a:rPr lang="es-AR" noProof="0" dirty="0"/>
              <a:t>1er parcial, unidades 1 a 3 inclusive – 21 de mayo</a:t>
            </a:r>
          </a:p>
          <a:p>
            <a:pPr marL="0" indent="0">
              <a:buNone/>
            </a:pPr>
            <a:r>
              <a:rPr lang="es-AR" noProof="0" dirty="0"/>
              <a:t>2do parcial, unidades 4 a 7 inclusive – 2 de julio</a:t>
            </a:r>
          </a:p>
          <a:p>
            <a:pPr marL="0" indent="0">
              <a:buNone/>
            </a:pPr>
            <a:endParaRPr lang="es-AR" noProof="0" dirty="0"/>
          </a:p>
          <a:p>
            <a:pPr marL="0" indent="0">
              <a:buNone/>
            </a:pPr>
            <a:r>
              <a:rPr lang="es-AR" dirty="0"/>
              <a:t>Jueves 30 de abril: No hay clases. Viendo opciones de recuperación</a:t>
            </a:r>
          </a:p>
          <a:p>
            <a:pPr marL="0" indent="0">
              <a:buNone/>
            </a:pPr>
            <a:endParaRPr lang="es-AR" noProof="0" dirty="0"/>
          </a:p>
          <a:p>
            <a:pPr marL="0" indent="0">
              <a:buNone/>
            </a:pPr>
            <a:r>
              <a:rPr lang="es-AR" noProof="0" dirty="0"/>
              <a:t>Trabajo grupal cuatrimestral (para el ranking!!)</a:t>
            </a:r>
          </a:p>
          <a:p>
            <a:pPr marL="0" indent="0">
              <a:buNone/>
            </a:pPr>
            <a:r>
              <a:rPr lang="es-AR" noProof="0" dirty="0"/>
              <a:t>Armar grupos de máximo 5 personas.  Si no tienen grupo, los asigno luego de la clase hoy</a:t>
            </a:r>
          </a:p>
          <a:p>
            <a:pPr marL="0" indent="0">
              <a:buNone/>
            </a:pPr>
            <a:endParaRPr lang="es-AR" noProof="0" dirty="0"/>
          </a:p>
          <a:p>
            <a:pPr marL="0" indent="0">
              <a:buNone/>
            </a:pPr>
            <a:endParaRPr lang="es-AR" noProof="0" dirty="0"/>
          </a:p>
          <a:p>
            <a:pPr marL="0" indent="0">
              <a:buNone/>
            </a:pPr>
            <a:endParaRPr lang="es-AR" noProof="0" dirty="0"/>
          </a:p>
        </p:txBody>
      </p:sp>
    </p:spTree>
    <p:extLst>
      <p:ext uri="{BB962C8B-B14F-4D97-AF65-F5344CB8AC3E}">
        <p14:creationId xmlns:p14="http://schemas.microsoft.com/office/powerpoint/2010/main" val="1205365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7B6869-B769-7C90-531F-F726BAEA5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81" y="186980"/>
            <a:ext cx="10625070" cy="6363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809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6F4D2-E29E-1910-568C-280E0A5E6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noProof="0" dirty="0"/>
              <a:t>TP grupal cuatrimestral – consigna entrega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AB3A0-A37C-E125-C047-D467DC592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AR" noProof="0" dirty="0"/>
              <a:t>Objetivo: crear una startup de tecnología.  Nosotros les daremos el segmento a cada grupo.</a:t>
            </a:r>
          </a:p>
          <a:p>
            <a:pPr marL="0" indent="0">
              <a:buNone/>
            </a:pPr>
            <a:r>
              <a:rPr lang="es-AR" noProof="0" dirty="0"/>
              <a:t>Para la semana que viene deberán crear:</a:t>
            </a:r>
          </a:p>
          <a:p>
            <a:r>
              <a:rPr lang="es-AR" noProof="0" dirty="0"/>
              <a:t>Nombre de la Startup y el Negocio: Una descripción concisa de la empresa, su producto o servicio y a qué mercado se dirige</a:t>
            </a:r>
          </a:p>
          <a:p>
            <a:r>
              <a:rPr lang="es-AR" noProof="0" dirty="0"/>
              <a:t>Visión, Misión y Valores: Una propuesta clara de estos elementos, justificada por las oportunidades que ven en el contexto actual (tecnológico, social, político)</a:t>
            </a:r>
          </a:p>
          <a:p>
            <a:r>
              <a:rPr lang="es-AR" dirty="0"/>
              <a:t>2 páginas máximo.  Entrega sólo una persona por grupo</a:t>
            </a:r>
            <a:endParaRPr lang="es-AR" noProof="0" dirty="0"/>
          </a:p>
          <a:p>
            <a:endParaRPr lang="es-AR" noProof="0" dirty="0"/>
          </a:p>
          <a:p>
            <a:endParaRPr lang="es-AR" noProof="0" dirty="0"/>
          </a:p>
        </p:txBody>
      </p:sp>
    </p:spTree>
    <p:extLst>
      <p:ext uri="{BB962C8B-B14F-4D97-AF65-F5344CB8AC3E}">
        <p14:creationId xmlns:p14="http://schemas.microsoft.com/office/powerpoint/2010/main" val="1599773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sz="8800" noProof="0" dirty="0"/>
              <a:t>Análisis externo</a:t>
            </a:r>
            <a:r>
              <a:rPr lang="es-AR" noProof="0" dirty="0"/>
              <a:t>	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AR" sz="2800" noProof="0" dirty="0"/>
              <a:t>Organización y Gestión Empresaria</a:t>
            </a:r>
          </a:p>
          <a:p>
            <a:r>
              <a:rPr lang="es-AR" noProof="0" dirty="0"/>
              <a:t>Ing. Martín Romero</a:t>
            </a:r>
          </a:p>
          <a:p>
            <a:endParaRPr lang="es-AR" noProof="0" dirty="0"/>
          </a:p>
        </p:txBody>
      </p:sp>
    </p:spTree>
    <p:extLst>
      <p:ext uri="{BB962C8B-B14F-4D97-AF65-F5344CB8AC3E}">
        <p14:creationId xmlns:p14="http://schemas.microsoft.com/office/powerpoint/2010/main" val="111851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noProof="0" dirty="0"/>
              <a:t>Enfoque propuesto	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464578844"/>
              </p:ext>
            </p:extLst>
          </p:nvPr>
        </p:nvGraphicFramePr>
        <p:xfrm>
          <a:off x="2032000" y="1288966"/>
          <a:ext cx="8128000" cy="54246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noProof="0" dirty="0"/>
              <a:t>Modelo de análisis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noProof="0" dirty="0"/>
              <a:t>Es virtualmente imposible extraer conclusiones para tomar las decisiones críticas de negocio</a:t>
            </a:r>
          </a:p>
          <a:p>
            <a:r>
              <a:rPr lang="es-AR" noProof="0" dirty="0"/>
              <a:t>Problema de timing: los mejores análisis quedan “viejos” muy rápido en el día a día.</a:t>
            </a:r>
          </a:p>
          <a:p>
            <a:r>
              <a:rPr lang="es-AR" noProof="0" dirty="0"/>
              <a:t>Modelos determinísticos vs. intuición del estratega.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C6BCA-9555-4CF6-98F6-E3CBB6C85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noProof="0" dirty="0"/>
              <a:t>Veamos qué opina cada uno…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D0A52-8C97-4670-AFAC-4CA5A9777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s-AR" sz="4400" noProof="0" dirty="0"/>
          </a:p>
          <a:p>
            <a:pPr marL="0" indent="0" algn="ctr">
              <a:buNone/>
            </a:pPr>
            <a:r>
              <a:rPr lang="es-AR" sz="4400" noProof="0" dirty="0"/>
              <a:t>Qué es mas importante?  </a:t>
            </a:r>
          </a:p>
          <a:p>
            <a:pPr marL="0" indent="0" algn="ctr">
              <a:buNone/>
            </a:pPr>
            <a:endParaRPr lang="es-AR" sz="4400" noProof="0" dirty="0"/>
          </a:p>
          <a:p>
            <a:pPr marL="0" indent="0" algn="ctr">
              <a:buNone/>
            </a:pPr>
            <a:r>
              <a:rPr lang="es-AR" sz="4400" noProof="0" dirty="0"/>
              <a:t>Usar modelos predefinidos y determinísticos, la intuición del estratega, ambos?</a:t>
            </a:r>
          </a:p>
        </p:txBody>
      </p:sp>
    </p:spTree>
    <p:extLst>
      <p:ext uri="{BB962C8B-B14F-4D97-AF65-F5344CB8AC3E}">
        <p14:creationId xmlns:p14="http://schemas.microsoft.com/office/powerpoint/2010/main" val="4252772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noProof="0" dirty="0"/>
              <a:t>Modelo de análisis – problemática a resolver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noProof="0" dirty="0"/>
              <a:t>Clasificación de las variables: algunas podrían dar lecturas contradictorias entre sí</a:t>
            </a:r>
          </a:p>
          <a:p>
            <a:r>
              <a:rPr lang="es-AR" noProof="0" dirty="0"/>
              <a:t>Selección de las variables: determinar cuáles de ellas son críticas para el negocio</a:t>
            </a:r>
          </a:p>
          <a:p>
            <a:r>
              <a:rPr lang="es-AR" noProof="0" dirty="0"/>
              <a:t>Interrelación entre las variables: muy importante advertir cuando sucesos aparentemente aislados se encadenan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08760" y="1108710"/>
            <a:ext cx="8812530" cy="53949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6" name="Right Arrow 5"/>
          <p:cNvSpPr/>
          <p:nvPr/>
        </p:nvSpPr>
        <p:spPr>
          <a:xfrm rot="5400000">
            <a:off x="5371658" y="1784653"/>
            <a:ext cx="909761" cy="3133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10" name="Right Arrow 9"/>
          <p:cNvSpPr/>
          <p:nvPr/>
        </p:nvSpPr>
        <p:spPr>
          <a:xfrm rot="10800000">
            <a:off x="8439979" y="3662982"/>
            <a:ext cx="909761" cy="3133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11" name="Right Arrow 10"/>
          <p:cNvSpPr/>
          <p:nvPr/>
        </p:nvSpPr>
        <p:spPr>
          <a:xfrm rot="10800000" flipH="1">
            <a:off x="2391189" y="3678222"/>
            <a:ext cx="909761" cy="3133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12" name="Rectangle 11"/>
          <p:cNvSpPr/>
          <p:nvPr/>
        </p:nvSpPr>
        <p:spPr>
          <a:xfrm>
            <a:off x="3316270" y="1767185"/>
            <a:ext cx="85029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AR" b="1" noProof="0" dirty="0"/>
              <a:t>Marco </a:t>
            </a:r>
          </a:p>
          <a:p>
            <a:pPr algn="ctr"/>
            <a:r>
              <a:rPr lang="es-AR" b="1" noProof="0" dirty="0"/>
              <a:t>Global</a:t>
            </a:r>
          </a:p>
        </p:txBody>
      </p:sp>
      <p:sp>
        <p:nvSpPr>
          <p:cNvPr id="13" name="Oval 12"/>
          <p:cNvSpPr/>
          <p:nvPr/>
        </p:nvSpPr>
        <p:spPr>
          <a:xfrm>
            <a:off x="1634490" y="1325880"/>
            <a:ext cx="8332470" cy="508635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15" name="Oval 14"/>
          <p:cNvSpPr/>
          <p:nvPr/>
        </p:nvSpPr>
        <p:spPr>
          <a:xfrm>
            <a:off x="2891790" y="2000250"/>
            <a:ext cx="5855970" cy="378714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16" name="Rectangle 15"/>
          <p:cNvSpPr/>
          <p:nvPr/>
        </p:nvSpPr>
        <p:spPr>
          <a:xfrm>
            <a:off x="4080510" y="3131820"/>
            <a:ext cx="3634740" cy="172593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4903470" y="3383280"/>
            <a:ext cx="20459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b="1" noProof="0" dirty="0"/>
              <a:t>Sector industrial</a:t>
            </a:r>
          </a:p>
          <a:p>
            <a:pPr algn="ctr"/>
            <a:r>
              <a:rPr lang="es-AR" noProof="0" dirty="0"/>
              <a:t>Campo de Fuerzas competitivas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75842" y="2388215"/>
            <a:ext cx="104753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AR" b="1" noProof="0" dirty="0"/>
              <a:t>Contexto</a:t>
            </a:r>
          </a:p>
          <a:p>
            <a:pPr algn="ctr"/>
            <a:r>
              <a:rPr lang="es-AR" b="1" noProof="0" dirty="0"/>
              <a:t>Regional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9316" y="1496675"/>
            <a:ext cx="253318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AR" noProof="0" dirty="0"/>
              <a:t>Tendencias </a:t>
            </a:r>
          </a:p>
          <a:p>
            <a:pPr algn="ctr"/>
            <a:r>
              <a:rPr lang="es-AR" noProof="0" dirty="0"/>
              <a:t>          de cambio </a:t>
            </a:r>
          </a:p>
          <a:p>
            <a:pPr algn="ctr"/>
            <a:r>
              <a:rPr lang="es-AR" noProof="0" dirty="0"/>
              <a:t>                         estructural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85676" y="5020925"/>
            <a:ext cx="253318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AR" noProof="0" dirty="0"/>
              <a:t>Coyuntura regional</a:t>
            </a:r>
          </a:p>
        </p:txBody>
      </p:sp>
      <p:sp>
        <p:nvSpPr>
          <p:cNvPr id="21" name="Right Arrow 20"/>
          <p:cNvSpPr/>
          <p:nvPr/>
        </p:nvSpPr>
        <p:spPr>
          <a:xfrm rot="16200000" flipV="1">
            <a:off x="5352607" y="5674663"/>
            <a:ext cx="909761" cy="3133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5035"/>
          </a:xfrm>
        </p:spPr>
        <p:txBody>
          <a:bodyPr/>
          <a:lstStyle/>
          <a:p>
            <a:r>
              <a:rPr lang="es-AR" noProof="0" dirty="0"/>
              <a:t>Análisis Contextual</a:t>
            </a:r>
          </a:p>
        </p:txBody>
      </p:sp>
      <p:sp>
        <p:nvSpPr>
          <p:cNvPr id="23" name="Curved Down Arrow 22"/>
          <p:cNvSpPr/>
          <p:nvPr/>
        </p:nvSpPr>
        <p:spPr>
          <a:xfrm>
            <a:off x="5257800" y="2823210"/>
            <a:ext cx="1337310" cy="480060"/>
          </a:xfrm>
          <a:prstGeom prst="curvedDownArrow">
            <a:avLst>
              <a:gd name="adj1" fmla="val 25000"/>
              <a:gd name="adj2" fmla="val 139286"/>
              <a:gd name="adj3" fmla="val 2261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>
              <a:solidFill>
                <a:schemeClr val="tx1"/>
              </a:solidFill>
            </a:endParaRPr>
          </a:p>
        </p:txBody>
      </p:sp>
      <p:sp>
        <p:nvSpPr>
          <p:cNvPr id="24" name="Curved Down Arrow 23"/>
          <p:cNvSpPr/>
          <p:nvPr/>
        </p:nvSpPr>
        <p:spPr>
          <a:xfrm flipV="1">
            <a:off x="5261610" y="4610100"/>
            <a:ext cx="1337310" cy="480060"/>
          </a:xfrm>
          <a:prstGeom prst="curvedDownArrow">
            <a:avLst>
              <a:gd name="adj1" fmla="val 25000"/>
              <a:gd name="adj2" fmla="val 139286"/>
              <a:gd name="adj3" fmla="val 2261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>
              <a:solidFill>
                <a:schemeClr val="tx1"/>
              </a:solidFill>
            </a:endParaRPr>
          </a:p>
        </p:txBody>
      </p:sp>
      <p:sp>
        <p:nvSpPr>
          <p:cNvPr id="25" name="Curved Down Arrow 24"/>
          <p:cNvSpPr/>
          <p:nvPr/>
        </p:nvSpPr>
        <p:spPr>
          <a:xfrm rot="16200000" flipV="1">
            <a:off x="7048500" y="3699510"/>
            <a:ext cx="1337310" cy="480060"/>
          </a:xfrm>
          <a:prstGeom prst="curvedDownArrow">
            <a:avLst>
              <a:gd name="adj1" fmla="val 25000"/>
              <a:gd name="adj2" fmla="val 139286"/>
              <a:gd name="adj3" fmla="val 2261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>
              <a:solidFill>
                <a:schemeClr val="tx1"/>
              </a:solidFill>
            </a:endParaRPr>
          </a:p>
        </p:txBody>
      </p:sp>
      <p:sp>
        <p:nvSpPr>
          <p:cNvPr id="26" name="Curved Down Arrow 25"/>
          <p:cNvSpPr/>
          <p:nvPr/>
        </p:nvSpPr>
        <p:spPr>
          <a:xfrm rot="5400000" flipH="1" flipV="1">
            <a:off x="3429000" y="3703320"/>
            <a:ext cx="1337310" cy="480060"/>
          </a:xfrm>
          <a:prstGeom prst="curvedDownArrow">
            <a:avLst>
              <a:gd name="adj1" fmla="val 25000"/>
              <a:gd name="adj2" fmla="val 139286"/>
              <a:gd name="adj3" fmla="val 2261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>
              <a:solidFill>
                <a:schemeClr val="tx1"/>
              </a:solidFill>
            </a:endParaRPr>
          </a:p>
        </p:txBody>
      </p:sp>
      <p:sp>
        <p:nvSpPr>
          <p:cNvPr id="27" name="Right Arrow 26"/>
          <p:cNvSpPr/>
          <p:nvPr/>
        </p:nvSpPr>
        <p:spPr>
          <a:xfrm rot="18961168">
            <a:off x="8023859" y="2686049"/>
            <a:ext cx="708660" cy="40005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28" name="Right Arrow 27"/>
          <p:cNvSpPr/>
          <p:nvPr/>
        </p:nvSpPr>
        <p:spPr>
          <a:xfrm rot="13561168">
            <a:off x="2952751" y="2598420"/>
            <a:ext cx="708660" cy="40005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29" name="Right Arrow 28"/>
          <p:cNvSpPr/>
          <p:nvPr/>
        </p:nvSpPr>
        <p:spPr>
          <a:xfrm rot="2638832" flipV="1">
            <a:off x="7981948" y="4907280"/>
            <a:ext cx="708660" cy="40005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30" name="Right Arrow 29"/>
          <p:cNvSpPr/>
          <p:nvPr/>
        </p:nvSpPr>
        <p:spPr>
          <a:xfrm rot="8038832" flipV="1">
            <a:off x="2910840" y="4819651"/>
            <a:ext cx="708660" cy="40005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noProof="0" dirty="0"/>
              <a:t>Sector industrial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noProof="0" dirty="0"/>
              <a:t>Sucesos que afectan en forma directa a la rama de actividad de nuestra empresa (o una unidad de negocio)</a:t>
            </a:r>
          </a:p>
          <a:p>
            <a:r>
              <a:rPr lang="es-AR" noProof="0" dirty="0"/>
              <a:t>Acción de competidores directos</a:t>
            </a:r>
          </a:p>
          <a:p>
            <a:r>
              <a:rPr lang="es-AR" noProof="0" dirty="0"/>
              <a:t>Amenazas de nuevos ingresos</a:t>
            </a:r>
          </a:p>
          <a:p>
            <a:r>
              <a:rPr lang="es-AR" noProof="0" dirty="0"/>
              <a:t>Presión de proveedores</a:t>
            </a:r>
          </a:p>
          <a:p>
            <a:r>
              <a:rPr lang="es-AR" noProof="0" dirty="0"/>
              <a:t>Presión de productos sustitutos</a:t>
            </a:r>
          </a:p>
          <a:p>
            <a:r>
              <a:rPr lang="es-AR" noProof="0" dirty="0"/>
              <a:t>Canales de distribución</a:t>
            </a:r>
          </a:p>
          <a:p>
            <a:r>
              <a:rPr lang="es-AR" noProof="0" dirty="0"/>
              <a:t>Potenciales aliados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892986" y="5447982"/>
            <a:ext cx="2299014" cy="14100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ight Brace 4"/>
          <p:cNvSpPr/>
          <p:nvPr/>
        </p:nvSpPr>
        <p:spPr>
          <a:xfrm>
            <a:off x="5897880" y="2777490"/>
            <a:ext cx="754380" cy="28575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6755130" y="3954780"/>
            <a:ext cx="457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noProof="0" dirty="0"/>
              <a:t>Campo de Fuerzas competitivas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 noProof="0" dirty="0"/>
          </a:p>
        </p:txBody>
      </p:sp>
      <p:pic>
        <p:nvPicPr>
          <p:cNvPr id="1026" name="Picture 2" descr="Resultado de imagen para porter fuerza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0881" y="134438"/>
            <a:ext cx="7290238" cy="6619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892986" y="5458492"/>
            <a:ext cx="2299014" cy="14100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1892217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noProof="0" dirty="0"/>
              <a:t>Contexto regional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AR" noProof="0" dirty="0"/>
              <a:t>Variables que afectan un determinado país, región de un país o bloque de países.</a:t>
            </a:r>
          </a:p>
          <a:p>
            <a:r>
              <a:rPr lang="es-AR" noProof="0" dirty="0"/>
              <a:t>El impacto se ve en el conjunto de empresas radicadas en dicha geografía, independiente de su actividad.</a:t>
            </a:r>
          </a:p>
          <a:p>
            <a:r>
              <a:rPr lang="es-AR" noProof="0" dirty="0" err="1"/>
              <a:t>Subcontextos</a:t>
            </a:r>
            <a:endParaRPr lang="es-AR" noProof="0" dirty="0"/>
          </a:p>
          <a:p>
            <a:pPr lvl="1"/>
            <a:r>
              <a:rPr lang="es-AR" noProof="0" dirty="0"/>
              <a:t>Político</a:t>
            </a:r>
          </a:p>
          <a:p>
            <a:pPr lvl="1"/>
            <a:r>
              <a:rPr lang="es-AR" noProof="0" dirty="0"/>
              <a:t>Económico</a:t>
            </a:r>
          </a:p>
          <a:p>
            <a:pPr lvl="1"/>
            <a:r>
              <a:rPr lang="es-AR" noProof="0" dirty="0"/>
              <a:t>Socio-cultural</a:t>
            </a:r>
          </a:p>
          <a:p>
            <a:pPr lvl="1"/>
            <a:r>
              <a:rPr lang="es-AR" noProof="0" dirty="0"/>
              <a:t>Tecnológico</a:t>
            </a:r>
          </a:p>
          <a:p>
            <a:pPr lvl="1"/>
            <a:r>
              <a:rPr lang="es-AR" noProof="0" dirty="0"/>
              <a:t>Ambiental</a:t>
            </a:r>
          </a:p>
          <a:p>
            <a:pPr lvl="1">
              <a:buNone/>
            </a:pPr>
            <a:endParaRPr lang="es-AR" noProof="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892986" y="5447982"/>
            <a:ext cx="2299014" cy="14100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ight Brace 4"/>
          <p:cNvSpPr/>
          <p:nvPr/>
        </p:nvSpPr>
        <p:spPr>
          <a:xfrm>
            <a:off x="5886450" y="3543300"/>
            <a:ext cx="754380" cy="267462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6743700" y="4567257"/>
            <a:ext cx="457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noProof="0" dirty="0"/>
              <a:t>Coyuntura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noProof="0" dirty="0"/>
              <a:t>Marco global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AR" noProof="0" dirty="0"/>
              <a:t>Variables del conjunto de la actividad económica</a:t>
            </a:r>
          </a:p>
          <a:p>
            <a:pPr>
              <a:buNone/>
            </a:pPr>
            <a:r>
              <a:rPr lang="es-AR" noProof="0" dirty="0"/>
              <a:t> mundial, independiente de la región.</a:t>
            </a:r>
          </a:p>
          <a:p>
            <a:r>
              <a:rPr lang="es-AR" noProof="0" dirty="0"/>
              <a:t>Escaso conjunto de variables en cada ciclo histórico</a:t>
            </a:r>
          </a:p>
          <a:p>
            <a:r>
              <a:rPr lang="es-AR" noProof="0" dirty="0"/>
              <a:t>Alteraciones profundas en los paradigmas</a:t>
            </a:r>
          </a:p>
          <a:p>
            <a:r>
              <a:rPr lang="es-AR" noProof="0" dirty="0"/>
              <a:t>Efectos irreversibles</a:t>
            </a:r>
          </a:p>
          <a:p>
            <a:r>
              <a:rPr lang="es-AR" noProof="0" dirty="0"/>
              <a:t>Generadores de tendencias vs. receptores de tendencias</a:t>
            </a:r>
          </a:p>
          <a:p>
            <a:endParaRPr lang="es-AR" noProof="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892986" y="5447982"/>
            <a:ext cx="2299014" cy="14100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ight Brace 4"/>
          <p:cNvSpPr/>
          <p:nvPr/>
        </p:nvSpPr>
        <p:spPr>
          <a:xfrm>
            <a:off x="9349740" y="1691640"/>
            <a:ext cx="754380" cy="357759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10206990" y="2868930"/>
            <a:ext cx="457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noProof="0" dirty="0"/>
              <a:t>Tendencias de </a:t>
            </a:r>
          </a:p>
          <a:p>
            <a:r>
              <a:rPr lang="es-AR" sz="2400" noProof="0" dirty="0"/>
              <a:t>cambio </a:t>
            </a:r>
          </a:p>
          <a:p>
            <a:r>
              <a:rPr lang="es-AR" sz="2400" noProof="0" dirty="0"/>
              <a:t>estructural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noProof="0" dirty="0"/>
              <a:t>Generadores vs. receptores de tendencias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6776"/>
            <a:ext cx="10982093" cy="4351338"/>
          </a:xfrm>
        </p:spPr>
        <p:txBody>
          <a:bodyPr numCol="2"/>
          <a:lstStyle/>
          <a:p>
            <a:r>
              <a:rPr lang="es-AR" noProof="0" dirty="0"/>
              <a:t>El proceso de análisis estratégico…</a:t>
            </a:r>
          </a:p>
          <a:p>
            <a:endParaRPr lang="es-AR" noProof="0" dirty="0"/>
          </a:p>
          <a:p>
            <a:endParaRPr lang="es-AR" noProof="0" dirty="0"/>
          </a:p>
          <a:p>
            <a:endParaRPr lang="es-AR" noProof="0" dirty="0"/>
          </a:p>
          <a:p>
            <a:endParaRPr lang="es-AR" noProof="0" dirty="0"/>
          </a:p>
          <a:p>
            <a:endParaRPr lang="es-AR" noProof="0" dirty="0"/>
          </a:p>
          <a:p>
            <a:r>
              <a:rPr lang="es-AR" noProof="0" dirty="0"/>
              <a:t>Ejemplo: </a:t>
            </a:r>
            <a:r>
              <a:rPr lang="es-AR" noProof="0" dirty="0" err="1"/>
              <a:t>Sillicon</a:t>
            </a:r>
            <a:r>
              <a:rPr lang="es-AR" noProof="0" dirty="0"/>
              <a:t> Valley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1755060"/>
              </p:ext>
            </p:extLst>
          </p:nvPr>
        </p:nvGraphicFramePr>
        <p:xfrm>
          <a:off x="1588770" y="2620751"/>
          <a:ext cx="8401050" cy="1857375"/>
        </p:xfrm>
        <a:graphic>
          <a:graphicData uri="http://schemas.openxmlformats.org/drawingml/2006/table">
            <a:tbl>
              <a:tblPr firstRow="1">
                <a:tableStyleId>{FABFCF23-3B69-468F-B69F-88F6DE6A72F2}</a:tableStyleId>
              </a:tblPr>
              <a:tblGrid>
                <a:gridCol w="420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AR" sz="2400" u="none" strike="noStrike" noProof="0" dirty="0"/>
                        <a:t>Generadores</a:t>
                      </a:r>
                      <a:endParaRPr lang="es-AR" sz="24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2400" u="none" strike="noStrike" noProof="0" dirty="0"/>
                        <a:t>Receptores</a:t>
                      </a:r>
                      <a:endParaRPr lang="es-AR" sz="24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b"/>
                      <a:r>
                        <a:rPr lang="es-AR" sz="2400" u="none" strike="noStrike" noProof="0" dirty="0"/>
                        <a:t>Se inicia desde cada sector industrial</a:t>
                      </a:r>
                      <a:endParaRPr lang="es-AR" sz="24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2400" u="none" strike="noStrike" noProof="0" dirty="0"/>
                        <a:t>Se lee desde el marco global</a:t>
                      </a:r>
                      <a:endParaRPr lang="es-AR" sz="24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b"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s-AR" sz="2400" u="none" strike="noStrike" noProof="0" dirty="0"/>
                        <a:t>Sus variables serán prevalentes sobre las globales</a:t>
                      </a:r>
                      <a:endParaRPr lang="es-AR" sz="24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2400" u="none" strike="noStrike" noProof="0" dirty="0"/>
                        <a:t>Las variables condicionarán al resto</a:t>
                      </a:r>
                      <a:endParaRPr lang="es-AR" sz="24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892986" y="5447982"/>
            <a:ext cx="2299014" cy="14100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B01367-8F39-C397-0368-DEE6B14B394E}"/>
              </a:ext>
            </a:extLst>
          </p:cNvPr>
          <p:cNvSpPr txBox="1"/>
          <p:nvPr/>
        </p:nvSpPr>
        <p:spPr>
          <a:xfrm>
            <a:off x="3046927" y="5447982"/>
            <a:ext cx="60981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https://youtu.be/UO-8CMdeSHA?si=4yGs8nPOCYpWuC7o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A56C1-A339-2E1C-1468-F4761EB54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02BF9-379F-8E06-DFE5-F8DDDA6CF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69383E-5447-D0EF-A630-EB18EC8F9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751" y="0"/>
            <a:ext cx="4830498" cy="6858000"/>
          </a:xfrm>
          <a:prstGeom prst="rect">
            <a:avLst/>
          </a:prstGeom>
        </p:spPr>
      </p:pic>
      <p:pic>
        <p:nvPicPr>
          <p:cNvPr id="1026" name="Picture 2" descr="Vintage Photos of Silicon Valley before It Became a Giant ...">
            <a:extLst>
              <a:ext uri="{FF2B5EF4-FFF2-40B4-BE49-F238E27FC236}">
                <a16:creationId xmlns:a16="http://schemas.microsoft.com/office/drawing/2014/main" id="{13E51D7A-E4E6-EDEF-F2EB-A8E11D076C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047750"/>
            <a:ext cx="114300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466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20697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7B824-20CE-4139-94A8-D5E73D609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noProof="0" dirty="0"/>
              <a:t>Discusión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5A7C8-64BB-4A0F-AE49-7EA1728D9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97352"/>
            <a:ext cx="10515600" cy="146329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AR" sz="4800" noProof="0" dirty="0"/>
              <a:t>Qué factores ustedes consideran que han generado cambios estructurales?</a:t>
            </a:r>
          </a:p>
        </p:txBody>
      </p:sp>
    </p:spTree>
    <p:extLst>
      <p:ext uri="{BB962C8B-B14F-4D97-AF65-F5344CB8AC3E}">
        <p14:creationId xmlns:p14="http://schemas.microsoft.com/office/powerpoint/2010/main" val="35291867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noProof="0" dirty="0"/>
              <a:t>Cómo planificar ante…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AR" sz="3600" noProof="0" dirty="0"/>
              <a:t>Contextos de alta inestabilidad</a:t>
            </a:r>
          </a:p>
          <a:p>
            <a:r>
              <a:rPr lang="es-AR" sz="3600" noProof="0" dirty="0"/>
              <a:t>Economía cerrada / globalización</a:t>
            </a:r>
          </a:p>
          <a:p>
            <a:r>
              <a:rPr lang="es-AR" sz="3600" noProof="0" dirty="0"/>
              <a:t>Generadores actuales o futuros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892986" y="5447982"/>
            <a:ext cx="2299014" cy="14100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noProof="0" dirty="0"/>
              <a:t>Contextos de alta inestabilidad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noProof="0" dirty="0"/>
              <a:t>Puede ser mas difícil planificar a corto plazo u operativamente, pero no debe afectar el planeamiento estratégico a largo plazo.</a:t>
            </a:r>
          </a:p>
          <a:p>
            <a:r>
              <a:rPr lang="es-AR" noProof="0" dirty="0"/>
              <a:t>La empresa puede dudar en el “cómo”, el “cuando” y el “cuánto” hacer las cosas, pero nunca el “qué” hacer.</a:t>
            </a:r>
          </a:p>
          <a:p>
            <a:pPr>
              <a:buNone/>
            </a:pPr>
            <a:endParaRPr lang="es-AR" noProof="0" dirty="0"/>
          </a:p>
          <a:p>
            <a:pPr>
              <a:buNone/>
            </a:pPr>
            <a:r>
              <a:rPr lang="es-AR" noProof="0" dirty="0"/>
              <a:t>En conclusión:</a:t>
            </a:r>
          </a:p>
          <a:p>
            <a:pPr>
              <a:buNone/>
            </a:pPr>
            <a:r>
              <a:rPr lang="es-AR" noProof="0" dirty="0"/>
              <a:t>	</a:t>
            </a:r>
            <a:r>
              <a:rPr lang="es-AR" b="1" i="1" noProof="0" dirty="0"/>
              <a:t>La imprevisibilidad de un contexto regional, no desvía el impacto de las tendencias de cambio estructural del marco global.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892986" y="5447982"/>
            <a:ext cx="2299014" cy="14100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noProof="0" dirty="0"/>
              <a:t>Economía cerrada / globalización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77034"/>
            <a:ext cx="10515600" cy="4746625"/>
          </a:xfrm>
        </p:spPr>
        <p:txBody>
          <a:bodyPr>
            <a:normAutofit fontScale="92500" lnSpcReduction="20000"/>
          </a:bodyPr>
          <a:lstStyle/>
          <a:p>
            <a:r>
              <a:rPr lang="es-AR" noProof="0" dirty="0"/>
              <a:t>Globalización: fenómeno principalmente cultural de adopción de hábitos comunes entre poblaciones de diferentes latitudes.</a:t>
            </a:r>
          </a:p>
          <a:p>
            <a:pPr>
              <a:buNone/>
            </a:pPr>
            <a:r>
              <a:rPr lang="es-AR" noProof="0" dirty="0"/>
              <a:t>Mitos de la globalización:</a:t>
            </a:r>
          </a:p>
          <a:p>
            <a:pPr marL="457200" indent="-457200">
              <a:buFont typeface="+mj-lt"/>
              <a:buAutoNum type="arabicPeriod"/>
            </a:pPr>
            <a:r>
              <a:rPr lang="es-AR" noProof="0" dirty="0"/>
              <a:t>Siempre existió!  Lo que varía es el vehículo del fenómeno y la tecnología que lo sustenta.  Ejemplos: Antigua Grecia, Roma, Cristianismo, Revolución industrial</a:t>
            </a:r>
          </a:p>
          <a:p>
            <a:pPr marL="514350" indent="-514350">
              <a:buFont typeface="+mj-lt"/>
              <a:buAutoNum type="arabicPeriod"/>
            </a:pPr>
            <a:r>
              <a:rPr lang="es-AR" noProof="0" dirty="0"/>
              <a:t>Fenómeno post-Muro de Berlín.  No es a raíz del neoliberalismo o la economía internacionalizada.  Sí influyeron las comunicaciones globales.</a:t>
            </a:r>
          </a:p>
          <a:p>
            <a:pPr>
              <a:buNone/>
            </a:pPr>
            <a:endParaRPr lang="es-AR" noProof="0" dirty="0"/>
          </a:p>
          <a:p>
            <a:pPr>
              <a:buNone/>
            </a:pPr>
            <a:r>
              <a:rPr lang="es-AR" noProof="0" dirty="0"/>
              <a:t>En conclusión:</a:t>
            </a:r>
          </a:p>
          <a:p>
            <a:pPr>
              <a:buNone/>
            </a:pPr>
            <a:r>
              <a:rPr lang="es-AR" noProof="0" dirty="0"/>
              <a:t>	</a:t>
            </a:r>
            <a:r>
              <a:rPr lang="es-AR" b="1" i="1" noProof="0" dirty="0"/>
              <a:t>Los fenómenos predominantes en cualquier tipo de contexto </a:t>
            </a:r>
          </a:p>
          <a:p>
            <a:pPr>
              <a:buNone/>
            </a:pPr>
            <a:r>
              <a:rPr lang="es-AR" b="1" i="1" noProof="0" dirty="0"/>
              <a:t>   estarán siempre relacionados con tendencias globales y de </a:t>
            </a:r>
          </a:p>
          <a:p>
            <a:pPr>
              <a:buNone/>
            </a:pPr>
            <a:r>
              <a:rPr lang="es-AR" b="1" i="1" noProof="0" dirty="0"/>
              <a:t>   corte estructural.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892986" y="5447982"/>
            <a:ext cx="2299014" cy="14100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noProof="0" dirty="0"/>
              <a:t>Generadores actuales o futuros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i="1" noProof="0" dirty="0"/>
              <a:t>Los actuales generadores de tendencias forman las siguientes</a:t>
            </a:r>
            <a:r>
              <a:rPr lang="es-AR" noProof="0" dirty="0"/>
              <a:t>…</a:t>
            </a:r>
          </a:p>
          <a:p>
            <a:r>
              <a:rPr lang="es-AR" noProof="0" dirty="0"/>
              <a:t>Quienes realmente marcan la tendencia futura, son las industrias de punta.  Ejemplos: el arado, la PC, el satélite, producción en serie.</a:t>
            </a:r>
          </a:p>
          <a:p>
            <a:pPr>
              <a:buNone/>
            </a:pPr>
            <a:endParaRPr lang="es-AR" noProof="0" dirty="0"/>
          </a:p>
          <a:p>
            <a:pPr>
              <a:buNone/>
            </a:pPr>
            <a:r>
              <a:rPr lang="es-AR" noProof="0" dirty="0"/>
              <a:t>En conclusión:</a:t>
            </a:r>
          </a:p>
          <a:p>
            <a:pPr>
              <a:buNone/>
            </a:pPr>
            <a:r>
              <a:rPr lang="es-AR" noProof="0" dirty="0"/>
              <a:t>	</a:t>
            </a:r>
            <a:r>
              <a:rPr lang="es-AR" b="1" i="1" noProof="0" dirty="0"/>
              <a:t>Las tendencias de cambio estructural tienen su epicentro en las regiones que radican industrias de punta.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892986" y="5447982"/>
            <a:ext cx="2299014" cy="14100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noProof="0" dirty="0"/>
              <a:t>Tendencias del nuevo milenio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noProof="0" dirty="0"/>
              <a:t>Marco político</a:t>
            </a:r>
          </a:p>
          <a:p>
            <a:r>
              <a:rPr lang="es-AR" noProof="0" dirty="0"/>
              <a:t>La economía</a:t>
            </a:r>
          </a:p>
          <a:p>
            <a:r>
              <a:rPr lang="es-AR" noProof="0" dirty="0"/>
              <a:t>La sociedad</a:t>
            </a:r>
          </a:p>
          <a:p>
            <a:r>
              <a:rPr lang="es-AR" noProof="0" dirty="0"/>
              <a:t>Impacto tecnológico</a:t>
            </a:r>
          </a:p>
          <a:p>
            <a:r>
              <a:rPr lang="es-AR" noProof="0" dirty="0"/>
              <a:t>Medio ambiente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892986" y="5447982"/>
            <a:ext cx="2299014" cy="14100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6202256"/>
              </p:ext>
            </p:extLst>
          </p:nvPr>
        </p:nvGraphicFramePr>
        <p:xfrm>
          <a:off x="843395" y="376454"/>
          <a:ext cx="10505209" cy="6105092"/>
        </p:xfrm>
        <a:graphic>
          <a:graphicData uri="http://schemas.openxmlformats.org/drawingml/2006/table">
            <a:tbl>
              <a:tblPr/>
              <a:tblGrid>
                <a:gridCol w="37859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92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7250">
                <a:tc rowSpan="4">
                  <a:txBody>
                    <a:bodyPr/>
                    <a:lstStyle/>
                    <a:p>
                      <a:pPr algn="l" fontAlgn="ctr"/>
                      <a:r>
                        <a:rPr lang="es-AR" sz="40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El marco político</a:t>
                      </a:r>
                    </a:p>
                  </a:txBody>
                  <a:tcPr marL="9358" marR="9358" marT="935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2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Sistema político global</a:t>
                      </a:r>
                    </a:p>
                  </a:txBody>
                  <a:tcPr marL="9358" marR="9358" marT="93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2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2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Crisis de las instituciones</a:t>
                      </a:r>
                    </a:p>
                  </a:txBody>
                  <a:tcPr marL="9358" marR="9358" marT="93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2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2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Terrorismo</a:t>
                      </a:r>
                    </a:p>
                  </a:txBody>
                  <a:tcPr marL="9358" marR="9358" marT="93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11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2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Narcotráfico</a:t>
                      </a:r>
                    </a:p>
                  </a:txBody>
                  <a:tcPr marL="9358" marR="9358" marT="93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250">
                <a:tc rowSpan="5">
                  <a:txBody>
                    <a:bodyPr/>
                    <a:lstStyle/>
                    <a:p>
                      <a:pPr algn="l" fontAlgn="ctr"/>
                      <a:r>
                        <a:rPr lang="es-AR" sz="40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La economía</a:t>
                      </a:r>
                    </a:p>
                  </a:txBody>
                  <a:tcPr marL="9358" marR="9358" marT="935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2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Internacionalización</a:t>
                      </a:r>
                    </a:p>
                  </a:txBody>
                  <a:tcPr marL="9358" marR="9358" marT="93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2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2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Bloques económicos</a:t>
                      </a:r>
                    </a:p>
                  </a:txBody>
                  <a:tcPr marL="9358" marR="9358" marT="93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2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2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Crisis de mercados de capitales</a:t>
                      </a:r>
                    </a:p>
                  </a:txBody>
                  <a:tcPr marL="9358" marR="9358" marT="93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72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2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Depresiones mas profundas</a:t>
                      </a:r>
                    </a:p>
                  </a:txBody>
                  <a:tcPr marL="9358" marR="9358" marT="93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011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2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Asia-China</a:t>
                      </a:r>
                    </a:p>
                  </a:txBody>
                  <a:tcPr marL="9358" marR="9358" marT="93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7250">
                <a:tc rowSpan="5">
                  <a:txBody>
                    <a:bodyPr/>
                    <a:lstStyle/>
                    <a:p>
                      <a:pPr algn="l" fontAlgn="ctr"/>
                      <a:r>
                        <a:rPr lang="es-AR" sz="40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La Sociedad</a:t>
                      </a:r>
                    </a:p>
                  </a:txBody>
                  <a:tcPr marL="9358" marR="9358" marT="935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2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Impactos demográficos</a:t>
                      </a:r>
                    </a:p>
                  </a:txBody>
                  <a:tcPr marL="9358" marR="9358" marT="93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72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2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Crisis por desigualdades económicas</a:t>
                      </a:r>
                    </a:p>
                  </a:txBody>
                  <a:tcPr marL="9358" marR="9358" marT="93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72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2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Conflictividad étnica-religiosa</a:t>
                      </a:r>
                    </a:p>
                  </a:txBody>
                  <a:tcPr marL="9358" marR="9358" marT="93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72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2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Violencia urbana</a:t>
                      </a:r>
                    </a:p>
                  </a:txBody>
                  <a:tcPr marL="9358" marR="9358" marT="93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011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2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Nuevo humanismo</a:t>
                      </a:r>
                    </a:p>
                  </a:txBody>
                  <a:tcPr marL="9358" marR="9358" marT="93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5103472"/>
              </p:ext>
            </p:extLst>
          </p:nvPr>
        </p:nvGraphicFramePr>
        <p:xfrm>
          <a:off x="781050" y="1466649"/>
          <a:ext cx="10629900" cy="3924702"/>
        </p:xfrm>
        <a:graphic>
          <a:graphicData uri="http://schemas.openxmlformats.org/drawingml/2006/table">
            <a:tbl>
              <a:tblPr/>
              <a:tblGrid>
                <a:gridCol w="3830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8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7250">
                <a:tc rowSpan="5">
                  <a:txBody>
                    <a:bodyPr/>
                    <a:lstStyle/>
                    <a:p>
                      <a:pPr algn="l" fontAlgn="ctr"/>
                      <a:r>
                        <a:rPr lang="es-AR" sz="40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Impacto tecnológico</a:t>
                      </a:r>
                    </a:p>
                  </a:txBody>
                  <a:tcPr marL="9358" marR="9358" marT="935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2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Tecnologías dominantes</a:t>
                      </a:r>
                    </a:p>
                  </a:txBody>
                  <a:tcPr marL="9358" marR="9358" marT="93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72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2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Comunicaciones satelitales</a:t>
                      </a:r>
                    </a:p>
                  </a:txBody>
                  <a:tcPr marL="9358" marR="9358" marT="93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72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2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Inteligencia artificial</a:t>
                      </a:r>
                    </a:p>
                  </a:txBody>
                  <a:tcPr marL="9358" marR="9358" marT="93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72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2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Biotecnología - Ing. Genética</a:t>
                      </a:r>
                    </a:p>
                  </a:txBody>
                  <a:tcPr marL="9358" marR="9358" marT="93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011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2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Polos de investigación y desarrollo</a:t>
                      </a:r>
                    </a:p>
                  </a:txBody>
                  <a:tcPr marL="9358" marR="9358" marT="93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7250">
                <a:tc rowSpan="4">
                  <a:txBody>
                    <a:bodyPr/>
                    <a:lstStyle/>
                    <a:p>
                      <a:pPr algn="l" fontAlgn="ctr"/>
                      <a:r>
                        <a:rPr lang="es-AR" sz="40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Medio ambiente</a:t>
                      </a:r>
                    </a:p>
                  </a:txBody>
                  <a:tcPr marL="9358" marR="9358" marT="935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2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Necesidad de desarrollo sustentable</a:t>
                      </a:r>
                    </a:p>
                  </a:txBody>
                  <a:tcPr marL="9358" marR="9358" marT="93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572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2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Destrucción del ecosistema</a:t>
                      </a:r>
                    </a:p>
                  </a:txBody>
                  <a:tcPr marL="9358" marR="9358" marT="93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572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2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Conciencia ecológica</a:t>
                      </a:r>
                    </a:p>
                  </a:txBody>
                  <a:tcPr marL="9358" marR="9358" marT="93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7011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2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Creciente presión social</a:t>
                      </a:r>
                    </a:p>
                  </a:txBody>
                  <a:tcPr marL="9358" marR="9358" marT="93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30472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EADF5E87-0BD0-4BA9-B77F-ECA4FE2B1F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703" y="628196"/>
            <a:ext cx="9246593" cy="435133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69810D-5605-4F92-9875-AFFD38305FCB}"/>
              </a:ext>
            </a:extLst>
          </p:cNvPr>
          <p:cNvSpPr txBox="1"/>
          <p:nvPr/>
        </p:nvSpPr>
        <p:spPr>
          <a:xfrm>
            <a:off x="1472703" y="5315635"/>
            <a:ext cx="924659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2400" b="1" i="1" noProof="0" dirty="0">
                <a:solidFill>
                  <a:srgbClr val="E72218"/>
                </a:solidFill>
                <a:effectLst/>
                <a:latin typeface="Open Sans" panose="020B0606030504020204" pitchFamily="34" charset="0"/>
              </a:rPr>
              <a:t>"El éxito trae complacencia. La complacencia fomenta las fallas. SÓLO LOS PARANOICOS SOBREVIVEN"</a:t>
            </a:r>
            <a:endParaRPr lang="es-AR" sz="2400" noProof="0" dirty="0"/>
          </a:p>
        </p:txBody>
      </p:sp>
    </p:spTree>
    <p:extLst>
      <p:ext uri="{BB962C8B-B14F-4D97-AF65-F5344CB8AC3E}">
        <p14:creationId xmlns:p14="http://schemas.microsoft.com/office/powerpoint/2010/main" val="147171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sz="8800" noProof="0" dirty="0"/>
              <a:t>Política de negocios</a:t>
            </a:r>
            <a:endParaRPr lang="es-AR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AR" sz="2800" noProof="0" dirty="0"/>
              <a:t>Organización y gestión empresaria</a:t>
            </a:r>
          </a:p>
          <a:p>
            <a:r>
              <a:rPr lang="es-AR" noProof="0" dirty="0"/>
              <a:t>Ing. Martín Romero</a:t>
            </a:r>
          </a:p>
          <a:p>
            <a:endParaRPr lang="es-AR" noProof="0" dirty="0"/>
          </a:p>
        </p:txBody>
      </p:sp>
    </p:spTree>
    <p:extLst>
      <p:ext uri="{BB962C8B-B14F-4D97-AF65-F5344CB8AC3E}">
        <p14:creationId xmlns:p14="http://schemas.microsoft.com/office/powerpoint/2010/main" val="22683962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noProof="0" dirty="0"/>
              <a:t>Planteo de la política de negocios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1">
            <a:normAutofit fontScale="92500" lnSpcReduction="10000"/>
          </a:bodyPr>
          <a:lstStyle/>
          <a:p>
            <a:pPr marL="0" indent="0">
              <a:buNone/>
            </a:pPr>
            <a:r>
              <a:rPr lang="es-AR" noProof="0" dirty="0"/>
              <a:t>Debe contener:</a:t>
            </a:r>
          </a:p>
          <a:p>
            <a:pPr marL="0" indent="0">
              <a:buNone/>
            </a:pPr>
            <a:endParaRPr lang="es-AR" dirty="0"/>
          </a:p>
          <a:p>
            <a:r>
              <a:rPr lang="es-AR" sz="3600" noProof="0" dirty="0"/>
              <a:t>Modelo de valor</a:t>
            </a:r>
          </a:p>
          <a:p>
            <a:r>
              <a:rPr lang="es-AR" sz="3600" noProof="0" dirty="0"/>
              <a:t>Valores nucleares</a:t>
            </a:r>
          </a:p>
          <a:p>
            <a:r>
              <a:rPr lang="es-AR" sz="3600" noProof="0" dirty="0"/>
              <a:t>Concepto estratégico</a:t>
            </a:r>
          </a:p>
          <a:p>
            <a:r>
              <a:rPr lang="es-AR" sz="3600" noProof="0" dirty="0"/>
              <a:t>Iniciativas estratégicas</a:t>
            </a:r>
          </a:p>
          <a:p>
            <a:r>
              <a:rPr lang="es-AR" sz="3600" noProof="0" dirty="0"/>
              <a:t>Visión</a:t>
            </a:r>
          </a:p>
          <a:p>
            <a:r>
              <a:rPr lang="es-AR" sz="3600" noProof="0" dirty="0"/>
              <a:t>Misión</a:t>
            </a:r>
          </a:p>
          <a:p>
            <a:endParaRPr lang="es-AR" noProof="0" dirty="0"/>
          </a:p>
          <a:p>
            <a:pPr lvl="1"/>
            <a:endParaRPr lang="es-AR" noProof="0" dirty="0"/>
          </a:p>
          <a:p>
            <a:pPr lvl="1"/>
            <a:endParaRPr lang="es-AR" noProof="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86355-5CE3-CC18-0037-33360F1DC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17C9FA6F-C80E-443B-2CFA-E95D3E4913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207231"/>
              </p:ext>
            </p:extLst>
          </p:nvPr>
        </p:nvGraphicFramePr>
        <p:xfrm>
          <a:off x="476517" y="218942"/>
          <a:ext cx="11359167" cy="64136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94158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83F727C-748A-42A8-8C4A-C044B543A6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graphicEl>
                                              <a:dgm id="{A83F727C-748A-42A8-8C4A-C044B543A68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60EEA9F-D03C-4086-BD78-4955F808B0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graphicEl>
                                              <a:dgm id="{360EEA9F-D03C-4086-BD78-4955F808B0B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369F852-FE7A-4445-8FC3-E02F466F6E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graphicEl>
                                              <a:dgm id="{5369F852-FE7A-4445-8FC3-E02F466F6EB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B133323-7D1D-48C9-96A8-50EC67D906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graphicEl>
                                              <a:dgm id="{7B133323-7D1D-48C9-96A8-50EC67D9064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8DF4659-19FE-4B6D-9D9A-FE1DDAC9C5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graphicEl>
                                              <a:dgm id="{88DF4659-19FE-4B6D-9D9A-FE1DDAC9C54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C05793C-DCD7-446C-8BC3-D6EC5E4BA5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graphicEl>
                                              <a:dgm id="{FC05793C-DCD7-446C-8BC3-D6EC5E4BA57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578B4EB-2082-415A-A62D-3A618C0C12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graphicEl>
                                              <a:dgm id="{D578B4EB-2082-415A-A62D-3A618C0C120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1E9617A-3DCF-4F5C-A43D-99D1701F4B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graphicEl>
                                              <a:dgm id="{71E9617A-3DCF-4F5C-A43D-99D1701F4BA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b="1" noProof="0" dirty="0"/>
              <a:t>Visión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noProof="0" dirty="0"/>
              <a:t>Define el propósito de la empresa. </a:t>
            </a:r>
          </a:p>
          <a:p>
            <a:r>
              <a:rPr lang="es-AR" noProof="0" dirty="0"/>
              <a:t>En qué quiere convertirse.</a:t>
            </a:r>
          </a:p>
          <a:p>
            <a:r>
              <a:rPr lang="es-AR" noProof="0" dirty="0"/>
              <a:t>Cómo quiere ser percibida por sus clientes.</a:t>
            </a:r>
          </a:p>
          <a:p>
            <a:r>
              <a:rPr lang="es-AR" noProof="0" dirty="0"/>
              <a:t>Elementos diferenciales.</a:t>
            </a:r>
          </a:p>
          <a:p>
            <a:r>
              <a:rPr lang="es-AR" noProof="0" dirty="0"/>
              <a:t>Nos permite sentar bases para construir la política de negocios.</a:t>
            </a:r>
          </a:p>
          <a:p>
            <a:r>
              <a:rPr lang="es-AR" noProof="0" dirty="0"/>
              <a:t>Refleja el contexto, las oportunidades percibidas y la mejora de habilidades distintivas.</a:t>
            </a:r>
          </a:p>
        </p:txBody>
      </p:sp>
    </p:spTree>
    <p:extLst>
      <p:ext uri="{BB962C8B-B14F-4D97-AF65-F5344CB8AC3E}">
        <p14:creationId xmlns:p14="http://schemas.microsoft.com/office/powerpoint/2010/main" val="9184158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b="1" noProof="0" dirty="0"/>
              <a:t>Misión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noProof="0" dirty="0"/>
              <a:t>Enfoque y direccionamiento del negocio</a:t>
            </a:r>
          </a:p>
          <a:p>
            <a:r>
              <a:rPr lang="es-AR" noProof="0" dirty="0"/>
              <a:t>“Cómo hacemos negocios”</a:t>
            </a:r>
          </a:p>
          <a:p>
            <a:r>
              <a:rPr lang="es-AR" noProof="0" dirty="0"/>
              <a:t>Orientación a las unidades de negocios de la empresa</a:t>
            </a:r>
          </a:p>
        </p:txBody>
      </p:sp>
    </p:spTree>
    <p:extLst>
      <p:ext uri="{BB962C8B-B14F-4D97-AF65-F5344CB8AC3E}">
        <p14:creationId xmlns:p14="http://schemas.microsoft.com/office/powerpoint/2010/main" val="22328976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52400" y="1659194"/>
            <a:ext cx="10547556" cy="4822722"/>
          </a:xfrm>
        </p:spPr>
        <p:txBody>
          <a:bodyPr/>
          <a:lstStyle/>
          <a:p>
            <a:pPr marL="0" indent="0" algn="just" fontAlgn="t">
              <a:buNone/>
            </a:pPr>
            <a:r>
              <a:rPr lang="es-AR" b="1" noProof="0" dirty="0"/>
              <a:t>Visión</a:t>
            </a:r>
          </a:p>
          <a:p>
            <a:pPr marL="0" indent="0" algn="just" fontAlgn="t">
              <a:buNone/>
            </a:pPr>
            <a:r>
              <a:rPr lang="es-AR" noProof="0" dirty="0"/>
              <a:t>Ser la empresa líder de alimentos y golosinas en Latinoamérica, reconocida en el mercado internacional, destacándonos por nuestras prácticas sustentables y por nuestra capacidad de ingresar en nuevos negocios.</a:t>
            </a:r>
          </a:p>
          <a:p>
            <a:pPr marL="0" indent="0" algn="just" fontAlgn="t">
              <a:buNone/>
            </a:pPr>
            <a:r>
              <a:rPr lang="es-AR" b="1" noProof="0" dirty="0"/>
              <a:t>Misión</a:t>
            </a:r>
          </a:p>
          <a:p>
            <a:pPr marL="0" indent="0" algn="just" fontAlgn="t">
              <a:buNone/>
            </a:pPr>
            <a:r>
              <a:rPr lang="es-AR" noProof="0" dirty="0"/>
              <a:t>Brindar a las personas en todo el mundo la oportunidad de disfrutar de alimentos y golosinas de calidad, ricos y saludables transformando así sus vínculos cotidianos en momentos mágicos de encuentro y celebración.</a:t>
            </a:r>
          </a:p>
          <a:p>
            <a:pPr marL="0" indent="0" algn="just">
              <a:buNone/>
            </a:pPr>
            <a:endParaRPr lang="es-AR" noProof="0" dirty="0"/>
          </a:p>
        </p:txBody>
      </p:sp>
      <p:pic>
        <p:nvPicPr>
          <p:cNvPr id="5122" name="Picture 2" descr="Resultado de imagen para arcor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7522" y="0"/>
            <a:ext cx="3254477" cy="2258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71808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Marcador de contenido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1523660"/>
              </p:ext>
            </p:extLst>
          </p:nvPr>
        </p:nvGraphicFramePr>
        <p:xfrm>
          <a:off x="309716" y="479323"/>
          <a:ext cx="11044084" cy="5692875"/>
        </p:xfrm>
        <a:graphic>
          <a:graphicData uri="http://schemas.openxmlformats.org/drawingml/2006/table">
            <a:tbl>
              <a:tblPr/>
              <a:tblGrid>
                <a:gridCol w="11044084">
                  <a:extLst>
                    <a:ext uri="{9D8B030D-6E8A-4147-A177-3AD203B41FA5}">
                      <a16:colId xmlns:a16="http://schemas.microsoft.com/office/drawing/2014/main" val="3001957413"/>
                    </a:ext>
                  </a:extLst>
                </a:gridCol>
              </a:tblGrid>
              <a:tr h="632542">
                <a:tc>
                  <a:txBody>
                    <a:bodyPr/>
                    <a:lstStyle/>
                    <a:p>
                      <a:pPr algn="l"/>
                      <a:r>
                        <a:rPr lang="es-AR" sz="3200" noProof="0" dirty="0">
                          <a:solidFill>
                            <a:srgbClr val="097ACC"/>
                          </a:solidFill>
                          <a:effectLst/>
                        </a:rPr>
                        <a:t>NUESTRA</a:t>
                      </a:r>
                      <a:r>
                        <a:rPr lang="es-AR" noProof="0" dirty="0">
                          <a:solidFill>
                            <a:srgbClr val="097ACC"/>
                          </a:solidFill>
                          <a:effectLst/>
                        </a:rPr>
                        <a:t> </a:t>
                      </a:r>
                      <a:r>
                        <a:rPr lang="es-AR" sz="3200" noProof="0" dirty="0">
                          <a:solidFill>
                            <a:srgbClr val="097ACC"/>
                          </a:solidFill>
                          <a:effectLst/>
                        </a:rPr>
                        <a:t>MISION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905047"/>
                  </a:ext>
                </a:extLst>
              </a:tr>
              <a:tr h="1897624">
                <a:tc>
                  <a:txBody>
                    <a:bodyPr/>
                    <a:lstStyle/>
                    <a:p>
                      <a:pPr algn="l"/>
                      <a:r>
                        <a:rPr lang="es-AR" sz="2800" noProof="0" dirty="0">
                          <a:solidFill>
                            <a:srgbClr val="777777"/>
                          </a:solidFill>
                          <a:effectLst/>
                        </a:rPr>
                        <a:t>Conectar a los argentinos y contribuir a la </a:t>
                      </a:r>
                    </a:p>
                    <a:p>
                      <a:pPr algn="l"/>
                      <a:r>
                        <a:rPr lang="es-AR" sz="2800" noProof="0" dirty="0">
                          <a:solidFill>
                            <a:srgbClr val="777777"/>
                          </a:solidFill>
                          <a:effectLst/>
                        </a:rPr>
                        <a:t>integración y al desarrollo económico y social</a:t>
                      </a:r>
                    </a:p>
                    <a:p>
                      <a:pPr algn="l"/>
                      <a:r>
                        <a:rPr lang="es-AR" sz="2800" noProof="0" dirty="0">
                          <a:solidFill>
                            <a:srgbClr val="777777"/>
                          </a:solidFill>
                          <a:effectLst/>
                        </a:rPr>
                        <a:t>del país, promoviendo el territorio nacional </a:t>
                      </a:r>
                    </a:p>
                    <a:p>
                      <a:pPr algn="l"/>
                      <a:r>
                        <a:rPr lang="es-AR" sz="2800" noProof="0" dirty="0">
                          <a:solidFill>
                            <a:srgbClr val="777777"/>
                          </a:solidFill>
                          <a:effectLst/>
                        </a:rPr>
                        <a:t>como destino turístico, cultural y de negocios.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792143"/>
                  </a:ext>
                </a:extLst>
              </a:tr>
              <a:tr h="632542">
                <a:tc>
                  <a:txBody>
                    <a:bodyPr/>
                    <a:lstStyle/>
                    <a:p>
                      <a:pPr algn="l"/>
                      <a:r>
                        <a:rPr lang="es-AR" noProof="0" dirty="0">
                          <a:effectLst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766496"/>
                  </a:ext>
                </a:extLst>
              </a:tr>
              <a:tr h="632542">
                <a:tc>
                  <a:txBody>
                    <a:bodyPr/>
                    <a:lstStyle/>
                    <a:p>
                      <a:pPr algn="l"/>
                      <a:r>
                        <a:rPr lang="es-AR" sz="3200" noProof="0" dirty="0">
                          <a:solidFill>
                            <a:srgbClr val="097ACC"/>
                          </a:solidFill>
                          <a:effectLst/>
                        </a:rPr>
                        <a:t>NUESTRA VISION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974032"/>
                  </a:ext>
                </a:extLst>
              </a:tr>
              <a:tr h="1265083">
                <a:tc>
                  <a:txBody>
                    <a:bodyPr/>
                    <a:lstStyle/>
                    <a:p>
                      <a:pPr algn="l"/>
                      <a:r>
                        <a:rPr lang="es-AR" sz="2800" noProof="0" dirty="0">
                          <a:solidFill>
                            <a:srgbClr val="777777"/>
                          </a:solidFill>
                          <a:effectLst/>
                        </a:rPr>
                        <a:t>Ser la empresa emblema y orgullo de la República Argentina, reconocida por su gestión pública eficiente y transparente.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802767"/>
                  </a:ext>
                </a:extLst>
              </a:tr>
              <a:tr h="632542">
                <a:tc>
                  <a:txBody>
                    <a:bodyPr/>
                    <a:lstStyle/>
                    <a:p>
                      <a:pPr algn="l"/>
                      <a:r>
                        <a:rPr lang="es-AR" noProof="0" dirty="0">
                          <a:effectLst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3622865"/>
                  </a:ext>
                </a:extLst>
              </a:tr>
            </a:tbl>
          </a:graphicData>
        </a:graphic>
      </p:graphicFrame>
      <p:pic>
        <p:nvPicPr>
          <p:cNvPr id="6146" name="Picture 2" descr="Resultado de imagen para aerolineas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9042" y="58994"/>
            <a:ext cx="5152958" cy="2477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69639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-1372"/>
            <a:ext cx="10471354" cy="23210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AR" sz="2000" b="1" noProof="0" dirty="0"/>
              <a:t>Nuestra misión</a:t>
            </a:r>
          </a:p>
          <a:p>
            <a:r>
              <a:rPr lang="es-AR" sz="2000" noProof="0" dirty="0"/>
              <a:t>Nuestro plan de trabajo comienza con nuestra misión, que es perdurable y expresa nuestro propósito como Compañía. Sirve como el patrón sobre el cual ponderamos nuestras acciones y decisiones.</a:t>
            </a:r>
          </a:p>
          <a:p>
            <a:r>
              <a:rPr lang="es-AR" sz="2000" noProof="0" dirty="0"/>
              <a:t>Refrescar al mundo.</a:t>
            </a:r>
          </a:p>
          <a:p>
            <a:r>
              <a:rPr lang="es-AR" sz="2000" noProof="0" dirty="0"/>
              <a:t>Inspirar momentos de optimismo y felicidad.</a:t>
            </a:r>
          </a:p>
          <a:p>
            <a:r>
              <a:rPr lang="es-AR" sz="2000" noProof="0" dirty="0"/>
              <a:t>Crear valor y dejar una huella positiva.</a:t>
            </a:r>
          </a:p>
        </p:txBody>
      </p:sp>
      <p:pic>
        <p:nvPicPr>
          <p:cNvPr id="4" name="Picture 4" descr="Coca-Col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1354" y="0"/>
            <a:ext cx="1720645" cy="1720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Marcador de contenido 2"/>
          <p:cNvSpPr txBox="1">
            <a:spLocks/>
          </p:cNvSpPr>
          <p:nvPr/>
        </p:nvSpPr>
        <p:spPr>
          <a:xfrm>
            <a:off x="0" y="2543844"/>
            <a:ext cx="12192000" cy="64081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1800" b="1" noProof="0" dirty="0"/>
              <a:t>Nuestra visión</a:t>
            </a:r>
          </a:p>
          <a:p>
            <a:r>
              <a:rPr lang="es-AR" sz="1800" noProof="0" dirty="0"/>
              <a:t>Nuestra visión actúa como el marco de nuestro plan de trabajo y guía cada uno de los aspectos de nuestro negocio mediante la descripción de lo que necesitamos lograr para continuar alcanzando un crecimiento sostenible y de calidad.</a:t>
            </a:r>
          </a:p>
          <a:p>
            <a:r>
              <a:rPr lang="es-AR" sz="1800" b="1" noProof="0" dirty="0"/>
              <a:t>Personas: </a:t>
            </a:r>
            <a:r>
              <a:rPr lang="es-AR" sz="1800" noProof="0" dirty="0"/>
              <a:t>(People): ser un gran lugar para trabajar en donde las personas se sientan motivadas a ser las mejores.</a:t>
            </a:r>
          </a:p>
          <a:p>
            <a:r>
              <a:rPr lang="es-AR" sz="1800" b="1" noProof="0" dirty="0"/>
              <a:t>Portafolio</a:t>
            </a:r>
            <a:r>
              <a:rPr lang="es-AR" sz="1800" noProof="0" dirty="0"/>
              <a:t>: (Portfolio): dar al mundo un portafolio de marcas de bebidas de calidad que anticipan y satisfacen los deseos y necesidades de los consumidores.</a:t>
            </a:r>
          </a:p>
          <a:p>
            <a:r>
              <a:rPr lang="es-AR" sz="1800" b="1" noProof="0" dirty="0"/>
              <a:t>Socios</a:t>
            </a:r>
            <a:r>
              <a:rPr lang="es-AR" sz="1800" noProof="0" dirty="0"/>
              <a:t> (</a:t>
            </a:r>
            <a:r>
              <a:rPr lang="es-AR" sz="1800" noProof="0" dirty="0" err="1"/>
              <a:t>Partners</a:t>
            </a:r>
            <a:r>
              <a:rPr lang="es-AR" sz="1800" noProof="0" dirty="0"/>
              <a:t>): alimentar una red exitosa de clientes y proveedores; juntos creamos valor mutuo y duradero.</a:t>
            </a:r>
          </a:p>
          <a:p>
            <a:r>
              <a:rPr lang="es-AR" sz="1800" b="1" noProof="0" dirty="0"/>
              <a:t>Planeta</a:t>
            </a:r>
            <a:r>
              <a:rPr lang="es-AR" sz="1800" noProof="0" dirty="0"/>
              <a:t> (</a:t>
            </a:r>
            <a:r>
              <a:rPr lang="es-AR" sz="1800" noProof="0" dirty="0" err="1"/>
              <a:t>Planet</a:t>
            </a:r>
            <a:r>
              <a:rPr lang="es-AR" sz="1800" noProof="0" dirty="0"/>
              <a:t>): ser un ciudadano responsable que hace la diferencia, ayudando a construir y apoyar comunidades sostenibles.</a:t>
            </a:r>
          </a:p>
          <a:p>
            <a:r>
              <a:rPr lang="es-AR" sz="1800" b="1" noProof="0" dirty="0"/>
              <a:t>Ganancias</a:t>
            </a:r>
            <a:r>
              <a:rPr lang="es-AR" sz="1800" noProof="0" dirty="0"/>
              <a:t> (</a:t>
            </a:r>
            <a:r>
              <a:rPr lang="es-AR" sz="1800" noProof="0" dirty="0" err="1"/>
              <a:t>Profit</a:t>
            </a:r>
            <a:r>
              <a:rPr lang="es-AR" sz="1800" noProof="0" dirty="0"/>
              <a:t>): maximizar la rentabilidad a largo plazo para los accionistas, a la vez que somos conscientes de todas nuestras responsabilidades.</a:t>
            </a:r>
          </a:p>
          <a:p>
            <a:r>
              <a:rPr lang="es-AR" sz="1800" b="1" noProof="0" dirty="0"/>
              <a:t>Productividad</a:t>
            </a:r>
            <a:r>
              <a:rPr lang="es-AR" sz="1800" noProof="0" dirty="0"/>
              <a:t> (</a:t>
            </a:r>
            <a:r>
              <a:rPr lang="es-AR" sz="1800" noProof="0" dirty="0" err="1"/>
              <a:t>Productivity</a:t>
            </a:r>
            <a:r>
              <a:rPr lang="es-AR" sz="1800" noProof="0" dirty="0"/>
              <a:t>): ser una organización altamente efectiva, que reacciona rápidamente.</a:t>
            </a:r>
          </a:p>
        </p:txBody>
      </p:sp>
    </p:spTree>
    <p:extLst>
      <p:ext uri="{BB962C8B-B14F-4D97-AF65-F5344CB8AC3E}">
        <p14:creationId xmlns:p14="http://schemas.microsoft.com/office/powerpoint/2010/main" val="32543903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 noProof="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751" y="124285"/>
            <a:ext cx="9265033" cy="6277171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3069020" y="4929351"/>
            <a:ext cx="3794235" cy="819807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</p:spTree>
    <p:extLst>
      <p:ext uri="{BB962C8B-B14F-4D97-AF65-F5344CB8AC3E}">
        <p14:creationId xmlns:p14="http://schemas.microsoft.com/office/powerpoint/2010/main" val="1051546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87"/>
            <a:ext cx="5691029" cy="23094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1029" y="167387"/>
            <a:ext cx="6500971" cy="20262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DE107C-EA83-3E33-FE5F-A48B655B5773}"/>
              </a:ext>
            </a:extLst>
          </p:cNvPr>
          <p:cNvSpPr txBox="1"/>
          <p:nvPr/>
        </p:nvSpPr>
        <p:spPr>
          <a:xfrm>
            <a:off x="3026534" y="4263802"/>
            <a:ext cx="650097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400" b="0" i="0" dirty="0">
                <a:solidFill>
                  <a:srgbClr val="657786"/>
                </a:solidFill>
                <a:effectLst/>
                <a:latin typeface="Helvetica Neue LT"/>
              </a:rPr>
              <a:t>La misión de Twitter es promover y proteger la conversación pública: ser la plaza pública de Internet. Siempre hemos entendido que para alcanzar este objetivo debemos dar a todo el mundo la capacidad de crear y compartir ideas e información, al instante y sin barreras.</a:t>
            </a:r>
            <a:endParaRPr lang="es-AR" sz="2400" dirty="0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27ECA8A1-F4DA-0695-A823-4CA158E9A2B6}"/>
              </a:ext>
            </a:extLst>
          </p:cNvPr>
          <p:cNvSpPr/>
          <p:nvPr/>
        </p:nvSpPr>
        <p:spPr>
          <a:xfrm>
            <a:off x="5254580" y="2969257"/>
            <a:ext cx="1485363" cy="91948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2022</a:t>
            </a:r>
          </a:p>
        </p:txBody>
      </p:sp>
    </p:spTree>
    <p:extLst>
      <p:ext uri="{BB962C8B-B14F-4D97-AF65-F5344CB8AC3E}">
        <p14:creationId xmlns:p14="http://schemas.microsoft.com/office/powerpoint/2010/main" val="99345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FEB51-5113-4701-8CE5-1873A099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noProof="0" dirty="0"/>
              <a:t>Cambios en misión-visión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DBB0C-E083-4F80-96C5-9020EAF62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AR" noProof="0" dirty="0"/>
              <a:t>Misión fundacional: </a:t>
            </a:r>
          </a:p>
          <a:p>
            <a:pPr marL="0" indent="0">
              <a:buNone/>
            </a:pPr>
            <a:r>
              <a:rPr lang="es-AR" noProof="0" dirty="0"/>
              <a:t>“Una PC en cada escritorio y hogar”</a:t>
            </a:r>
          </a:p>
          <a:p>
            <a:endParaRPr lang="es-AR" noProof="0" dirty="0"/>
          </a:p>
          <a:p>
            <a:endParaRPr lang="es-AR" noProof="0" dirty="0"/>
          </a:p>
          <a:p>
            <a:pPr marL="0" indent="0">
              <a:buNone/>
            </a:pPr>
            <a:r>
              <a:rPr lang="es-AR" noProof="0" dirty="0"/>
              <a:t>Misión actual:</a:t>
            </a:r>
          </a:p>
          <a:p>
            <a:pPr marL="0" indent="0">
              <a:buNone/>
            </a:pPr>
            <a:r>
              <a:rPr lang="es-AR" b="1" i="1" noProof="0" dirty="0"/>
              <a:t>“Empoderar a los demás.  </a:t>
            </a:r>
            <a:r>
              <a:rPr lang="es-AR" i="1" noProof="0" dirty="0"/>
              <a:t>Nuestra misión es capacitar a todas las personas y organizaciones del planeta para que puedan lograr más.”</a:t>
            </a:r>
          </a:p>
          <a:p>
            <a:endParaRPr lang="es-AR" noProof="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FD4AD9A-15AD-4555-883E-5EEDC6FAC0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7453" y="1920739"/>
            <a:ext cx="1875028" cy="265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9D0277C-1F27-4C1E-B0DE-7B6BA5177CD7}"/>
              </a:ext>
            </a:extLst>
          </p:cNvPr>
          <p:cNvSpPr/>
          <p:nvPr/>
        </p:nvSpPr>
        <p:spPr>
          <a:xfrm>
            <a:off x="9449198" y="1868887"/>
            <a:ext cx="1287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noProof="0" dirty="0">
                <a:solidFill>
                  <a:srgbClr val="202122"/>
                </a:solidFill>
                <a:latin typeface="Arial" panose="020B0604020202020204" pitchFamily="34" charset="0"/>
              </a:rPr>
              <a:t>1982-1987</a:t>
            </a:r>
            <a:endParaRPr lang="es-AR" noProof="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87BCD78-63D8-40CF-937C-F1423A0E6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5219" y="2640738"/>
            <a:ext cx="1679496" cy="279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BEA7DAD-8E15-4715-BF73-715EFA0547C5}"/>
              </a:ext>
            </a:extLst>
          </p:cNvPr>
          <p:cNvSpPr/>
          <p:nvPr/>
        </p:nvSpPr>
        <p:spPr>
          <a:xfrm>
            <a:off x="9449198" y="2636960"/>
            <a:ext cx="1287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noProof="0" dirty="0">
                <a:solidFill>
                  <a:srgbClr val="202122"/>
                </a:solidFill>
                <a:latin typeface="Arial" panose="020B0604020202020204" pitchFamily="34" charset="0"/>
              </a:rPr>
              <a:t>1987-2012</a:t>
            </a:r>
            <a:endParaRPr lang="es-AR" noProof="0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B5AAE849-2F7F-4A18-BE90-637DC3D8D3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7453" y="3283520"/>
            <a:ext cx="1875028" cy="406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409353A-CCD6-4B50-B93B-6C825B4D8D74}"/>
              </a:ext>
            </a:extLst>
          </p:cNvPr>
          <p:cNvSpPr/>
          <p:nvPr/>
        </p:nvSpPr>
        <p:spPr>
          <a:xfrm>
            <a:off x="9449198" y="3332968"/>
            <a:ext cx="13901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noProof="0" dirty="0">
                <a:solidFill>
                  <a:srgbClr val="202122"/>
                </a:solidFill>
                <a:latin typeface="Arial" panose="020B0604020202020204" pitchFamily="34" charset="0"/>
              </a:rPr>
              <a:t>2012-actual</a:t>
            </a:r>
            <a:endParaRPr lang="es-AR" noProof="0" dirty="0"/>
          </a:p>
        </p:txBody>
      </p:sp>
    </p:spTree>
    <p:extLst>
      <p:ext uri="{BB962C8B-B14F-4D97-AF65-F5344CB8AC3E}">
        <p14:creationId xmlns:p14="http://schemas.microsoft.com/office/powerpoint/2010/main" val="2997935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FFB56-1D00-490B-9144-5DCEE7142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noProof="0" dirty="0"/>
              <a:t>Video – </a:t>
            </a:r>
            <a:r>
              <a:rPr lang="es-AR" noProof="0" dirty="0" err="1"/>
              <a:t>Simon</a:t>
            </a:r>
            <a:r>
              <a:rPr lang="es-AR" noProof="0" dirty="0"/>
              <a:t> </a:t>
            </a:r>
            <a:r>
              <a:rPr lang="es-AR" noProof="0" dirty="0" err="1"/>
              <a:t>Sinek</a:t>
            </a:r>
            <a:endParaRPr lang="es-AR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11959A-7135-AA61-4F43-4E0EB42236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7748" y="1536825"/>
            <a:ext cx="7696200" cy="435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6323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noProof="0" dirty="0"/>
              <a:t>Algunos conceptos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noProof="0" dirty="0"/>
              <a:t>Empresa: </a:t>
            </a:r>
          </a:p>
          <a:p>
            <a:pPr lvl="1"/>
            <a:r>
              <a:rPr lang="es-AR" noProof="0" dirty="0"/>
              <a:t>Suma de habilidades (técnicas, tecnologías, métodos de trabajo)</a:t>
            </a:r>
          </a:p>
          <a:p>
            <a:pPr lvl="1"/>
            <a:r>
              <a:rPr lang="es-AR" noProof="0" dirty="0"/>
              <a:t>Red modular: habilidades distintivas no replicables.</a:t>
            </a:r>
          </a:p>
          <a:p>
            <a:r>
              <a:rPr lang="es-AR" noProof="0" dirty="0"/>
              <a:t>Negocio:</a:t>
            </a:r>
          </a:p>
          <a:p>
            <a:endParaRPr lang="es-AR" noProof="0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195875360"/>
              </p:ext>
            </p:extLst>
          </p:nvPr>
        </p:nvGraphicFramePr>
        <p:xfrm>
          <a:off x="2634593" y="3810147"/>
          <a:ext cx="6922814" cy="1592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943406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noProof="0" dirty="0"/>
              <a:t>Portafolio estratégico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noProof="0" dirty="0"/>
              <a:t>Conjunto de unidades de negocio</a:t>
            </a:r>
          </a:p>
          <a:p>
            <a:r>
              <a:rPr lang="es-AR" noProof="0" dirty="0"/>
              <a:t>Administración del portafolio:</a:t>
            </a:r>
          </a:p>
          <a:p>
            <a:pPr lvl="1"/>
            <a:r>
              <a:rPr lang="es-AR" noProof="0" dirty="0"/>
              <a:t>Enfoque (composición del portafolio)</a:t>
            </a:r>
          </a:p>
          <a:p>
            <a:pPr lvl="1"/>
            <a:r>
              <a:rPr lang="es-AR" noProof="0" dirty="0"/>
              <a:t>Equilibrio (planeamiento y desarrollo)</a:t>
            </a:r>
          </a:p>
          <a:p>
            <a:pPr lvl="1"/>
            <a:r>
              <a:rPr lang="es-AR" noProof="0" dirty="0"/>
              <a:t>Evolución (portafolio dinámico)</a:t>
            </a:r>
          </a:p>
          <a:p>
            <a:pPr lvl="1"/>
            <a:endParaRPr lang="es-AR" noProof="0" dirty="0"/>
          </a:p>
          <a:p>
            <a:endParaRPr lang="es-AR" noProof="0" dirty="0"/>
          </a:p>
        </p:txBody>
      </p:sp>
    </p:spTree>
    <p:extLst>
      <p:ext uri="{BB962C8B-B14F-4D97-AF65-F5344CB8AC3E}">
        <p14:creationId xmlns:p14="http://schemas.microsoft.com/office/powerpoint/2010/main" val="22023598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26F6D-6E73-53EE-2A58-D575FC491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938"/>
            <a:ext cx="10515600" cy="1325563"/>
          </a:xfrm>
        </p:spPr>
        <p:txBody>
          <a:bodyPr/>
          <a:lstStyle/>
          <a:p>
            <a:r>
              <a:rPr lang="en-US" dirty="0" err="1"/>
              <a:t>Recordatorio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13CB5-74F9-8133-D35C-6BFB99F2B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496" y="2426846"/>
            <a:ext cx="2382591" cy="298300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Suban los </a:t>
            </a:r>
            <a:r>
              <a:rPr lang="en-US" dirty="0" err="1"/>
              <a:t>grupos</a:t>
            </a:r>
            <a:r>
              <a:rPr lang="en-US" dirty="0"/>
              <a:t> a Ultra </a:t>
            </a:r>
            <a:r>
              <a:rPr lang="en-US" dirty="0" err="1"/>
              <a:t>asi</a:t>
            </a:r>
            <a:r>
              <a:rPr lang="en-US" dirty="0"/>
              <a:t> les </a:t>
            </a:r>
            <a:r>
              <a:rPr lang="en-US" dirty="0" err="1"/>
              <a:t>asigno</a:t>
            </a:r>
            <a:r>
              <a:rPr lang="en-US" dirty="0"/>
              <a:t> las </a:t>
            </a:r>
            <a:r>
              <a:rPr lang="en-US" dirty="0" err="1"/>
              <a:t>consignas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F1475C-AE50-6881-4582-83F281D30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087" y="681037"/>
            <a:ext cx="9684913" cy="5800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8567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es-AR" sz="11500" noProof="0"/>
              <a:t>FIN</a:t>
            </a:r>
            <a:endParaRPr lang="es-AR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794</TotalTime>
  <Words>1586</Words>
  <Application>Microsoft Office PowerPoint</Application>
  <PresentationFormat>Widescreen</PresentationFormat>
  <Paragraphs>257</Paragraphs>
  <Slides>42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Arial</vt:lpstr>
      <vt:lpstr>Calibri</vt:lpstr>
      <vt:lpstr>Calibri Light</vt:lpstr>
      <vt:lpstr>Helvetica Neue LT</vt:lpstr>
      <vt:lpstr>Open Sans</vt:lpstr>
      <vt:lpstr>Tema de Office</vt:lpstr>
      <vt:lpstr>Hola a todos!   19.10 arrancamos</vt:lpstr>
      <vt:lpstr>Primero, parroquiales</vt:lpstr>
      <vt:lpstr>PowerPoint Presentation</vt:lpstr>
      <vt:lpstr>TP grupal cuatrimestral – consigna entrega 1</vt:lpstr>
      <vt:lpstr>Análisis externo </vt:lpstr>
      <vt:lpstr>Enfoque propuesto </vt:lpstr>
      <vt:lpstr>Modelo de análisis</vt:lpstr>
      <vt:lpstr>Veamos qué opina cada uno…</vt:lpstr>
      <vt:lpstr>Modelo de análisis – problemática a resolver</vt:lpstr>
      <vt:lpstr>Análisis Contextual</vt:lpstr>
      <vt:lpstr>Sector industrial</vt:lpstr>
      <vt:lpstr>PowerPoint Presentation</vt:lpstr>
      <vt:lpstr>Contexto regional</vt:lpstr>
      <vt:lpstr>Marco global</vt:lpstr>
      <vt:lpstr>Generadores vs. receptores de tendencias</vt:lpstr>
      <vt:lpstr>PowerPoint Presentation</vt:lpstr>
      <vt:lpstr>PowerPoint Presentation</vt:lpstr>
      <vt:lpstr>Discusión </vt:lpstr>
      <vt:lpstr>Cómo planificar ante… </vt:lpstr>
      <vt:lpstr>Contextos de alta inestabilidad</vt:lpstr>
      <vt:lpstr>Economía cerrada / globalización</vt:lpstr>
      <vt:lpstr>Generadores actuales o futuros</vt:lpstr>
      <vt:lpstr>Tendencias del nuevo milenio</vt:lpstr>
      <vt:lpstr>PowerPoint Presentation</vt:lpstr>
      <vt:lpstr>PowerPoint Presentation</vt:lpstr>
      <vt:lpstr>PowerPoint Presentation</vt:lpstr>
      <vt:lpstr>Política de negocios</vt:lpstr>
      <vt:lpstr>Planteo de la política de negocios</vt:lpstr>
      <vt:lpstr>PowerPoint Presentation</vt:lpstr>
      <vt:lpstr>Visión</vt:lpstr>
      <vt:lpstr>Misión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Cambios en misión-visión</vt:lpstr>
      <vt:lpstr>Video – Simon Sinek</vt:lpstr>
      <vt:lpstr>Algunos conceptos</vt:lpstr>
      <vt:lpstr>Portafolio estratégico</vt:lpstr>
      <vt:lpstr>Recordatorio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Organización y gestión empresaria</dc:title>
  <dc:creator>Martin Romero</dc:creator>
  <cp:keywords>CTPClassification=CTP_NT</cp:keywords>
  <cp:lastModifiedBy>Martin Romero</cp:lastModifiedBy>
  <cp:revision>1</cp:revision>
  <dcterms:created xsi:type="dcterms:W3CDTF">2017-04-05T02:19:59Z</dcterms:created>
  <dcterms:modified xsi:type="dcterms:W3CDTF">2026-04-17T00:09:04Z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91d7fc3f-d1f7-45d9-9ef8-cb133038b2ea</vt:lpwstr>
  </property>
  <property fmtid="{D5CDD505-2E9C-101B-9397-08002B2CF9AE}" pid="3" name="CTP_TimeStamp">
    <vt:lpwstr>2020-04-17 13:10:56Z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