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343" r:id="rId2"/>
    <p:sldId id="336" r:id="rId3"/>
    <p:sldId id="353" r:id="rId4"/>
    <p:sldId id="348" r:id="rId5"/>
    <p:sldId id="349" r:id="rId6"/>
    <p:sldId id="350" r:id="rId7"/>
    <p:sldId id="256" r:id="rId8"/>
    <p:sldId id="259" r:id="rId9"/>
    <p:sldId id="314" r:id="rId10"/>
    <p:sldId id="316" r:id="rId11"/>
    <p:sldId id="312" r:id="rId12"/>
    <p:sldId id="313" r:id="rId13"/>
    <p:sldId id="329" r:id="rId14"/>
    <p:sldId id="331" r:id="rId15"/>
    <p:sldId id="330" r:id="rId16"/>
    <p:sldId id="333" r:id="rId17"/>
    <p:sldId id="334" r:id="rId18"/>
    <p:sldId id="351" r:id="rId19"/>
    <p:sldId id="352" r:id="rId20"/>
    <p:sldId id="318" r:id="rId21"/>
    <p:sldId id="319" r:id="rId22"/>
    <p:sldId id="358" r:id="rId23"/>
    <p:sldId id="335" r:id="rId24"/>
    <p:sldId id="320" r:id="rId25"/>
    <p:sldId id="321" r:id="rId26"/>
    <p:sldId id="322" r:id="rId27"/>
    <p:sldId id="323" r:id="rId28"/>
    <p:sldId id="324" r:id="rId29"/>
    <p:sldId id="325" r:id="rId30"/>
    <p:sldId id="326" r:id="rId31"/>
    <p:sldId id="332" r:id="rId32"/>
    <p:sldId id="327" r:id="rId33"/>
    <p:sldId id="328" r:id="rId34"/>
    <p:sldId id="354" r:id="rId35"/>
    <p:sldId id="356" r:id="rId36"/>
    <p:sldId id="355" r:id="rId37"/>
    <p:sldId id="357" r:id="rId38"/>
    <p:sldId id="284" r:id="rId39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3C6272-8C41-41EC-BFB2-9FDF9DF96543}" v="2" dt="2024-04-11T21:40:49.2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2" autoAdjust="0"/>
    <p:restoredTop sz="96706" autoAdjust="0"/>
  </p:normalViewPr>
  <p:slideViewPr>
    <p:cSldViewPr snapToGrid="0">
      <p:cViewPr varScale="1">
        <p:scale>
          <a:sx n="75" d="100"/>
          <a:sy n="75" d="100"/>
        </p:scale>
        <p:origin x="816" y="5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628"/>
    </p:cViewPr>
  </p:sorterViewPr>
  <p:notesViewPr>
    <p:cSldViewPr snapToGrid="0">
      <p:cViewPr varScale="1">
        <p:scale>
          <a:sx n="96" d="100"/>
          <a:sy n="96" d="100"/>
        </p:scale>
        <p:origin x="364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in Romero" userId="92a667c11581d2b5" providerId="LiveId" clId="{4B3C6272-8C41-41EC-BFB2-9FDF9DF96543}"/>
    <pc:docChg chg="custSel addSld modSld">
      <pc:chgData name="Martin Romero" userId="92a667c11581d2b5" providerId="LiveId" clId="{4B3C6272-8C41-41EC-BFB2-9FDF9DF96543}" dt="2024-04-25T18:01:20.188" v="28" actId="729"/>
      <pc:docMkLst>
        <pc:docMk/>
      </pc:docMkLst>
      <pc:sldChg chg="mod modShow">
        <pc:chgData name="Martin Romero" userId="92a667c11581d2b5" providerId="LiveId" clId="{4B3C6272-8C41-41EC-BFB2-9FDF9DF96543}" dt="2024-04-11T21:40:49.227" v="2" actId="729"/>
        <pc:sldMkLst>
          <pc:docMk/>
          <pc:sldMk cId="961600665" sldId="336"/>
        </pc:sldMkLst>
      </pc:sldChg>
      <pc:sldChg chg="mod modShow">
        <pc:chgData name="Martin Romero" userId="92a667c11581d2b5" providerId="LiveId" clId="{4B3C6272-8C41-41EC-BFB2-9FDF9DF96543}" dt="2024-04-11T21:23:55.666" v="0" actId="729"/>
        <pc:sldMkLst>
          <pc:docMk/>
          <pc:sldMk cId="760477591" sldId="348"/>
        </pc:sldMkLst>
      </pc:sldChg>
      <pc:sldChg chg="mod modShow">
        <pc:chgData name="Martin Romero" userId="92a667c11581d2b5" providerId="LiveId" clId="{4B3C6272-8C41-41EC-BFB2-9FDF9DF96543}" dt="2024-04-11T21:23:55.666" v="0" actId="729"/>
        <pc:sldMkLst>
          <pc:docMk/>
          <pc:sldMk cId="469221495" sldId="349"/>
        </pc:sldMkLst>
      </pc:sldChg>
      <pc:sldChg chg="mod modShow">
        <pc:chgData name="Martin Romero" userId="92a667c11581d2b5" providerId="LiveId" clId="{4B3C6272-8C41-41EC-BFB2-9FDF9DF96543}" dt="2024-04-11T21:23:55.666" v="0" actId="729"/>
        <pc:sldMkLst>
          <pc:docMk/>
          <pc:sldMk cId="2942912991" sldId="350"/>
        </pc:sldMkLst>
      </pc:sldChg>
      <pc:sldChg chg="mod modShow">
        <pc:chgData name="Martin Romero" userId="92a667c11581d2b5" providerId="LiveId" clId="{4B3C6272-8C41-41EC-BFB2-9FDF9DF96543}" dt="2024-04-11T21:40:39.683" v="1" actId="729"/>
        <pc:sldMkLst>
          <pc:docMk/>
          <pc:sldMk cId="1579756827" sldId="353"/>
        </pc:sldMkLst>
      </pc:sldChg>
      <pc:sldChg chg="mod modShow">
        <pc:chgData name="Martin Romero" userId="92a667c11581d2b5" providerId="LiveId" clId="{4B3C6272-8C41-41EC-BFB2-9FDF9DF96543}" dt="2024-04-25T18:01:20.188" v="28" actId="729"/>
        <pc:sldMkLst>
          <pc:docMk/>
          <pc:sldMk cId="3947273765" sldId="355"/>
        </pc:sldMkLst>
      </pc:sldChg>
      <pc:sldChg chg="mod modShow">
        <pc:chgData name="Martin Romero" userId="92a667c11581d2b5" providerId="LiveId" clId="{4B3C6272-8C41-41EC-BFB2-9FDF9DF96543}" dt="2024-04-11T21:57:43.285" v="27" actId="729"/>
        <pc:sldMkLst>
          <pc:docMk/>
          <pc:sldMk cId="2366270126" sldId="356"/>
        </pc:sldMkLst>
      </pc:sldChg>
      <pc:sldChg chg="mod modShow">
        <pc:chgData name="Martin Romero" userId="92a667c11581d2b5" providerId="LiveId" clId="{4B3C6272-8C41-41EC-BFB2-9FDF9DF96543}" dt="2024-04-25T18:01:20.188" v="28" actId="729"/>
        <pc:sldMkLst>
          <pc:docMk/>
          <pc:sldMk cId="313603524" sldId="357"/>
        </pc:sldMkLst>
      </pc:sldChg>
      <pc:sldChg chg="addSp delSp modSp new mod modClrScheme chgLayout">
        <pc:chgData name="Martin Romero" userId="92a667c11581d2b5" providerId="LiveId" clId="{4B3C6272-8C41-41EC-BFB2-9FDF9DF96543}" dt="2024-04-11T21:57:16.883" v="26" actId="20577"/>
        <pc:sldMkLst>
          <pc:docMk/>
          <pc:sldMk cId="1131832458" sldId="358"/>
        </pc:sldMkLst>
        <pc:spChg chg="del mod ord">
          <ac:chgData name="Martin Romero" userId="92a667c11581d2b5" providerId="LiveId" clId="{4B3C6272-8C41-41EC-BFB2-9FDF9DF96543}" dt="2024-04-11T21:57:12.283" v="4" actId="700"/>
          <ac:spMkLst>
            <pc:docMk/>
            <pc:sldMk cId="1131832458" sldId="358"/>
            <ac:spMk id="2" creationId="{5E894C76-B75A-73C8-2F77-69B2F1013545}"/>
          </ac:spMkLst>
        </pc:spChg>
        <pc:spChg chg="del mod ord">
          <ac:chgData name="Martin Romero" userId="92a667c11581d2b5" providerId="LiveId" clId="{4B3C6272-8C41-41EC-BFB2-9FDF9DF96543}" dt="2024-04-11T21:57:12.283" v="4" actId="700"/>
          <ac:spMkLst>
            <pc:docMk/>
            <pc:sldMk cId="1131832458" sldId="358"/>
            <ac:spMk id="3" creationId="{550E599A-BD91-492D-F089-653539F1986F}"/>
          </ac:spMkLst>
        </pc:spChg>
        <pc:spChg chg="add mod ord">
          <ac:chgData name="Martin Romero" userId="92a667c11581d2b5" providerId="LiveId" clId="{4B3C6272-8C41-41EC-BFB2-9FDF9DF96543}" dt="2024-04-11T21:57:16.883" v="26" actId="20577"/>
          <ac:spMkLst>
            <pc:docMk/>
            <pc:sldMk cId="1131832458" sldId="358"/>
            <ac:spMk id="4" creationId="{33CA815A-F45F-AE25-7BC0-C4EB819856C4}"/>
          </ac:spMkLst>
        </pc:spChg>
        <pc:spChg chg="add mod ord">
          <ac:chgData name="Martin Romero" userId="92a667c11581d2b5" providerId="LiveId" clId="{4B3C6272-8C41-41EC-BFB2-9FDF9DF96543}" dt="2024-04-11T21:57:12.283" v="4" actId="700"/>
          <ac:spMkLst>
            <pc:docMk/>
            <pc:sldMk cId="1131832458" sldId="358"/>
            <ac:spMk id="5" creationId="{E870C984-EBBC-453F-BE6F-9FB59ED64B11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0F6667-DFFF-45AB-99AD-50F252BAC3BE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73EC36CA-33FE-43C3-98AD-ACA97EE000F3}">
      <dgm:prSet phldrT="[Text]"/>
      <dgm:spPr/>
      <dgm:t>
        <a:bodyPr/>
        <a:lstStyle/>
        <a:p>
          <a:r>
            <a:rPr lang="es-AR" dirty="0"/>
            <a:t>Necesidad</a:t>
          </a:r>
          <a:endParaRPr lang="en-US" dirty="0"/>
        </a:p>
      </dgm:t>
    </dgm:pt>
    <dgm:pt modelId="{0097DF4D-0BEB-4164-98C9-922E2DCD3A8C}" type="parTrans" cxnId="{4ABF754A-B183-43F0-9851-6E712F483B59}">
      <dgm:prSet/>
      <dgm:spPr/>
      <dgm:t>
        <a:bodyPr/>
        <a:lstStyle/>
        <a:p>
          <a:endParaRPr lang="en-US"/>
        </a:p>
      </dgm:t>
    </dgm:pt>
    <dgm:pt modelId="{77242162-9503-4720-9BAA-A9CAE09BE159}" type="sibTrans" cxnId="{4ABF754A-B183-43F0-9851-6E712F483B59}">
      <dgm:prSet/>
      <dgm:spPr/>
      <dgm:t>
        <a:bodyPr/>
        <a:lstStyle/>
        <a:p>
          <a:endParaRPr lang="en-US"/>
        </a:p>
      </dgm:t>
    </dgm:pt>
    <dgm:pt modelId="{FDC974DC-6366-4CC6-9133-83C317F7EDCE}">
      <dgm:prSet phldrT="[Text]"/>
      <dgm:spPr/>
      <dgm:t>
        <a:bodyPr/>
        <a:lstStyle/>
        <a:p>
          <a:r>
            <a:rPr lang="es-AR" dirty="0"/>
            <a:t>Satisfactores</a:t>
          </a:r>
          <a:endParaRPr lang="en-US" dirty="0"/>
        </a:p>
      </dgm:t>
    </dgm:pt>
    <dgm:pt modelId="{E1933F2E-C542-4D89-9E16-11C2009D5E67}" type="parTrans" cxnId="{30DC3014-BB1F-4C0F-BFF0-5FC7EC3CE973}">
      <dgm:prSet/>
      <dgm:spPr/>
      <dgm:t>
        <a:bodyPr/>
        <a:lstStyle/>
        <a:p>
          <a:endParaRPr lang="en-US"/>
        </a:p>
      </dgm:t>
    </dgm:pt>
    <dgm:pt modelId="{2A66EB6D-2A1E-4314-B7B5-0B777EA03FBC}" type="sibTrans" cxnId="{30DC3014-BB1F-4C0F-BFF0-5FC7EC3CE973}">
      <dgm:prSet/>
      <dgm:spPr/>
      <dgm:t>
        <a:bodyPr/>
        <a:lstStyle/>
        <a:p>
          <a:endParaRPr lang="en-US"/>
        </a:p>
      </dgm:t>
    </dgm:pt>
    <dgm:pt modelId="{EF186988-F016-42B4-9E18-89A7F3B1E40B}" type="pres">
      <dgm:prSet presAssocID="{4A0F6667-DFFF-45AB-99AD-50F252BAC3BE}" presName="Name0" presStyleCnt="0">
        <dgm:presLayoutVars>
          <dgm:dir/>
          <dgm:resizeHandles val="exact"/>
        </dgm:presLayoutVars>
      </dgm:prSet>
      <dgm:spPr/>
    </dgm:pt>
    <dgm:pt modelId="{3B121C1A-D345-46EF-AB6B-CF3BD143566D}" type="pres">
      <dgm:prSet presAssocID="{73EC36CA-33FE-43C3-98AD-ACA97EE000F3}" presName="node" presStyleLbl="node1" presStyleIdx="0" presStyleCnt="2">
        <dgm:presLayoutVars>
          <dgm:bulletEnabled val="1"/>
        </dgm:presLayoutVars>
      </dgm:prSet>
      <dgm:spPr/>
    </dgm:pt>
    <dgm:pt modelId="{A7FD825B-3348-4F91-A26B-E5CA42144DCC}" type="pres">
      <dgm:prSet presAssocID="{77242162-9503-4720-9BAA-A9CAE09BE159}" presName="sibTrans" presStyleLbl="sibTrans2D1" presStyleIdx="0" presStyleCnt="1"/>
      <dgm:spPr/>
    </dgm:pt>
    <dgm:pt modelId="{1C73059A-397F-46E0-AF37-B444023E774A}" type="pres">
      <dgm:prSet presAssocID="{77242162-9503-4720-9BAA-A9CAE09BE159}" presName="connectorText" presStyleLbl="sibTrans2D1" presStyleIdx="0" presStyleCnt="1"/>
      <dgm:spPr/>
    </dgm:pt>
    <dgm:pt modelId="{84B2856F-91F3-405D-BC70-75649DEE64F1}" type="pres">
      <dgm:prSet presAssocID="{FDC974DC-6366-4CC6-9133-83C317F7EDCE}" presName="node" presStyleLbl="node1" presStyleIdx="1" presStyleCnt="2">
        <dgm:presLayoutVars>
          <dgm:bulletEnabled val="1"/>
        </dgm:presLayoutVars>
      </dgm:prSet>
      <dgm:spPr/>
    </dgm:pt>
  </dgm:ptLst>
  <dgm:cxnLst>
    <dgm:cxn modelId="{30DC3014-BB1F-4C0F-BFF0-5FC7EC3CE973}" srcId="{4A0F6667-DFFF-45AB-99AD-50F252BAC3BE}" destId="{FDC974DC-6366-4CC6-9133-83C317F7EDCE}" srcOrd="1" destOrd="0" parTransId="{E1933F2E-C542-4D89-9E16-11C2009D5E67}" sibTransId="{2A66EB6D-2A1E-4314-B7B5-0B777EA03FBC}"/>
    <dgm:cxn modelId="{4ABF754A-B183-43F0-9851-6E712F483B59}" srcId="{4A0F6667-DFFF-45AB-99AD-50F252BAC3BE}" destId="{73EC36CA-33FE-43C3-98AD-ACA97EE000F3}" srcOrd="0" destOrd="0" parTransId="{0097DF4D-0BEB-4164-98C9-922E2DCD3A8C}" sibTransId="{77242162-9503-4720-9BAA-A9CAE09BE159}"/>
    <dgm:cxn modelId="{D9BA8785-6BC0-4B95-B05B-8D6365AF3560}" type="presOf" srcId="{77242162-9503-4720-9BAA-A9CAE09BE159}" destId="{1C73059A-397F-46E0-AF37-B444023E774A}" srcOrd="1" destOrd="0" presId="urn:microsoft.com/office/officeart/2005/8/layout/process1"/>
    <dgm:cxn modelId="{08F35492-515A-4032-990E-9E9E8D4B2A1B}" type="presOf" srcId="{FDC974DC-6366-4CC6-9133-83C317F7EDCE}" destId="{84B2856F-91F3-405D-BC70-75649DEE64F1}" srcOrd="0" destOrd="0" presId="urn:microsoft.com/office/officeart/2005/8/layout/process1"/>
    <dgm:cxn modelId="{B6BA48B7-84BA-447B-A3E2-43DEFF4ED49D}" type="presOf" srcId="{4A0F6667-DFFF-45AB-99AD-50F252BAC3BE}" destId="{EF186988-F016-42B4-9E18-89A7F3B1E40B}" srcOrd="0" destOrd="0" presId="urn:microsoft.com/office/officeart/2005/8/layout/process1"/>
    <dgm:cxn modelId="{1E7B5AC3-DCF8-404D-B939-751B9911CB06}" type="presOf" srcId="{73EC36CA-33FE-43C3-98AD-ACA97EE000F3}" destId="{3B121C1A-D345-46EF-AB6B-CF3BD143566D}" srcOrd="0" destOrd="0" presId="urn:microsoft.com/office/officeart/2005/8/layout/process1"/>
    <dgm:cxn modelId="{93FAA8CD-38EF-40C3-A8AE-F6691677CC45}" type="presOf" srcId="{77242162-9503-4720-9BAA-A9CAE09BE159}" destId="{A7FD825B-3348-4F91-A26B-E5CA42144DCC}" srcOrd="0" destOrd="0" presId="urn:microsoft.com/office/officeart/2005/8/layout/process1"/>
    <dgm:cxn modelId="{5AC25C22-9852-4643-A4AA-E1C6373C0701}" type="presParOf" srcId="{EF186988-F016-42B4-9E18-89A7F3B1E40B}" destId="{3B121C1A-D345-46EF-AB6B-CF3BD143566D}" srcOrd="0" destOrd="0" presId="urn:microsoft.com/office/officeart/2005/8/layout/process1"/>
    <dgm:cxn modelId="{6CA8F750-EA41-4300-923E-7FF37BC8DB4D}" type="presParOf" srcId="{EF186988-F016-42B4-9E18-89A7F3B1E40B}" destId="{A7FD825B-3348-4F91-A26B-E5CA42144DCC}" srcOrd="1" destOrd="0" presId="urn:microsoft.com/office/officeart/2005/8/layout/process1"/>
    <dgm:cxn modelId="{C0C7C213-85CB-4816-A1DD-E4AAEE65E4C6}" type="presParOf" srcId="{A7FD825B-3348-4F91-A26B-E5CA42144DCC}" destId="{1C73059A-397F-46E0-AF37-B444023E774A}" srcOrd="0" destOrd="0" presId="urn:microsoft.com/office/officeart/2005/8/layout/process1"/>
    <dgm:cxn modelId="{09F43466-0F6B-4F9A-BB65-43486E5A0D97}" type="presParOf" srcId="{EF186988-F016-42B4-9E18-89A7F3B1E40B}" destId="{84B2856F-91F3-405D-BC70-75649DEE64F1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121C1A-D345-46EF-AB6B-CF3BD143566D}">
      <dsp:nvSpPr>
        <dsp:cNvPr id="0" name=""/>
        <dsp:cNvSpPr/>
      </dsp:nvSpPr>
      <dsp:spPr>
        <a:xfrm>
          <a:off x="1352" y="0"/>
          <a:ext cx="2883379" cy="159216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3800" kern="1200" dirty="0"/>
            <a:t>Necesidad</a:t>
          </a:r>
          <a:endParaRPr lang="en-US" sz="3800" kern="1200" dirty="0"/>
        </a:p>
      </dsp:txBody>
      <dsp:txXfrm>
        <a:off x="47985" y="46633"/>
        <a:ext cx="2790113" cy="1498903"/>
      </dsp:txXfrm>
    </dsp:sp>
    <dsp:sp modelId="{A7FD825B-3348-4F91-A26B-E5CA42144DCC}">
      <dsp:nvSpPr>
        <dsp:cNvPr id="0" name=""/>
        <dsp:cNvSpPr/>
      </dsp:nvSpPr>
      <dsp:spPr>
        <a:xfrm>
          <a:off x="3173069" y="438545"/>
          <a:ext cx="611276" cy="71507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3173069" y="581561"/>
        <a:ext cx="427893" cy="429046"/>
      </dsp:txXfrm>
    </dsp:sp>
    <dsp:sp modelId="{84B2856F-91F3-405D-BC70-75649DEE64F1}">
      <dsp:nvSpPr>
        <dsp:cNvPr id="0" name=""/>
        <dsp:cNvSpPr/>
      </dsp:nvSpPr>
      <dsp:spPr>
        <a:xfrm>
          <a:off x="4038082" y="0"/>
          <a:ext cx="2883379" cy="159216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3800" kern="1200" dirty="0"/>
            <a:t>Satisfactores</a:t>
          </a:r>
          <a:endParaRPr lang="en-US" sz="3800" kern="1200" dirty="0"/>
        </a:p>
      </dsp:txBody>
      <dsp:txXfrm>
        <a:off x="4084715" y="46633"/>
        <a:ext cx="2790113" cy="14989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4B505D-6DE0-481C-A7F0-B11A71E75418}" type="datetimeFigureOut">
              <a:rPr lang="en-US" smtClean="0"/>
              <a:t>4/25/2024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706ACE-15C9-4C9B-B7E5-1CB526657F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1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706ACE-15C9-4C9B-B7E5-1CB526657F8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8971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se refiere a una marca específica, sino a al ciclo de vida para una </a:t>
            </a:r>
            <a:r>
              <a:rPr lang="es-A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categoría de producto: </a:t>
            </a:r>
            <a:r>
              <a:rPr lang="es-A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todas las marcas que satisfacen un tipo particular de necesidad.  Los artículos novedosos pasan por todo el ciclo en semanas. Otros, como lavadoras y secadoras permanecen en la etapa de madurez por decenios.  El concepto de ciclo de vida no indica a los administradores la duración de un producto, o en una etapa.  Es una herramienta que ayuda a los </a:t>
            </a:r>
            <a:r>
              <a:rPr lang="es-A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mercadólogos</a:t>
            </a:r>
            <a:r>
              <a:rPr lang="es-A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predecir eventos futuros y sugerir </a:t>
            </a:r>
            <a:r>
              <a:rPr lang="es-A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estreategias</a:t>
            </a:r>
            <a:r>
              <a:rPr lang="es-A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apropiadas.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82B9-09F6-4549-89AF-ED0106021A5E}" type="slidenum">
              <a:rPr lang="es-AR" smtClean="0"/>
              <a:pPr/>
              <a:t>23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7432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D7F12-176D-4417-9AB8-A66609DB5CAB}" type="datetimeFigureOut">
              <a:rPr lang="es-AR" smtClean="0"/>
              <a:pPr/>
              <a:t>25/4/2024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93CC-C838-435F-B280-C6019B28A254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12802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D7F12-176D-4417-9AB8-A66609DB5CAB}" type="datetimeFigureOut">
              <a:rPr lang="es-AR" smtClean="0"/>
              <a:pPr/>
              <a:t>25/4/2024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93CC-C838-435F-B280-C6019B28A254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72241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D7F12-176D-4417-9AB8-A66609DB5CAB}" type="datetimeFigureOut">
              <a:rPr lang="es-AR" smtClean="0"/>
              <a:pPr/>
              <a:t>25/4/2024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93CC-C838-435F-B280-C6019B28A254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51051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D7F12-176D-4417-9AB8-A66609DB5CAB}" type="datetimeFigureOut">
              <a:rPr lang="es-AR" smtClean="0"/>
              <a:pPr/>
              <a:t>25/4/2024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93CC-C838-435F-B280-C6019B28A254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31851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D7F12-176D-4417-9AB8-A66609DB5CAB}" type="datetimeFigureOut">
              <a:rPr lang="es-AR" smtClean="0"/>
              <a:pPr/>
              <a:t>25/4/2024</a:t>
            </a:fld>
            <a:endParaRPr lang="es-AR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93CC-C838-435F-B280-C6019B28A254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11384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D7F12-176D-4417-9AB8-A66609DB5CAB}" type="datetimeFigureOut">
              <a:rPr lang="es-AR" smtClean="0"/>
              <a:pPr/>
              <a:t>25/4/2024</a:t>
            </a:fld>
            <a:endParaRPr lang="es-AR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93CC-C838-435F-B280-C6019B28A254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39865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D7F12-176D-4417-9AB8-A66609DB5CAB}" type="datetimeFigureOut">
              <a:rPr lang="es-AR" smtClean="0"/>
              <a:pPr/>
              <a:t>25/4/2024</a:t>
            </a:fld>
            <a:endParaRPr lang="es-AR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93CC-C838-435F-B280-C6019B28A254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35087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D7F12-176D-4417-9AB8-A66609DB5CAB}" type="datetimeFigureOut">
              <a:rPr lang="es-AR" smtClean="0"/>
              <a:pPr/>
              <a:t>25/4/2024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93CC-C838-435F-B280-C6019B28A254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48170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D7F12-176D-4417-9AB8-A66609DB5CAB}" type="datetimeFigureOut">
              <a:rPr lang="es-AR" smtClean="0"/>
              <a:pPr/>
              <a:t>25/4/2024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93CC-C838-435F-B280-C6019B28A254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32369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D7F12-176D-4417-9AB8-A66609DB5CAB}" type="datetimeFigureOut">
              <a:rPr lang="es-AR" smtClean="0"/>
              <a:pPr/>
              <a:t>25/4/2024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93CC-C838-435F-B280-C6019B28A254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33432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D7F12-176D-4417-9AB8-A66609DB5CAB}" type="datetimeFigureOut">
              <a:rPr lang="es-AR" smtClean="0"/>
              <a:pPr/>
              <a:t>25/4/2024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93CC-C838-435F-B280-C6019B28A254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19428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8D7F12-176D-4417-9AB8-A66609DB5CAB}" type="datetimeFigureOut">
              <a:rPr lang="es-AR" smtClean="0"/>
              <a:pPr/>
              <a:t>25/4/2024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CD93CC-C838-435F-B280-C6019B28A254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65953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zpzZumZCdWA?feature=oembed" TargetMode="External"/><Relationship Id="rId4" Type="http://schemas.openxmlformats.org/officeDocument/2006/relationships/image" Target="../media/image10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AR" sz="8800" dirty="0"/>
              <a:t>Organización y gestión empresaria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AR" dirty="0"/>
              <a:t>Ing. Martín Romero</a:t>
            </a:r>
          </a:p>
        </p:txBody>
      </p:sp>
    </p:spTree>
    <p:extLst>
      <p:ext uri="{BB962C8B-B14F-4D97-AF65-F5344CB8AC3E}">
        <p14:creationId xmlns:p14="http://schemas.microsoft.com/office/powerpoint/2010/main" val="433112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CA711-32AE-4388-A1C5-1E67819BD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Parroquiales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AE408-3D52-4173-87FC-B9F924A69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Revisión de autoevaluación clase 2</a:t>
            </a:r>
          </a:p>
          <a:p>
            <a:r>
              <a:rPr lang="es-AR" dirty="0"/>
              <a:t>Esta semana se libera 1er TP grupal.  Faltan definir grupos.</a:t>
            </a:r>
          </a:p>
          <a:p>
            <a:r>
              <a:rPr lang="es-AR" dirty="0"/>
              <a:t>Fechas.</a:t>
            </a:r>
          </a:p>
        </p:txBody>
      </p:sp>
    </p:spTree>
    <p:extLst>
      <p:ext uri="{BB962C8B-B14F-4D97-AF65-F5344CB8AC3E}">
        <p14:creationId xmlns:p14="http://schemas.microsoft.com/office/powerpoint/2010/main" val="961600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104D7-C8BE-DBEC-D86F-1D3AD83A9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Fechas importantes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6B58681-2C29-3EFB-5114-052C655C11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4605686"/>
              </p:ext>
            </p:extLst>
          </p:nvPr>
        </p:nvGraphicFramePr>
        <p:xfrm>
          <a:off x="1226119" y="1405964"/>
          <a:ext cx="9739762" cy="49565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27988">
                  <a:extLst>
                    <a:ext uri="{9D8B030D-6E8A-4147-A177-3AD203B41FA5}">
                      <a16:colId xmlns:a16="http://schemas.microsoft.com/office/drawing/2014/main" val="2548542743"/>
                    </a:ext>
                  </a:extLst>
                </a:gridCol>
                <a:gridCol w="3617003">
                  <a:extLst>
                    <a:ext uri="{9D8B030D-6E8A-4147-A177-3AD203B41FA5}">
                      <a16:colId xmlns:a16="http://schemas.microsoft.com/office/drawing/2014/main" val="4003963905"/>
                    </a:ext>
                  </a:extLst>
                </a:gridCol>
                <a:gridCol w="5294771">
                  <a:extLst>
                    <a:ext uri="{9D8B030D-6E8A-4147-A177-3AD203B41FA5}">
                      <a16:colId xmlns:a16="http://schemas.microsoft.com/office/drawing/2014/main" val="2126169632"/>
                    </a:ext>
                  </a:extLst>
                </a:gridCol>
              </a:tblGrid>
              <a:tr h="4505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 err="1">
                          <a:effectLst/>
                        </a:rPr>
                        <a:t>Clase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 err="1">
                          <a:effectLst/>
                        </a:rPr>
                        <a:t>Semana</a:t>
                      </a:r>
                      <a:r>
                        <a:rPr lang="en-US" sz="2400" u="none" strike="noStrike" dirty="0">
                          <a:effectLst/>
                        </a:rPr>
                        <a:t> </a:t>
                      </a:r>
                      <a:r>
                        <a:rPr lang="en-US" sz="2400" u="none" strike="noStrike" dirty="0" err="1">
                          <a:effectLst/>
                        </a:rPr>
                        <a:t>lectiva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>
                          <a:effectLst/>
                        </a:rPr>
                        <a:t>Tema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18810567"/>
                  </a:ext>
                </a:extLst>
              </a:tr>
              <a:tr h="4505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April 18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u="none" strike="noStrike" dirty="0">
                          <a:effectLst/>
                        </a:rPr>
                        <a:t>libera TP </a:t>
                      </a:r>
                      <a:r>
                        <a:rPr lang="en-US" sz="2400" u="none" strike="noStrike" dirty="0" err="1">
                          <a:effectLst/>
                        </a:rPr>
                        <a:t>parte</a:t>
                      </a:r>
                      <a:r>
                        <a:rPr lang="en-US" sz="2400" u="none" strike="noStrike" dirty="0">
                          <a:effectLst/>
                        </a:rPr>
                        <a:t> 1</a:t>
                      </a:r>
                      <a:endParaRPr lang="pt-BR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575271643"/>
                  </a:ext>
                </a:extLst>
              </a:tr>
              <a:tr h="4505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>
                          <a:effectLst/>
                        </a:rPr>
                        <a:t>5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May 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 err="1">
                          <a:effectLst/>
                        </a:rPr>
                        <a:t>entrega</a:t>
                      </a:r>
                      <a:r>
                        <a:rPr lang="en-US" sz="2400" u="none" strike="noStrike" dirty="0">
                          <a:effectLst/>
                        </a:rPr>
                        <a:t> </a:t>
                      </a:r>
                      <a:r>
                        <a:rPr lang="en-US" sz="2400" u="none" strike="noStrike" dirty="0" err="1">
                          <a:effectLst/>
                        </a:rPr>
                        <a:t>parte</a:t>
                      </a:r>
                      <a:r>
                        <a:rPr lang="en-US" sz="2400" u="none" strike="noStrike" dirty="0">
                          <a:effectLst/>
                        </a:rPr>
                        <a:t> 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27696842"/>
                  </a:ext>
                </a:extLst>
              </a:tr>
              <a:tr h="4505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>
                          <a:effectLst/>
                        </a:rPr>
                        <a:t>6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May 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libera </a:t>
                      </a:r>
                      <a:r>
                        <a:rPr lang="en-US" sz="2400" u="none" strike="noStrike" dirty="0" err="1">
                          <a:effectLst/>
                        </a:rPr>
                        <a:t>parte</a:t>
                      </a:r>
                      <a:r>
                        <a:rPr lang="en-US" sz="2400" u="none" strike="noStrike" dirty="0">
                          <a:effectLst/>
                        </a:rPr>
                        <a:t> 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93104974"/>
                  </a:ext>
                </a:extLst>
              </a:tr>
              <a:tr h="4505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>
                          <a:effectLst/>
                        </a:rPr>
                        <a:t>7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May 16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1er </a:t>
                      </a:r>
                      <a:r>
                        <a:rPr lang="en-US" sz="2400" u="none" strike="noStrike" dirty="0" err="1">
                          <a:effectLst/>
                        </a:rPr>
                        <a:t>parcial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26093745"/>
                  </a:ext>
                </a:extLst>
              </a:tr>
              <a:tr h="4505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>
                          <a:effectLst/>
                        </a:rPr>
                        <a:t>8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May 23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u="none" strike="noStrike" dirty="0" err="1">
                          <a:effectLst/>
                        </a:rPr>
                        <a:t>entrega</a:t>
                      </a:r>
                      <a:r>
                        <a:rPr lang="en-US" sz="2400" u="none" strike="noStrike" dirty="0">
                          <a:effectLst/>
                        </a:rPr>
                        <a:t> </a:t>
                      </a:r>
                      <a:r>
                        <a:rPr lang="en-US" sz="2400" u="none" strike="noStrike" dirty="0" err="1">
                          <a:effectLst/>
                        </a:rPr>
                        <a:t>parte</a:t>
                      </a:r>
                      <a:r>
                        <a:rPr lang="en-US" sz="2400" u="none" strike="noStrike" dirty="0">
                          <a:effectLst/>
                        </a:rPr>
                        <a:t> 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65969665"/>
                  </a:ext>
                </a:extLst>
              </a:tr>
              <a:tr h="4505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>
                          <a:effectLst/>
                        </a:rPr>
                        <a:t>10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June 6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u="none" strike="noStrike" dirty="0">
                          <a:effectLst/>
                        </a:rPr>
                        <a:t>libera </a:t>
                      </a:r>
                      <a:r>
                        <a:rPr lang="en-US" sz="2400" u="none" strike="noStrike" dirty="0" err="1">
                          <a:effectLst/>
                        </a:rPr>
                        <a:t>parte</a:t>
                      </a:r>
                      <a:r>
                        <a:rPr lang="en-US" sz="2400" u="none" strike="noStrike" dirty="0">
                          <a:effectLst/>
                        </a:rPr>
                        <a:t> 3</a:t>
                      </a:r>
                      <a:endParaRPr lang="es-E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35238770"/>
                  </a:ext>
                </a:extLst>
              </a:tr>
              <a:tr h="4505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>
                          <a:effectLst/>
                        </a:rPr>
                        <a:t>12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June 20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u="none" strike="noStrike" dirty="0">
                          <a:effectLst/>
                        </a:rPr>
                        <a:t>FERIADO.  </a:t>
                      </a:r>
                      <a:r>
                        <a:rPr lang="en-US" sz="2400" u="none" strike="noStrike" dirty="0" err="1">
                          <a:effectLst/>
                        </a:rPr>
                        <a:t>entrega</a:t>
                      </a:r>
                      <a:r>
                        <a:rPr lang="en-US" sz="2400" u="none" strike="noStrike" dirty="0">
                          <a:effectLst/>
                        </a:rPr>
                        <a:t> </a:t>
                      </a:r>
                      <a:r>
                        <a:rPr lang="en-US" sz="2400" u="none" strike="noStrike" dirty="0" err="1">
                          <a:effectLst/>
                        </a:rPr>
                        <a:t>parte</a:t>
                      </a:r>
                      <a:r>
                        <a:rPr lang="en-US" sz="2400" u="none" strike="noStrike" dirty="0">
                          <a:effectLst/>
                        </a:rPr>
                        <a:t> 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177211"/>
                  </a:ext>
                </a:extLst>
              </a:tr>
              <a:tr h="4505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>
                          <a:effectLst/>
                        </a:rPr>
                        <a:t>13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June 27 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2do </a:t>
                      </a:r>
                      <a:r>
                        <a:rPr lang="en-US" sz="2400" u="none" strike="noStrike" dirty="0" err="1">
                          <a:effectLst/>
                        </a:rPr>
                        <a:t>parcial</a:t>
                      </a:r>
                      <a:r>
                        <a:rPr lang="en-US" sz="2400" u="none" strike="noStrike" dirty="0">
                          <a:effectLst/>
                        </a:rPr>
                        <a:t> 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66369797"/>
                  </a:ext>
                </a:extLst>
              </a:tr>
              <a:tr h="4505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>
                          <a:effectLst/>
                        </a:rPr>
                        <a:t>15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July 11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2400" u="none" strike="noStrike" dirty="0">
                          <a:effectLst/>
                        </a:rPr>
                        <a:t>presentaciones TED</a:t>
                      </a:r>
                      <a:endParaRPr lang="es-E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64138457"/>
                  </a:ext>
                </a:extLst>
              </a:tr>
              <a:tr h="4505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>
                          <a:effectLst/>
                        </a:rPr>
                        <a:t>16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July 18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2400" u="none" strike="noStrike" dirty="0">
                          <a:effectLst/>
                        </a:rPr>
                        <a:t>recuperatorio y cierre de notas</a:t>
                      </a:r>
                      <a:endParaRPr lang="es-E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435768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9756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EA4F00-C9DF-4C3C-945B-AAD4C93C8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err="1"/>
              <a:t>Autoeval</a:t>
            </a:r>
            <a:r>
              <a:rPr lang="es-AR" dirty="0"/>
              <a:t> clase 2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CE6AE3-7A41-4DEC-88F6-81C6865457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477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1F8AD-C521-43A1-B6B0-0251BE796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err="1"/>
              <a:t>Autoeval</a:t>
            </a:r>
            <a:r>
              <a:rPr lang="es-AR" dirty="0"/>
              <a:t> clase 2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6A788F-5AC3-4FB1-871D-1A778C61D8CB}"/>
              </a:ext>
            </a:extLst>
          </p:cNvPr>
          <p:cNvSpPr/>
          <p:nvPr/>
        </p:nvSpPr>
        <p:spPr>
          <a:xfrm>
            <a:off x="0" y="1690688"/>
            <a:ext cx="1219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3200" i="1" dirty="0"/>
              <a:t>Cuáles son las variables al estudiar el contexto? Unir sector con variable</a:t>
            </a:r>
            <a:endParaRPr lang="es-ES" sz="5400" i="1" dirty="0">
              <a:solidFill>
                <a:srgbClr val="262626"/>
              </a:solidFill>
              <a:latin typeface="inheri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C54078-2D62-4749-8A61-A2BC846471C2}"/>
              </a:ext>
            </a:extLst>
          </p:cNvPr>
          <p:cNvSpPr/>
          <p:nvPr/>
        </p:nvSpPr>
        <p:spPr>
          <a:xfrm>
            <a:off x="207981" y="2767906"/>
            <a:ext cx="588802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" sz="2800" dirty="0"/>
              <a:t>Competidores </a:t>
            </a:r>
            <a:r>
              <a:rPr lang="es-ES" sz="2800" i="1" dirty="0"/>
              <a:t>directos y potenciales</a:t>
            </a:r>
          </a:p>
          <a:p>
            <a:pPr algn="r"/>
            <a:endParaRPr lang="es-ES" sz="2800" i="1" dirty="0"/>
          </a:p>
          <a:p>
            <a:pPr algn="r"/>
            <a:r>
              <a:rPr lang="es-ES" sz="2800" i="1" dirty="0"/>
              <a:t>Situación económica y social</a:t>
            </a:r>
          </a:p>
          <a:p>
            <a:pPr algn="r"/>
            <a:endParaRPr lang="es-ES" sz="2800" i="1" dirty="0"/>
          </a:p>
          <a:p>
            <a:pPr algn="r"/>
            <a:r>
              <a:rPr lang="es-ES" sz="2800" i="1" dirty="0"/>
              <a:t>Internacionalización de empresas</a:t>
            </a:r>
          </a:p>
          <a:p>
            <a:pPr algn="r"/>
            <a:endParaRPr lang="es-ES" sz="2800" i="1" dirty="0"/>
          </a:p>
          <a:p>
            <a:pPr algn="r"/>
            <a:r>
              <a:rPr lang="es-ES" sz="2800" i="1" dirty="0"/>
              <a:t>Ámbito cultural</a:t>
            </a:r>
          </a:p>
          <a:p>
            <a:pPr algn="r"/>
            <a:endParaRPr lang="es-ES" sz="2800" i="1" dirty="0"/>
          </a:p>
          <a:p>
            <a:pPr algn="r"/>
            <a:r>
              <a:rPr lang="es-ES" sz="2800" i="1" dirty="0"/>
              <a:t>Presión de proveedores y distribuidores</a:t>
            </a:r>
            <a:endParaRPr lang="en-US" sz="2800" i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3129A3-481E-4632-9C78-9E14FF4CA73C}"/>
              </a:ext>
            </a:extLst>
          </p:cNvPr>
          <p:cNvSpPr/>
          <p:nvPr/>
        </p:nvSpPr>
        <p:spPr>
          <a:xfrm>
            <a:off x="7295446" y="3016251"/>
            <a:ext cx="4778488" cy="35394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dirty="0"/>
              <a:t>Entorno inmediato</a:t>
            </a:r>
          </a:p>
          <a:p>
            <a:endParaRPr lang="es-ES" sz="3200" dirty="0"/>
          </a:p>
          <a:p>
            <a:endParaRPr lang="es-ES" sz="3200" dirty="0"/>
          </a:p>
          <a:p>
            <a:r>
              <a:rPr lang="es-ES" sz="3200" dirty="0"/>
              <a:t>Entorno nacional o regional</a:t>
            </a:r>
          </a:p>
          <a:p>
            <a:endParaRPr lang="es-ES" sz="3200" dirty="0"/>
          </a:p>
          <a:p>
            <a:endParaRPr lang="es-ES" sz="3200" dirty="0"/>
          </a:p>
          <a:p>
            <a:r>
              <a:rPr lang="es-ES" sz="3200" dirty="0"/>
              <a:t>Cambio estructural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BA8DC1C-9FCB-45D5-B334-1C9B16CB2803}"/>
              </a:ext>
            </a:extLst>
          </p:cNvPr>
          <p:cNvCxnSpPr>
            <a:cxnSpLocks/>
          </p:cNvCxnSpPr>
          <p:nvPr/>
        </p:nvCxnSpPr>
        <p:spPr>
          <a:xfrm>
            <a:off x="6096000" y="3149600"/>
            <a:ext cx="1097280" cy="15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79EA2FC-400B-4A1D-B963-BAB98F97BCBC}"/>
              </a:ext>
            </a:extLst>
          </p:cNvPr>
          <p:cNvCxnSpPr>
            <a:cxnSpLocks/>
          </p:cNvCxnSpPr>
          <p:nvPr/>
        </p:nvCxnSpPr>
        <p:spPr>
          <a:xfrm>
            <a:off x="6096000" y="3969522"/>
            <a:ext cx="1097280" cy="6532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2415CB1-067E-45BA-919D-FF84D81230C6}"/>
              </a:ext>
            </a:extLst>
          </p:cNvPr>
          <p:cNvCxnSpPr>
            <a:cxnSpLocks/>
          </p:cNvCxnSpPr>
          <p:nvPr/>
        </p:nvCxnSpPr>
        <p:spPr>
          <a:xfrm flipV="1">
            <a:off x="6096000" y="4785966"/>
            <a:ext cx="1097280" cy="7483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FDFE722-FE9F-42A2-920D-1D5B86518A6F}"/>
              </a:ext>
            </a:extLst>
          </p:cNvPr>
          <p:cNvCxnSpPr>
            <a:cxnSpLocks/>
          </p:cNvCxnSpPr>
          <p:nvPr/>
        </p:nvCxnSpPr>
        <p:spPr>
          <a:xfrm>
            <a:off x="6096000" y="4745326"/>
            <a:ext cx="1199446" cy="12814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F205D8A-3817-4DB3-8C32-AAEC11BF8D01}"/>
              </a:ext>
            </a:extLst>
          </p:cNvPr>
          <p:cNvCxnSpPr>
            <a:cxnSpLocks/>
          </p:cNvCxnSpPr>
          <p:nvPr/>
        </p:nvCxnSpPr>
        <p:spPr>
          <a:xfrm flipV="1">
            <a:off x="6096000" y="3477079"/>
            <a:ext cx="1097280" cy="3043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9221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1F8AD-C521-43A1-B6B0-0251BE796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err="1"/>
              <a:t>Autoeval</a:t>
            </a:r>
            <a:r>
              <a:rPr lang="es-AR" dirty="0"/>
              <a:t> clase 2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6A788F-5AC3-4FB1-871D-1A778C61D8CB}"/>
              </a:ext>
            </a:extLst>
          </p:cNvPr>
          <p:cNvSpPr/>
          <p:nvPr/>
        </p:nvSpPr>
        <p:spPr>
          <a:xfrm>
            <a:off x="0" y="1690688"/>
            <a:ext cx="1219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3200" i="1" dirty="0"/>
              <a:t>Generadores vs. receptores de tendencias. Unir </a:t>
            </a:r>
            <a:r>
              <a:rPr lang="es-ES" sz="3200" i="1" dirty="0" err="1"/>
              <a:t>segun</a:t>
            </a:r>
            <a:r>
              <a:rPr lang="es-ES" sz="3200" i="1" dirty="0"/>
              <a:t> corresponda</a:t>
            </a:r>
            <a:endParaRPr lang="es-ES" sz="5400" i="1" dirty="0">
              <a:solidFill>
                <a:srgbClr val="262626"/>
              </a:solidFill>
              <a:latin typeface="inheri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C54078-2D62-4749-8A61-A2BC846471C2}"/>
              </a:ext>
            </a:extLst>
          </p:cNvPr>
          <p:cNvSpPr/>
          <p:nvPr/>
        </p:nvSpPr>
        <p:spPr>
          <a:xfrm>
            <a:off x="227734" y="2936544"/>
            <a:ext cx="734146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800" dirty="0"/>
              <a:t>Se </a:t>
            </a:r>
            <a:r>
              <a:rPr lang="en-US" sz="2800" dirty="0" err="1"/>
              <a:t>inicia</a:t>
            </a:r>
            <a:r>
              <a:rPr lang="en-US" sz="2800" dirty="0"/>
              <a:t> </a:t>
            </a:r>
            <a:r>
              <a:rPr lang="en-US" sz="2800" dirty="0" err="1"/>
              <a:t>desde</a:t>
            </a:r>
            <a:r>
              <a:rPr lang="en-US" sz="2800" dirty="0"/>
              <a:t> </a:t>
            </a:r>
            <a:r>
              <a:rPr lang="en-US" sz="2800" dirty="0" err="1"/>
              <a:t>cada</a:t>
            </a:r>
            <a:r>
              <a:rPr lang="en-US" sz="2800" dirty="0"/>
              <a:t> sector industrial</a:t>
            </a:r>
            <a:endParaRPr lang="es-ES" sz="4000" i="1" dirty="0"/>
          </a:p>
          <a:p>
            <a:pPr algn="r"/>
            <a:endParaRPr lang="es-ES" sz="2800" dirty="0"/>
          </a:p>
          <a:p>
            <a:pPr algn="r"/>
            <a:r>
              <a:rPr lang="es-ES" sz="2800" dirty="0"/>
              <a:t>Sus variables serán prevalentes sobre las globales</a:t>
            </a:r>
          </a:p>
          <a:p>
            <a:pPr algn="r"/>
            <a:endParaRPr lang="es-ES" sz="2800" dirty="0"/>
          </a:p>
          <a:p>
            <a:pPr algn="r"/>
            <a:r>
              <a:rPr lang="es-ES" sz="2800" dirty="0"/>
              <a:t>Se lee desde el marco global</a:t>
            </a:r>
            <a:endParaRPr lang="es-ES" sz="4000" i="1" dirty="0"/>
          </a:p>
          <a:p>
            <a:pPr algn="r"/>
            <a:endParaRPr lang="es-ES" sz="2800" dirty="0"/>
          </a:p>
          <a:p>
            <a:pPr algn="r"/>
            <a:r>
              <a:rPr lang="es-ES" sz="2800" dirty="0"/>
              <a:t>Las variables condicionarán al resto</a:t>
            </a:r>
          </a:p>
          <a:p>
            <a:br>
              <a:rPr lang="es-ES" sz="2800" dirty="0"/>
            </a:br>
            <a:endParaRPr lang="es-ES" sz="2800" i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3129A3-481E-4632-9C78-9E14FF4CA73C}"/>
              </a:ext>
            </a:extLst>
          </p:cNvPr>
          <p:cNvSpPr/>
          <p:nvPr/>
        </p:nvSpPr>
        <p:spPr>
          <a:xfrm>
            <a:off x="9241952" y="2865802"/>
            <a:ext cx="247252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3200" dirty="0"/>
              <a:t>Generadores</a:t>
            </a:r>
          </a:p>
          <a:p>
            <a:endParaRPr lang="es-ES" sz="3200" dirty="0"/>
          </a:p>
          <a:p>
            <a:endParaRPr lang="es-ES" sz="3200" dirty="0"/>
          </a:p>
          <a:p>
            <a:endParaRPr lang="es-ES" sz="3200" dirty="0"/>
          </a:p>
          <a:p>
            <a:endParaRPr lang="es-ES" sz="3200" dirty="0"/>
          </a:p>
          <a:p>
            <a:r>
              <a:rPr lang="es-ES" sz="3200" dirty="0"/>
              <a:t>Receptores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BA8DC1C-9FCB-45D5-B334-1C9B16CB2803}"/>
              </a:ext>
            </a:extLst>
          </p:cNvPr>
          <p:cNvCxnSpPr>
            <a:cxnSpLocks/>
          </p:cNvCxnSpPr>
          <p:nvPr/>
        </p:nvCxnSpPr>
        <p:spPr>
          <a:xfrm>
            <a:off x="7569200" y="3185160"/>
            <a:ext cx="1574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716E680-3420-44B0-BADE-48F7998E382F}"/>
              </a:ext>
            </a:extLst>
          </p:cNvPr>
          <p:cNvCxnSpPr>
            <a:cxnSpLocks/>
          </p:cNvCxnSpPr>
          <p:nvPr/>
        </p:nvCxnSpPr>
        <p:spPr>
          <a:xfrm flipV="1">
            <a:off x="7625080" y="3429000"/>
            <a:ext cx="1518920" cy="6299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406654D-E003-4806-960A-3F722C6F63AB}"/>
              </a:ext>
            </a:extLst>
          </p:cNvPr>
          <p:cNvCxnSpPr>
            <a:cxnSpLocks/>
          </p:cNvCxnSpPr>
          <p:nvPr/>
        </p:nvCxnSpPr>
        <p:spPr>
          <a:xfrm>
            <a:off x="7667152" y="4906463"/>
            <a:ext cx="1574800" cy="6307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2E27BBF-A4B5-4D06-BDEA-D05AC94CF4AC}"/>
              </a:ext>
            </a:extLst>
          </p:cNvPr>
          <p:cNvCxnSpPr>
            <a:cxnSpLocks/>
          </p:cNvCxnSpPr>
          <p:nvPr/>
        </p:nvCxnSpPr>
        <p:spPr>
          <a:xfrm>
            <a:off x="7625080" y="5780222"/>
            <a:ext cx="16168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2912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sz="8800" dirty="0"/>
              <a:t>Política de negocios</a:t>
            </a:r>
            <a:endParaRPr lang="es-A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AR" sz="2800" dirty="0"/>
              <a:t>Organización y gestión empresaria</a:t>
            </a:r>
          </a:p>
          <a:p>
            <a:r>
              <a:rPr lang="es-AR" dirty="0"/>
              <a:t>Ing. Martín Romero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11851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Planteo</a:t>
            </a:r>
            <a:r>
              <a:rPr lang="en-US" dirty="0"/>
              <a:t> de la </a:t>
            </a:r>
            <a:r>
              <a:rPr lang="en-US" dirty="0" err="1"/>
              <a:t>política</a:t>
            </a:r>
            <a:r>
              <a:rPr lang="en-US" dirty="0"/>
              <a:t> de </a:t>
            </a:r>
            <a:r>
              <a:rPr lang="en-US" dirty="0" err="1"/>
              <a:t>negocios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AR" dirty="0"/>
              <a:t>Debe contener:</a:t>
            </a:r>
          </a:p>
          <a:p>
            <a:r>
              <a:rPr lang="es-AR" dirty="0"/>
              <a:t>Modelo de valor</a:t>
            </a:r>
          </a:p>
          <a:p>
            <a:r>
              <a:rPr lang="es-AR" dirty="0"/>
              <a:t>Valores nucleares</a:t>
            </a:r>
          </a:p>
          <a:p>
            <a:r>
              <a:rPr lang="es-AR" dirty="0"/>
              <a:t>Concepto estratégico</a:t>
            </a:r>
          </a:p>
          <a:p>
            <a:r>
              <a:rPr lang="es-AR" dirty="0"/>
              <a:t>Iniciativas estratégicas</a:t>
            </a:r>
          </a:p>
          <a:p>
            <a:r>
              <a:rPr lang="es-AR" dirty="0"/>
              <a:t>Visión</a:t>
            </a:r>
          </a:p>
          <a:p>
            <a:r>
              <a:rPr lang="es-AR" dirty="0"/>
              <a:t>Misión</a:t>
            </a:r>
          </a:p>
          <a:p>
            <a:endParaRPr lang="es-AR" dirty="0"/>
          </a:p>
          <a:p>
            <a:pPr lvl="1"/>
            <a:endParaRPr lang="es-AR" dirty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867266"/>
            <a:ext cx="10515600" cy="53096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sz="3600" b="1" dirty="0"/>
              <a:t>Modelo de valor</a:t>
            </a:r>
          </a:p>
          <a:p>
            <a:r>
              <a:rPr lang="es-AR" sz="3600" dirty="0"/>
              <a:t>Por qué el cliente elegiría nuestros productos</a:t>
            </a:r>
          </a:p>
          <a:p>
            <a:r>
              <a:rPr lang="es-AR" sz="3600" dirty="0"/>
              <a:t>Elementos que forman nuestra propuesta competitiva</a:t>
            </a:r>
          </a:p>
          <a:p>
            <a:pPr lvl="1"/>
            <a:r>
              <a:rPr lang="es-AR" sz="3200" dirty="0"/>
              <a:t>Propuesta comercial</a:t>
            </a:r>
          </a:p>
          <a:p>
            <a:pPr lvl="1"/>
            <a:r>
              <a:rPr lang="es-AR" sz="3200" dirty="0"/>
              <a:t>Propuesta simbólica</a:t>
            </a:r>
          </a:p>
          <a:p>
            <a:pPr marL="0" indent="0">
              <a:buNone/>
            </a:pPr>
            <a:r>
              <a:rPr lang="es-AR" sz="3600" b="1" dirty="0"/>
              <a:t>Valores nucleares</a:t>
            </a:r>
          </a:p>
          <a:p>
            <a:r>
              <a:rPr lang="es-AR" sz="3600" dirty="0"/>
              <a:t>Principios esenciales de la filosofía de negocios</a:t>
            </a:r>
          </a:p>
          <a:p>
            <a:r>
              <a:rPr lang="es-AR" sz="3600" dirty="0"/>
              <a:t>Valores culturales</a:t>
            </a:r>
          </a:p>
          <a:p>
            <a:pPr lvl="1"/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463008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876693"/>
            <a:ext cx="10515600" cy="530027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AR" sz="3600" b="1" dirty="0"/>
              <a:t>Concepto estratégico</a:t>
            </a:r>
          </a:p>
          <a:p>
            <a:r>
              <a:rPr lang="es-AR" sz="3600" dirty="0"/>
              <a:t>Principales elementos críticos del ambiente de negocios</a:t>
            </a:r>
          </a:p>
          <a:p>
            <a:r>
              <a:rPr lang="es-AR" sz="3600" dirty="0"/>
              <a:t>Lógica competitiva del sector</a:t>
            </a:r>
          </a:p>
          <a:p>
            <a:pPr marL="0" indent="0">
              <a:buNone/>
            </a:pPr>
            <a:r>
              <a:rPr lang="es-AR" sz="3600" b="1" dirty="0"/>
              <a:t>Iniciativas estratégicas</a:t>
            </a:r>
          </a:p>
          <a:p>
            <a:r>
              <a:rPr lang="es-AR" sz="3600" dirty="0"/>
              <a:t>Objetivos específicos</a:t>
            </a:r>
          </a:p>
          <a:p>
            <a:r>
              <a:rPr lang="es-AR" sz="3600" dirty="0"/>
              <a:t>Tácticas a utilizar</a:t>
            </a:r>
          </a:p>
          <a:p>
            <a:r>
              <a:rPr lang="es-AR" sz="3600" dirty="0"/>
              <a:t>Identificación de áreas clave </a:t>
            </a:r>
          </a:p>
          <a:p>
            <a:r>
              <a:rPr lang="es-AR" sz="3600" dirty="0"/>
              <a:t>Establecimiento de metas específicas</a:t>
            </a:r>
          </a:p>
          <a:p>
            <a:endParaRPr lang="es-AR" sz="3600" dirty="0"/>
          </a:p>
        </p:txBody>
      </p:sp>
    </p:spTree>
    <p:extLst>
      <p:ext uri="{BB962C8B-B14F-4D97-AF65-F5344CB8AC3E}">
        <p14:creationId xmlns:p14="http://schemas.microsoft.com/office/powerpoint/2010/main" val="109893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b="1" dirty="0"/>
              <a:t>Visión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Define el propósito de la empresa. </a:t>
            </a:r>
          </a:p>
          <a:p>
            <a:r>
              <a:rPr lang="es-AR" dirty="0"/>
              <a:t>En qué quiere convertirse.</a:t>
            </a:r>
          </a:p>
          <a:p>
            <a:r>
              <a:rPr lang="es-AR" dirty="0"/>
              <a:t>Cómo quiere ser percibida por sus clientes.</a:t>
            </a:r>
          </a:p>
          <a:p>
            <a:r>
              <a:rPr lang="es-AR" dirty="0"/>
              <a:t>Elementos diferenciales.</a:t>
            </a:r>
          </a:p>
          <a:p>
            <a:r>
              <a:rPr lang="es-AR" dirty="0"/>
              <a:t>Nos permite sentar bases para construir la política de negocios.</a:t>
            </a:r>
          </a:p>
          <a:p>
            <a:r>
              <a:rPr lang="es-AR" dirty="0"/>
              <a:t>Refleja el contexto, las oportunidades percibidas y </a:t>
            </a:r>
            <a:r>
              <a:rPr lang="es-AR" dirty="0" err="1"/>
              <a:t>y</a:t>
            </a:r>
            <a:r>
              <a:rPr lang="es-AR" dirty="0"/>
              <a:t> la mejora de habilidades distintivas.</a:t>
            </a:r>
          </a:p>
        </p:txBody>
      </p:sp>
    </p:spTree>
    <p:extLst>
      <p:ext uri="{BB962C8B-B14F-4D97-AF65-F5344CB8AC3E}">
        <p14:creationId xmlns:p14="http://schemas.microsoft.com/office/powerpoint/2010/main" val="918415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b="1" dirty="0"/>
              <a:t>Misión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Enfoque y direccionamiento del negocio</a:t>
            </a:r>
          </a:p>
          <a:p>
            <a:r>
              <a:rPr lang="es-AR" dirty="0"/>
              <a:t>“Cómo hacemos negocios”</a:t>
            </a:r>
          </a:p>
          <a:p>
            <a:r>
              <a:rPr lang="es-AR" dirty="0"/>
              <a:t>Orientación a las unidades de negocios de la empresa</a:t>
            </a:r>
          </a:p>
        </p:txBody>
      </p:sp>
    </p:spTree>
    <p:extLst>
      <p:ext uri="{BB962C8B-B14F-4D97-AF65-F5344CB8AC3E}">
        <p14:creationId xmlns:p14="http://schemas.microsoft.com/office/powerpoint/2010/main" val="22328976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52400" y="1659194"/>
            <a:ext cx="10547556" cy="4822722"/>
          </a:xfrm>
        </p:spPr>
        <p:txBody>
          <a:bodyPr/>
          <a:lstStyle/>
          <a:p>
            <a:pPr marL="0" indent="0" algn="just" fontAlgn="t">
              <a:buNone/>
            </a:pPr>
            <a:r>
              <a:rPr lang="es-AR" b="1" dirty="0"/>
              <a:t>Visión</a:t>
            </a:r>
          </a:p>
          <a:p>
            <a:pPr marL="0" indent="0" algn="just" fontAlgn="t">
              <a:buNone/>
            </a:pPr>
            <a:r>
              <a:rPr lang="es-AR" dirty="0"/>
              <a:t>Ser la empresa líder de alimentos y golosinas en Latinoamérica, reconocida en el mercado internacional, destacándonos por nuestras prácticas sustentables y por nuestra capacidad de ingresar en nuevos negocios.</a:t>
            </a:r>
          </a:p>
          <a:p>
            <a:pPr marL="0" indent="0" algn="just" fontAlgn="t">
              <a:buNone/>
            </a:pPr>
            <a:r>
              <a:rPr lang="es-AR" b="1" dirty="0"/>
              <a:t>Misión</a:t>
            </a:r>
          </a:p>
          <a:p>
            <a:pPr marL="0" indent="0" algn="just" fontAlgn="t">
              <a:buNone/>
            </a:pPr>
            <a:r>
              <a:rPr lang="es-AR" dirty="0"/>
              <a:t>Brindar a las personas en todo el mundo la oportunidad de disfrutar de alimentos y golosinas de calidad, ricos y saludables transformando así sus vínculos cotidianos en momentos mágicos de encuentro y celebración.</a:t>
            </a:r>
          </a:p>
          <a:p>
            <a:pPr marL="0" indent="0" algn="just">
              <a:buNone/>
            </a:pPr>
            <a:endParaRPr lang="es-AR" dirty="0"/>
          </a:p>
        </p:txBody>
      </p:sp>
      <p:pic>
        <p:nvPicPr>
          <p:cNvPr id="5122" name="Picture 2" descr="Resultado de imagen para arcor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7522" y="0"/>
            <a:ext cx="3254477" cy="2258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7180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Marcador de contenido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464541"/>
              </p:ext>
            </p:extLst>
          </p:nvPr>
        </p:nvGraphicFramePr>
        <p:xfrm>
          <a:off x="309716" y="479323"/>
          <a:ext cx="11044084" cy="5692875"/>
        </p:xfrm>
        <a:graphic>
          <a:graphicData uri="http://schemas.openxmlformats.org/drawingml/2006/table">
            <a:tbl>
              <a:tblPr/>
              <a:tblGrid>
                <a:gridCol w="11044084">
                  <a:extLst>
                    <a:ext uri="{9D8B030D-6E8A-4147-A177-3AD203B41FA5}">
                      <a16:colId xmlns:a16="http://schemas.microsoft.com/office/drawing/2014/main" val="3001957413"/>
                    </a:ext>
                  </a:extLst>
                </a:gridCol>
              </a:tblGrid>
              <a:tr h="632542">
                <a:tc>
                  <a:txBody>
                    <a:bodyPr/>
                    <a:lstStyle/>
                    <a:p>
                      <a:pPr algn="l"/>
                      <a:r>
                        <a:rPr lang="es-AR" sz="3200" dirty="0">
                          <a:solidFill>
                            <a:srgbClr val="097ACC"/>
                          </a:solidFill>
                          <a:effectLst/>
                        </a:rPr>
                        <a:t>NUESTRA</a:t>
                      </a:r>
                      <a:r>
                        <a:rPr lang="es-AR" dirty="0">
                          <a:solidFill>
                            <a:srgbClr val="097ACC"/>
                          </a:solidFill>
                          <a:effectLst/>
                        </a:rPr>
                        <a:t> </a:t>
                      </a:r>
                      <a:r>
                        <a:rPr lang="es-AR" sz="3200" dirty="0">
                          <a:solidFill>
                            <a:srgbClr val="097ACC"/>
                          </a:solidFill>
                          <a:effectLst/>
                        </a:rPr>
                        <a:t>MISION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905047"/>
                  </a:ext>
                </a:extLst>
              </a:tr>
              <a:tr h="1897624">
                <a:tc>
                  <a:txBody>
                    <a:bodyPr/>
                    <a:lstStyle/>
                    <a:p>
                      <a:pPr algn="l"/>
                      <a:r>
                        <a:rPr lang="es-AR" sz="2800" dirty="0">
                          <a:solidFill>
                            <a:srgbClr val="777777"/>
                          </a:solidFill>
                          <a:effectLst/>
                        </a:rPr>
                        <a:t>Conectar a los argentinos y contribuir a la </a:t>
                      </a:r>
                    </a:p>
                    <a:p>
                      <a:pPr algn="l"/>
                      <a:r>
                        <a:rPr lang="es-AR" sz="2800" dirty="0">
                          <a:solidFill>
                            <a:srgbClr val="777777"/>
                          </a:solidFill>
                          <a:effectLst/>
                        </a:rPr>
                        <a:t>integración y al desarrollo económico y social</a:t>
                      </a:r>
                    </a:p>
                    <a:p>
                      <a:pPr algn="l"/>
                      <a:r>
                        <a:rPr lang="es-AR" sz="2800" dirty="0">
                          <a:solidFill>
                            <a:srgbClr val="777777"/>
                          </a:solidFill>
                          <a:effectLst/>
                        </a:rPr>
                        <a:t>del país, promoviendo el territorio nacional </a:t>
                      </a:r>
                    </a:p>
                    <a:p>
                      <a:pPr algn="l"/>
                      <a:r>
                        <a:rPr lang="es-AR" sz="2800" dirty="0">
                          <a:solidFill>
                            <a:srgbClr val="777777"/>
                          </a:solidFill>
                          <a:effectLst/>
                        </a:rPr>
                        <a:t>como destino turístico, cultural y de negocios.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792143"/>
                  </a:ext>
                </a:extLst>
              </a:tr>
              <a:tr h="632542">
                <a:tc>
                  <a:txBody>
                    <a:bodyPr/>
                    <a:lstStyle/>
                    <a:p>
                      <a:pPr algn="l"/>
                      <a:r>
                        <a:rPr lang="es-AR">
                          <a:effectLst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766496"/>
                  </a:ext>
                </a:extLst>
              </a:tr>
              <a:tr h="632542">
                <a:tc>
                  <a:txBody>
                    <a:bodyPr/>
                    <a:lstStyle/>
                    <a:p>
                      <a:pPr algn="l"/>
                      <a:r>
                        <a:rPr lang="es-AR" sz="3200" dirty="0">
                          <a:solidFill>
                            <a:srgbClr val="097ACC"/>
                          </a:solidFill>
                          <a:effectLst/>
                        </a:rPr>
                        <a:t>NUESTRA VISION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8974032"/>
                  </a:ext>
                </a:extLst>
              </a:tr>
              <a:tr h="1265083">
                <a:tc>
                  <a:txBody>
                    <a:bodyPr/>
                    <a:lstStyle/>
                    <a:p>
                      <a:pPr algn="l"/>
                      <a:r>
                        <a:rPr lang="es-AR" sz="2800" dirty="0">
                          <a:solidFill>
                            <a:srgbClr val="777777"/>
                          </a:solidFill>
                          <a:effectLst/>
                        </a:rPr>
                        <a:t>Ser la empresa emblema y orgullo de la República Argentina, reconocida por su gestión pública eficiente y transparente.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802767"/>
                  </a:ext>
                </a:extLst>
              </a:tr>
              <a:tr h="632542">
                <a:tc>
                  <a:txBody>
                    <a:bodyPr/>
                    <a:lstStyle/>
                    <a:p>
                      <a:pPr algn="l"/>
                      <a:r>
                        <a:rPr lang="es-AR" dirty="0">
                          <a:effectLst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3622865"/>
                  </a:ext>
                </a:extLst>
              </a:tr>
            </a:tbl>
          </a:graphicData>
        </a:graphic>
      </p:graphicFrame>
      <p:pic>
        <p:nvPicPr>
          <p:cNvPr id="6146" name="Picture 2" descr="Resultado de imagen para aerolineas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9042" y="58994"/>
            <a:ext cx="5152958" cy="2477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69639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-1372"/>
            <a:ext cx="10471354" cy="232106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AR" sz="2000" b="1" dirty="0"/>
              <a:t>Nuestra misión</a:t>
            </a:r>
          </a:p>
          <a:p>
            <a:r>
              <a:rPr lang="es-AR" sz="2000" dirty="0"/>
              <a:t>Nuestro plan de trabajo comienza con nuestra misión, que es perdurable y expresa nuestro propósito como Compañía. Sirve como el patrón sobre el cual ponderamos nuestras acciones y decisiones.</a:t>
            </a:r>
          </a:p>
          <a:p>
            <a:r>
              <a:rPr lang="es-AR" sz="2000" dirty="0"/>
              <a:t>Refrescar al mundo.</a:t>
            </a:r>
          </a:p>
          <a:p>
            <a:r>
              <a:rPr lang="es-AR" sz="2000" dirty="0"/>
              <a:t>Inspirar momentos de optimismo y felicidad.</a:t>
            </a:r>
          </a:p>
          <a:p>
            <a:r>
              <a:rPr lang="es-AR" sz="2000" dirty="0"/>
              <a:t>Crear valor y dejar una huella positiva.</a:t>
            </a:r>
          </a:p>
        </p:txBody>
      </p:sp>
      <p:pic>
        <p:nvPicPr>
          <p:cNvPr id="4" name="Picture 4" descr="Coca-Col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1354" y="0"/>
            <a:ext cx="1720645" cy="1720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Marcador de contenido 2"/>
          <p:cNvSpPr txBox="1">
            <a:spLocks/>
          </p:cNvSpPr>
          <p:nvPr/>
        </p:nvSpPr>
        <p:spPr>
          <a:xfrm>
            <a:off x="0" y="2543844"/>
            <a:ext cx="12192000" cy="64081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1800" b="1" dirty="0"/>
              <a:t>Nuestra visión</a:t>
            </a:r>
          </a:p>
          <a:p>
            <a:r>
              <a:rPr lang="es-AR" sz="1800" dirty="0"/>
              <a:t>Nuestra visión actúa como el marco de nuestro plan de trabajo y guía cada uno de los aspectos de nuestro negocio mediante la descripción de lo que necesitamos lograr para continuar alcanzando un crecimiento sostenible y de calidad.</a:t>
            </a:r>
          </a:p>
          <a:p>
            <a:r>
              <a:rPr lang="es-AR" sz="1800" b="1" dirty="0"/>
              <a:t>Personas: </a:t>
            </a:r>
            <a:r>
              <a:rPr lang="es-AR" sz="1800" dirty="0"/>
              <a:t>(</a:t>
            </a:r>
            <a:r>
              <a:rPr lang="es-AR" sz="1800" dirty="0" err="1"/>
              <a:t>People</a:t>
            </a:r>
            <a:r>
              <a:rPr lang="es-AR" sz="1800" dirty="0"/>
              <a:t>): ser un gran lugar para trabajar en donde las personas se sientan motivadas a ser las mejores.</a:t>
            </a:r>
          </a:p>
          <a:p>
            <a:r>
              <a:rPr lang="es-AR" sz="1800" b="1" dirty="0"/>
              <a:t>Portafolio</a:t>
            </a:r>
            <a:r>
              <a:rPr lang="es-AR" sz="1800" dirty="0"/>
              <a:t>: (Portfolio): dar al mundo un portafolio de marcas de bebidas de calidad que anticipan y satisfacen los deseos y necesidades de los consumidores.</a:t>
            </a:r>
          </a:p>
          <a:p>
            <a:r>
              <a:rPr lang="es-AR" sz="1800" b="1" dirty="0"/>
              <a:t>Socios</a:t>
            </a:r>
            <a:r>
              <a:rPr lang="es-AR" sz="1800" dirty="0"/>
              <a:t> (</a:t>
            </a:r>
            <a:r>
              <a:rPr lang="es-AR" sz="1800" dirty="0" err="1"/>
              <a:t>Partners</a:t>
            </a:r>
            <a:r>
              <a:rPr lang="es-AR" sz="1800" dirty="0"/>
              <a:t>): alimentar una red exitosa de clientes y proveedores; juntos creamos valor mutuo y duradero.</a:t>
            </a:r>
          </a:p>
          <a:p>
            <a:r>
              <a:rPr lang="es-AR" sz="1800" b="1" dirty="0"/>
              <a:t>Planeta</a:t>
            </a:r>
            <a:r>
              <a:rPr lang="es-AR" sz="1800" dirty="0"/>
              <a:t> (</a:t>
            </a:r>
            <a:r>
              <a:rPr lang="es-AR" sz="1800" dirty="0" err="1"/>
              <a:t>Planet</a:t>
            </a:r>
            <a:r>
              <a:rPr lang="es-AR" sz="1800" dirty="0"/>
              <a:t>): ser un ciudadano responsable que hace la diferencia, ayudando a construir y apoyar comunidades sostenibles.</a:t>
            </a:r>
          </a:p>
          <a:p>
            <a:r>
              <a:rPr lang="es-AR" sz="1800" b="1" dirty="0"/>
              <a:t>Ganancias</a:t>
            </a:r>
            <a:r>
              <a:rPr lang="es-AR" sz="1800" dirty="0"/>
              <a:t> (</a:t>
            </a:r>
            <a:r>
              <a:rPr lang="es-AR" sz="1800" dirty="0" err="1"/>
              <a:t>Profit</a:t>
            </a:r>
            <a:r>
              <a:rPr lang="es-AR" sz="1800" dirty="0"/>
              <a:t>): maximizar la rentabilidad a largo plazo para los accionistas, a la vez que somos conscientes de todas nuestras responsabilidades.</a:t>
            </a:r>
          </a:p>
          <a:p>
            <a:r>
              <a:rPr lang="es-AR" sz="1800" b="1" dirty="0"/>
              <a:t>Productividad</a:t>
            </a:r>
            <a:r>
              <a:rPr lang="es-AR" sz="1800" dirty="0"/>
              <a:t> (</a:t>
            </a:r>
            <a:r>
              <a:rPr lang="es-AR" sz="1800" dirty="0" err="1"/>
              <a:t>Productivity</a:t>
            </a:r>
            <a:r>
              <a:rPr lang="es-AR" sz="1800" dirty="0"/>
              <a:t>): ser una organización altamente efectiva, que reacciona rápidamente.</a:t>
            </a:r>
          </a:p>
        </p:txBody>
      </p:sp>
    </p:spTree>
    <p:extLst>
      <p:ext uri="{BB962C8B-B14F-4D97-AF65-F5344CB8AC3E}">
        <p14:creationId xmlns:p14="http://schemas.microsoft.com/office/powerpoint/2010/main" val="32543903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751" y="124285"/>
            <a:ext cx="9265033" cy="6277171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3069020" y="4929351"/>
            <a:ext cx="3794235" cy="819807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546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508" y="126054"/>
            <a:ext cx="8708983" cy="35340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643" y="3727602"/>
            <a:ext cx="9728714" cy="3032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454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FEB51-5113-4701-8CE5-1873A099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Cambios en misión-visión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DBB0C-E083-4F80-96C5-9020EAF62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AR" dirty="0"/>
              <a:t>Misión fundacional: </a:t>
            </a:r>
          </a:p>
          <a:p>
            <a:pPr marL="0" indent="0">
              <a:buNone/>
            </a:pPr>
            <a:r>
              <a:rPr lang="es-AR" dirty="0"/>
              <a:t>“Una PC en cada escritorio y hogar”</a:t>
            </a:r>
          </a:p>
          <a:p>
            <a:endParaRPr lang="es-AR" dirty="0"/>
          </a:p>
          <a:p>
            <a:endParaRPr lang="es-AR" dirty="0"/>
          </a:p>
          <a:p>
            <a:pPr marL="0" indent="0">
              <a:buNone/>
            </a:pPr>
            <a:r>
              <a:rPr lang="es-AR" dirty="0"/>
              <a:t>Misión actual:</a:t>
            </a:r>
          </a:p>
          <a:p>
            <a:pPr marL="0" indent="0">
              <a:buNone/>
            </a:pPr>
            <a:r>
              <a:rPr lang="es-ES" b="1" i="1" dirty="0"/>
              <a:t>“Empoderar a los demás.  </a:t>
            </a:r>
            <a:r>
              <a:rPr lang="es-ES" i="1" dirty="0"/>
              <a:t>Nuestra misión es capacitar a todas las personas y organizaciones del planeta para que puedan lograr más.”</a:t>
            </a:r>
          </a:p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FD4AD9A-15AD-4555-883E-5EEDC6FAC0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7453" y="1920739"/>
            <a:ext cx="1875028" cy="265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9D0277C-1F27-4C1E-B0DE-7B6BA5177CD7}"/>
              </a:ext>
            </a:extLst>
          </p:cNvPr>
          <p:cNvSpPr/>
          <p:nvPr/>
        </p:nvSpPr>
        <p:spPr>
          <a:xfrm>
            <a:off x="9449198" y="1868887"/>
            <a:ext cx="12875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1982-1987</a:t>
            </a:r>
            <a:endParaRPr 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87BCD78-63D8-40CF-937C-F1423A0E6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5219" y="2640738"/>
            <a:ext cx="1679496" cy="279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BEA7DAD-8E15-4715-BF73-715EFA0547C5}"/>
              </a:ext>
            </a:extLst>
          </p:cNvPr>
          <p:cNvSpPr/>
          <p:nvPr/>
        </p:nvSpPr>
        <p:spPr>
          <a:xfrm>
            <a:off x="9449198" y="2636960"/>
            <a:ext cx="12875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1987-2012</a:t>
            </a:r>
            <a:endParaRPr lang="en-US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B5AAE849-2F7F-4A18-BE90-637DC3D8D3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7453" y="3283520"/>
            <a:ext cx="1875028" cy="406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409353A-CCD6-4B50-B93B-6C825B4D8D74}"/>
              </a:ext>
            </a:extLst>
          </p:cNvPr>
          <p:cNvSpPr/>
          <p:nvPr/>
        </p:nvSpPr>
        <p:spPr>
          <a:xfrm>
            <a:off x="9449198" y="3332968"/>
            <a:ext cx="13901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2012-actual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935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FFB56-1D00-490B-9144-5DCEE7142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Video – </a:t>
            </a:r>
            <a:r>
              <a:rPr lang="es-AR" dirty="0" err="1"/>
              <a:t>Simon</a:t>
            </a:r>
            <a:r>
              <a:rPr lang="es-AR" dirty="0"/>
              <a:t> </a:t>
            </a:r>
            <a:r>
              <a:rPr lang="es-AR" dirty="0" err="1"/>
              <a:t>Sinek</a:t>
            </a:r>
            <a:endParaRPr lang="en-US" dirty="0"/>
          </a:p>
        </p:txBody>
      </p:sp>
      <p:pic>
        <p:nvPicPr>
          <p:cNvPr id="4" name="Online Media 3" title="3 Things that Make a MEANINGFUL Vision | Simon Sinek">
            <a:hlinkClick r:id="" action="ppaction://media"/>
            <a:extLst>
              <a:ext uri="{FF2B5EF4-FFF2-40B4-BE49-F238E27FC236}">
                <a16:creationId xmlns:a16="http://schemas.microsoft.com/office/drawing/2014/main" id="{2937038E-407B-48C9-A5FF-B4F30B801228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246313" y="1825625"/>
            <a:ext cx="770096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632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Algunos conceptos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Empresa: </a:t>
            </a:r>
          </a:p>
          <a:p>
            <a:pPr lvl="1"/>
            <a:r>
              <a:rPr lang="es-AR" dirty="0"/>
              <a:t>Suma de habilidades (técnicas, tecnologías, métodos de trabajo)</a:t>
            </a:r>
          </a:p>
          <a:p>
            <a:pPr lvl="1"/>
            <a:r>
              <a:rPr lang="es-AR" dirty="0"/>
              <a:t>Red modular: habilidades distintivas no replicables.</a:t>
            </a:r>
          </a:p>
          <a:p>
            <a:r>
              <a:rPr lang="es-AR" dirty="0"/>
              <a:t>Negocio:</a:t>
            </a:r>
          </a:p>
          <a:p>
            <a:endParaRPr lang="es-AR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915217889"/>
              </p:ext>
            </p:extLst>
          </p:nvPr>
        </p:nvGraphicFramePr>
        <p:xfrm>
          <a:off x="2634593" y="3810147"/>
          <a:ext cx="6922814" cy="1592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943406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Portafolio estratégico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Conjunto de unidades de negocio</a:t>
            </a:r>
          </a:p>
          <a:p>
            <a:r>
              <a:rPr lang="es-AR" dirty="0"/>
              <a:t>Administración del portafolio:</a:t>
            </a:r>
          </a:p>
          <a:p>
            <a:pPr lvl="1"/>
            <a:r>
              <a:rPr lang="es-AR" dirty="0"/>
              <a:t>Enfoque (composición del portafolio)</a:t>
            </a:r>
          </a:p>
          <a:p>
            <a:pPr lvl="1"/>
            <a:r>
              <a:rPr lang="es-AR" dirty="0"/>
              <a:t>Equilibrio (planeamiento y desarrollo)</a:t>
            </a:r>
          </a:p>
          <a:p>
            <a:pPr lvl="1"/>
            <a:r>
              <a:rPr lang="es-AR" dirty="0"/>
              <a:t>Evolución (portafolio dinámico)</a:t>
            </a:r>
          </a:p>
          <a:p>
            <a:pPr lvl="1"/>
            <a:endParaRPr lang="es-AR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2023598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CA815A-F45F-AE25-7BC0-C4EB81985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Fin clase 3 adelantada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70C984-EBBC-453F-BE6F-9FB59ED64B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832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Etapas del ciclo de vida de un producto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Introducción</a:t>
            </a:r>
            <a:endParaRPr lang="en-US" dirty="0"/>
          </a:p>
          <a:p>
            <a:r>
              <a:rPr lang="es-AR" dirty="0"/>
              <a:t>Crecimiento</a:t>
            </a:r>
            <a:endParaRPr lang="en-US" dirty="0"/>
          </a:p>
          <a:p>
            <a:r>
              <a:rPr lang="es-AR" dirty="0"/>
              <a:t>Madurez</a:t>
            </a:r>
            <a:endParaRPr lang="en-US" dirty="0"/>
          </a:p>
          <a:p>
            <a:r>
              <a:rPr lang="es-AR" dirty="0"/>
              <a:t>Declive</a:t>
            </a:r>
            <a:endParaRPr lang="en-US" dirty="0"/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5072" y="1412776"/>
            <a:ext cx="7236928" cy="44851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74413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Posicionamiento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Lugar que ocupa un producto en la mente de un consumidor.</a:t>
            </a:r>
          </a:p>
          <a:p>
            <a:r>
              <a:rPr lang="es-AR" dirty="0"/>
              <a:t>Guía las decisiones de compra.</a:t>
            </a:r>
          </a:p>
          <a:p>
            <a:r>
              <a:rPr lang="es-AR" dirty="0"/>
              <a:t>Percepción.</a:t>
            </a:r>
          </a:p>
          <a:p>
            <a:r>
              <a:rPr lang="es-AR" dirty="0"/>
              <a:t>Satisfactor de necesidades.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6897484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Segmentación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Grupos de consumidores con patrones similares de compra.</a:t>
            </a:r>
          </a:p>
          <a:p>
            <a:r>
              <a:rPr lang="es-AR" dirty="0"/>
              <a:t>Nicho: segmento muy pequeño</a:t>
            </a:r>
          </a:p>
          <a:p>
            <a:r>
              <a:rPr lang="es-AR" i="1" dirty="0"/>
              <a:t>“no se busca ser el Nro. 1 en todos los segmentos” (pero sí al menos en uno…)</a:t>
            </a:r>
          </a:p>
        </p:txBody>
      </p:sp>
    </p:spTree>
    <p:extLst>
      <p:ext uri="{BB962C8B-B14F-4D97-AF65-F5344CB8AC3E}">
        <p14:creationId xmlns:p14="http://schemas.microsoft.com/office/powerpoint/2010/main" val="19473847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Porter: estrategias genéricas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 dirty="0"/>
          </a:p>
          <a:p>
            <a:endParaRPr lang="es-AR" dirty="0"/>
          </a:p>
        </p:txBody>
      </p:sp>
      <p:pic>
        <p:nvPicPr>
          <p:cNvPr id="1026" name="Picture 2" descr="https://upload.wikimedia.org/wikipedia/commons/a/ab/Estrategias_Genericas_de_Porter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4883" y="1349764"/>
            <a:ext cx="7964129" cy="5450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21538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Liderazgo en diferenciación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Fuerte comercialización.</a:t>
            </a:r>
          </a:p>
          <a:p>
            <a:r>
              <a:rPr lang="es-AR" dirty="0"/>
              <a:t>Ingeniería de producto.</a:t>
            </a:r>
          </a:p>
          <a:p>
            <a:r>
              <a:rPr lang="es-AR" dirty="0"/>
              <a:t>Cultura de innovación y desarrollo creativo.</a:t>
            </a:r>
          </a:p>
        </p:txBody>
      </p:sp>
      <p:pic>
        <p:nvPicPr>
          <p:cNvPr id="4" name="Picture 2" descr="https://upload.wikimedia.org/wikipedia/commons/a/ab/Estrategias_Genericas_de_Porter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6906" y="4240160"/>
            <a:ext cx="3825094" cy="2617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www.brandemia.org/wp-content/uploads/2011/10/logo_actualidad_apple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58" t="11133" r="16548" b="13550"/>
          <a:stretch/>
        </p:blipFill>
        <p:spPr bwMode="auto">
          <a:xfrm>
            <a:off x="2630078" y="3685880"/>
            <a:ext cx="3742442" cy="3091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8802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Liderazgo en costos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Política constante de inversiones de capital.</a:t>
            </a:r>
          </a:p>
          <a:p>
            <a:r>
              <a:rPr lang="es-AR" dirty="0"/>
              <a:t>Estandarización de procesos y productos.</a:t>
            </a:r>
          </a:p>
          <a:p>
            <a:r>
              <a:rPr lang="es-AR" dirty="0"/>
              <a:t>Fuerte control de costos.</a:t>
            </a:r>
          </a:p>
        </p:txBody>
      </p:sp>
      <p:pic>
        <p:nvPicPr>
          <p:cNvPr id="4" name="Picture 2" descr="https://upload.wikimedia.org/wikipedia/commons/a/ab/Estrategias_Genericas_de_Porter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6906" y="4240160"/>
            <a:ext cx="3825094" cy="2617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https://www.edcast.com/corp/wp-content/uploads/2016/11/Walmart-Logo-PNG-Transparent-300x86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0742" y="4240160"/>
            <a:ext cx="5399638" cy="1547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3178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Estrategias de expansión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Se trata de definir cómo orientar el crecimiento.  Posibilidades de expansión:</a:t>
            </a:r>
          </a:p>
          <a:p>
            <a:pPr lvl="1"/>
            <a:r>
              <a:rPr lang="es-AR" dirty="0"/>
              <a:t>Producto-mercado</a:t>
            </a:r>
          </a:p>
          <a:p>
            <a:pPr lvl="1"/>
            <a:r>
              <a:rPr lang="es-AR" dirty="0"/>
              <a:t>Integración-concentración</a:t>
            </a:r>
          </a:p>
          <a:p>
            <a:pPr lvl="1"/>
            <a:r>
              <a:rPr lang="es-AR" dirty="0"/>
              <a:t>Alianzas - cooperación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2885924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Expansión Producto-mercado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AR" dirty="0"/>
              <a:t>Penetración de mercado</a:t>
            </a:r>
          </a:p>
          <a:p>
            <a:pPr lvl="1"/>
            <a:r>
              <a:rPr lang="es-AR" dirty="0"/>
              <a:t>Productos masivos.</a:t>
            </a:r>
          </a:p>
          <a:p>
            <a:pPr lvl="1"/>
            <a:r>
              <a:rPr lang="es-AR" dirty="0"/>
              <a:t>Agresividad en promoción y ventas.</a:t>
            </a:r>
          </a:p>
          <a:p>
            <a:pPr lvl="1"/>
            <a:r>
              <a:rPr lang="es-AR" dirty="0"/>
              <a:t>Amenaza de sustitutos baja.</a:t>
            </a:r>
          </a:p>
          <a:p>
            <a:r>
              <a:rPr lang="es-AR" dirty="0"/>
              <a:t>Desarrollo de mercados</a:t>
            </a:r>
          </a:p>
          <a:p>
            <a:pPr lvl="1"/>
            <a:r>
              <a:rPr lang="es-AR" dirty="0"/>
              <a:t>Nuestros productos actuales en nuevos grupos de consumidores.</a:t>
            </a:r>
          </a:p>
          <a:p>
            <a:pPr lvl="1"/>
            <a:r>
              <a:rPr lang="es-AR" dirty="0"/>
              <a:t>Flexibilidad de procesos de comercialización.</a:t>
            </a:r>
          </a:p>
          <a:p>
            <a:pPr lvl="1"/>
            <a:r>
              <a:rPr lang="es-AR" dirty="0"/>
              <a:t>Política de precios.</a:t>
            </a:r>
          </a:p>
          <a:p>
            <a:pPr lvl="1"/>
            <a:r>
              <a:rPr lang="es-AR" dirty="0"/>
              <a:t>Producto masivo, pero innovador.</a:t>
            </a:r>
          </a:p>
        </p:txBody>
      </p:sp>
    </p:spTree>
    <p:extLst>
      <p:ext uri="{BB962C8B-B14F-4D97-AF65-F5344CB8AC3E}">
        <p14:creationId xmlns:p14="http://schemas.microsoft.com/office/powerpoint/2010/main" val="21606513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Expansión Producto-mercado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AR" dirty="0"/>
              <a:t>Desarrollo de productos</a:t>
            </a:r>
          </a:p>
          <a:p>
            <a:pPr lvl="1"/>
            <a:r>
              <a:rPr lang="es-AR" dirty="0"/>
              <a:t>Nuevos productos para nuestros actuales clientes.</a:t>
            </a:r>
          </a:p>
          <a:p>
            <a:pPr lvl="1"/>
            <a:r>
              <a:rPr lang="es-AR" dirty="0"/>
              <a:t>Detectar nuevas necesidades (postventa, investigación de mercado, desarrollo de producto)</a:t>
            </a:r>
          </a:p>
          <a:p>
            <a:r>
              <a:rPr lang="es-AR" dirty="0"/>
              <a:t>Diversificación</a:t>
            </a:r>
          </a:p>
          <a:p>
            <a:pPr lvl="1"/>
            <a:r>
              <a:rPr lang="es-AR" dirty="0"/>
              <a:t>Direccionamiento de nuevos productos a nuevos mercados.</a:t>
            </a:r>
          </a:p>
          <a:p>
            <a:pPr lvl="1"/>
            <a:r>
              <a:rPr lang="es-AR" dirty="0"/>
              <a:t>Es clave la sinergia: potenciar recursos y aplicarlos a nuevas actividades.</a:t>
            </a:r>
          </a:p>
          <a:p>
            <a:pPr lvl="1"/>
            <a:r>
              <a:rPr lang="es-AR" dirty="0"/>
              <a:t>Esta alternativa es riesgosa: siempre debe tener base sólida.</a:t>
            </a:r>
          </a:p>
        </p:txBody>
      </p:sp>
    </p:spTree>
    <p:extLst>
      <p:ext uri="{BB962C8B-B14F-4D97-AF65-F5344CB8AC3E}">
        <p14:creationId xmlns:p14="http://schemas.microsoft.com/office/powerpoint/2010/main" val="21606513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Expansión Integración-concentración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AR" dirty="0"/>
              <a:t>Integrar: sumar a la actividad negocios de los que actualmente somos proveedores o clientes</a:t>
            </a:r>
          </a:p>
          <a:p>
            <a:pPr marL="0" indent="0">
              <a:buNone/>
            </a:pPr>
            <a:endParaRPr lang="es-AR" dirty="0">
              <a:highlight>
                <a:srgbClr val="FF0000"/>
              </a:highlight>
            </a:endParaRPr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r>
              <a:rPr lang="es-AR" dirty="0"/>
              <a:t>Concentrar: especializarse en lo que somos distintivos.</a:t>
            </a:r>
          </a:p>
          <a:p>
            <a:endParaRPr lang="es-AR" dirty="0"/>
          </a:p>
          <a:p>
            <a:endParaRPr lang="es-AR" dirty="0"/>
          </a:p>
        </p:txBody>
      </p:sp>
      <p:pic>
        <p:nvPicPr>
          <p:cNvPr id="2050" name="Picture 2" descr="Appl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3416" y="2627057"/>
            <a:ext cx="1217971" cy="1574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oca-Col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8510" y="2539467"/>
            <a:ext cx="1750142" cy="1750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Resultado de imagen para ibm 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3562" y="5182215"/>
            <a:ext cx="2684876" cy="1476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64463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s-AR" dirty="0"/>
              <a:t>Expansión Alianzas - cooperación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Fusiones</a:t>
            </a:r>
          </a:p>
          <a:p>
            <a:r>
              <a:rPr lang="es-AR" dirty="0"/>
              <a:t>Adquisiciones</a:t>
            </a:r>
          </a:p>
          <a:p>
            <a:r>
              <a:rPr lang="es-AR" dirty="0" err="1"/>
              <a:t>Joint-ventures</a:t>
            </a:r>
            <a:endParaRPr lang="es-AR" dirty="0"/>
          </a:p>
          <a:p>
            <a:r>
              <a:rPr lang="es-AR" dirty="0"/>
              <a:t>Licencias y franquicias</a:t>
            </a:r>
          </a:p>
        </p:txBody>
      </p:sp>
    </p:spTree>
    <p:extLst>
      <p:ext uri="{BB962C8B-B14F-4D97-AF65-F5344CB8AC3E}">
        <p14:creationId xmlns:p14="http://schemas.microsoft.com/office/powerpoint/2010/main" val="18801719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7AA716-58C1-3D47-10D3-D4A33C33E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Fin tema.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FE65A1-A1A9-5CC2-8319-A5E49EE91F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5835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1867D-9ABC-5E0F-6414-6E3F3631D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TP grupal cuatrimestral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59D71-C6BC-28F6-BF22-37576DA97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Esta semana se libera el enunciado 1.</a:t>
            </a:r>
          </a:p>
          <a:p>
            <a:r>
              <a:rPr lang="es-AR" dirty="0"/>
              <a:t>Serán 4 entregas en total según el cronograma ya presentado.</a:t>
            </a:r>
          </a:p>
          <a:p>
            <a:r>
              <a:rPr lang="es-AR" dirty="0"/>
              <a:t>3 entregas escritas + presentación final.</a:t>
            </a:r>
          </a:p>
          <a:p>
            <a:endParaRPr lang="es-AR" dirty="0"/>
          </a:p>
          <a:p>
            <a:r>
              <a:rPr lang="es-AR" dirty="0"/>
              <a:t>Será un caso de estudio sobre una empresa específica por grupo.</a:t>
            </a:r>
          </a:p>
          <a:p>
            <a:r>
              <a:rPr lang="es-AR" dirty="0"/>
              <a:t>Se debe utilizar la base teórica que vamos viendo </a:t>
            </a:r>
            <a:r>
              <a:rPr lang="es-AR"/>
              <a:t>en clase.</a:t>
            </a:r>
            <a:endParaRPr lang="es-AR" dirty="0"/>
          </a:p>
          <a:p>
            <a:endParaRPr lang="es-A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2701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1867D-9ABC-5E0F-6414-6E3F3631D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Actividad en clase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59D71-C6BC-28F6-BF22-37576DA97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s-ES" b="0" i="0" dirty="0">
                <a:solidFill>
                  <a:srgbClr val="262626"/>
                </a:solidFill>
                <a:effectLst/>
                <a:latin typeface="Open Sans" panose="020B0606030504020204" pitchFamily="34" charset="0"/>
              </a:rPr>
              <a:t>En los grupos designados, investiguen la empresa sugerida y elaboren un listado de 5 amenazas y 5 oportunidades.</a:t>
            </a:r>
          </a:p>
          <a:p>
            <a:pPr algn="l"/>
            <a:r>
              <a:rPr lang="es-ES" b="0" i="0" u="sng" dirty="0">
                <a:solidFill>
                  <a:srgbClr val="262626"/>
                </a:solidFill>
                <a:effectLst/>
                <a:latin typeface="Open Sans" panose="020B0606030504020204" pitchFamily="34" charset="0"/>
              </a:rPr>
              <a:t>Recuerden:</a:t>
            </a:r>
            <a:r>
              <a:rPr lang="es-ES" b="0" i="0" dirty="0">
                <a:solidFill>
                  <a:srgbClr val="262626"/>
                </a:solidFill>
                <a:effectLst/>
                <a:latin typeface="Open Sans" panose="020B0606030504020204" pitchFamily="34" charset="0"/>
              </a:rPr>
              <a:t> oportunidades y amenazas son de la industria, no de mi empresa.</a:t>
            </a:r>
          </a:p>
          <a:p>
            <a:pPr algn="l"/>
            <a:endParaRPr lang="es-ES" dirty="0">
              <a:solidFill>
                <a:srgbClr val="262626"/>
              </a:solidFill>
              <a:latin typeface="Open Sans" panose="020B0606030504020204" pitchFamily="34" charset="0"/>
            </a:endParaRPr>
          </a:p>
          <a:p>
            <a:pPr algn="l"/>
            <a:r>
              <a:rPr lang="es-ES" b="0" i="0" dirty="0">
                <a:solidFill>
                  <a:srgbClr val="262626"/>
                </a:solidFill>
                <a:effectLst/>
                <a:latin typeface="Open Sans" panose="020B0606030504020204" pitchFamily="34" charset="0"/>
              </a:rPr>
              <a:t>Tiempo designado: 20 minutos.</a:t>
            </a:r>
          </a:p>
        </p:txBody>
      </p:sp>
    </p:spTree>
    <p:extLst>
      <p:ext uri="{BB962C8B-B14F-4D97-AF65-F5344CB8AC3E}">
        <p14:creationId xmlns:p14="http://schemas.microsoft.com/office/powerpoint/2010/main" val="39472737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1867D-9ABC-5E0F-6414-6E3F3631D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Actividad en clase – parte 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59D71-C6BC-28F6-BF22-37576DA97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0" i="1" dirty="0">
                <a:solidFill>
                  <a:srgbClr val="262626"/>
                </a:solidFill>
                <a:effectLst/>
                <a:latin typeface="Open Sans" panose="020B0606030504020204" pitchFamily="34" charset="0"/>
              </a:rPr>
              <a:t>En base a la empresa que analizaron….</a:t>
            </a:r>
          </a:p>
          <a:p>
            <a:pPr marL="0" indent="0" algn="l">
              <a:buNone/>
            </a:pPr>
            <a:r>
              <a:rPr lang="es-ES" b="0" i="0" dirty="0">
                <a:solidFill>
                  <a:srgbClr val="262626"/>
                </a:solidFill>
                <a:effectLst/>
                <a:latin typeface="Open Sans" panose="020B0606030504020204" pitchFamily="34" charset="0"/>
              </a:rPr>
              <a:t>pensemos qué pasaría en los siguientes escenarios:</a:t>
            </a:r>
          </a:p>
          <a:p>
            <a:pPr marL="0" indent="0" algn="l">
              <a:buNone/>
            </a:pPr>
            <a:endParaRPr lang="es-ES" b="0" i="0" dirty="0">
              <a:solidFill>
                <a:srgbClr val="262626"/>
              </a:solidFill>
              <a:effectLst/>
              <a:latin typeface="Open Sans" panose="020B0606030504020204" pitchFamily="34" charset="0"/>
            </a:endParaRPr>
          </a:p>
          <a:p>
            <a:pPr marL="0" indent="0" algn="l">
              <a:buNone/>
            </a:pPr>
            <a:r>
              <a:rPr lang="es-ES" b="0" i="0" dirty="0">
                <a:solidFill>
                  <a:srgbClr val="262626"/>
                </a:solidFill>
                <a:effectLst/>
                <a:latin typeface="Open Sans" panose="020B0606030504020204" pitchFamily="34" charset="0"/>
              </a:rPr>
              <a:t>1. Para una o mas de las oportunidades, se descubriera que es/son altamente contaminante/s.</a:t>
            </a:r>
          </a:p>
          <a:p>
            <a:pPr marL="0" indent="0" algn="l">
              <a:buNone/>
            </a:pPr>
            <a:r>
              <a:rPr lang="es-ES" b="0" i="0" dirty="0">
                <a:solidFill>
                  <a:srgbClr val="262626"/>
                </a:solidFill>
                <a:effectLst/>
                <a:latin typeface="Open Sans" panose="020B0606030504020204" pitchFamily="34" charset="0"/>
              </a:rPr>
              <a:t>2. La amenaza mas relevante se convierte en oportunidad.</a:t>
            </a:r>
          </a:p>
          <a:p>
            <a:pPr marL="0" indent="0" algn="l">
              <a:buNone/>
            </a:pPr>
            <a:r>
              <a:rPr lang="es-ES" b="0" i="0" dirty="0">
                <a:solidFill>
                  <a:srgbClr val="262626"/>
                </a:solidFill>
                <a:effectLst/>
                <a:latin typeface="Open Sans" panose="020B0606030504020204" pitchFamily="34" charset="0"/>
              </a:rPr>
              <a:t>3. Nuestro principal competidor sale del mercado.</a:t>
            </a:r>
          </a:p>
          <a:p>
            <a:pPr marL="0" indent="0" algn="l">
              <a:buNone/>
            </a:pPr>
            <a:endParaRPr lang="es-ES" dirty="0">
              <a:solidFill>
                <a:srgbClr val="262626"/>
              </a:solidFill>
              <a:latin typeface="Open Sans" panose="020B0606030504020204" pitchFamily="34" charset="0"/>
            </a:endParaRPr>
          </a:p>
          <a:p>
            <a:pPr marL="0" indent="0">
              <a:buNone/>
            </a:pPr>
            <a:r>
              <a:rPr lang="es-ES" b="0" i="0" dirty="0">
                <a:solidFill>
                  <a:srgbClr val="262626"/>
                </a:solidFill>
                <a:effectLst/>
                <a:latin typeface="Open Sans" panose="020B0606030504020204" pitchFamily="34" charset="0"/>
              </a:rPr>
              <a:t>Tiempo designado: 15 minutos.</a:t>
            </a:r>
          </a:p>
          <a:p>
            <a:pPr marL="0" indent="0" algn="l">
              <a:buNone/>
            </a:pPr>
            <a:endParaRPr lang="es-ES" b="0" i="0" dirty="0">
              <a:solidFill>
                <a:srgbClr val="262626"/>
              </a:solidFill>
              <a:effectLst/>
              <a:latin typeface="Open Sans" panose="020B0606030504020204" pitchFamily="34" charset="0"/>
            </a:endParaRPr>
          </a:p>
          <a:p>
            <a:pPr algn="l"/>
            <a:endParaRPr lang="es-ES" b="0" i="0" dirty="0">
              <a:solidFill>
                <a:srgbClr val="262626"/>
              </a:solidFill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6035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es-AR" sz="11500" dirty="0"/>
              <a:t>FIN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3742</TotalTime>
  <Words>1348</Words>
  <Application>Microsoft Office PowerPoint</Application>
  <PresentationFormat>Widescreen</PresentationFormat>
  <Paragraphs>249</Paragraphs>
  <Slides>38</Slides>
  <Notes>2</Notes>
  <HiddenSlides>8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Calibri</vt:lpstr>
      <vt:lpstr>Calibri Light</vt:lpstr>
      <vt:lpstr>inherit</vt:lpstr>
      <vt:lpstr>Open Sans</vt:lpstr>
      <vt:lpstr>Tema de Office</vt:lpstr>
      <vt:lpstr>Organización y gestión empresaria</vt:lpstr>
      <vt:lpstr>Parroquiales</vt:lpstr>
      <vt:lpstr>Fechas importantes</vt:lpstr>
      <vt:lpstr>Autoeval clase 2</vt:lpstr>
      <vt:lpstr>Autoeval clase 2</vt:lpstr>
      <vt:lpstr>Autoeval clase 2</vt:lpstr>
      <vt:lpstr>Política de negocios</vt:lpstr>
      <vt:lpstr>Planteo de la política de negocios</vt:lpstr>
      <vt:lpstr>PowerPoint Presentation</vt:lpstr>
      <vt:lpstr>PowerPoint Presentation</vt:lpstr>
      <vt:lpstr>Visión</vt:lpstr>
      <vt:lpstr>Misión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Cambios en misión-visión</vt:lpstr>
      <vt:lpstr>Video – Simon Sinek</vt:lpstr>
      <vt:lpstr>Algunos conceptos</vt:lpstr>
      <vt:lpstr>Portafolio estratégico</vt:lpstr>
      <vt:lpstr>Fin clase 3 adelantada</vt:lpstr>
      <vt:lpstr>Etapas del ciclo de vida de un producto</vt:lpstr>
      <vt:lpstr>Posicionamiento</vt:lpstr>
      <vt:lpstr>Segmentación</vt:lpstr>
      <vt:lpstr>Porter: estrategias genéricas</vt:lpstr>
      <vt:lpstr>Liderazgo en diferenciación</vt:lpstr>
      <vt:lpstr>Liderazgo en costos</vt:lpstr>
      <vt:lpstr>Estrategias de expansión</vt:lpstr>
      <vt:lpstr>Expansión Producto-mercado</vt:lpstr>
      <vt:lpstr>Expansión Producto-mercado</vt:lpstr>
      <vt:lpstr>Expansión Integración-concentración</vt:lpstr>
      <vt:lpstr>Expansión Alianzas - cooperación</vt:lpstr>
      <vt:lpstr>Fin tema.</vt:lpstr>
      <vt:lpstr>TP grupal cuatrimestral</vt:lpstr>
      <vt:lpstr>Actividad en clase</vt:lpstr>
      <vt:lpstr>Actividad en clase – parte 2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Organización y gestión empresaria</dc:title>
  <dc:creator>Martin Romero</dc:creator>
  <cp:keywords>CTPClassification=CTP_NT</cp:keywords>
  <cp:lastModifiedBy>Martin Romero</cp:lastModifiedBy>
  <cp:revision>115</cp:revision>
  <dcterms:created xsi:type="dcterms:W3CDTF">2017-04-05T02:19:59Z</dcterms:created>
  <dcterms:modified xsi:type="dcterms:W3CDTF">2024-04-25T18:01:29Z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41df1371-431b-4374-9b32-e959d09f0732</vt:lpwstr>
  </property>
  <property fmtid="{D5CDD505-2E9C-101B-9397-08002B2CF9AE}" pid="3" name="CTP_TimeStamp">
    <vt:lpwstr>2019-04-25 19:45:28Z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