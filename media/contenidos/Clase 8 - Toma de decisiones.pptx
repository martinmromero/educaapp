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8" r:id="rId3"/>
    <p:sldId id="376" r:id="rId4"/>
    <p:sldId id="371" r:id="rId5"/>
    <p:sldId id="372" r:id="rId6"/>
    <p:sldId id="359" r:id="rId7"/>
    <p:sldId id="373" r:id="rId8"/>
    <p:sldId id="285" r:id="rId9"/>
    <p:sldId id="286" r:id="rId10"/>
    <p:sldId id="325" r:id="rId11"/>
    <p:sldId id="326" r:id="rId12"/>
    <p:sldId id="324" r:id="rId13"/>
    <p:sldId id="374" r:id="rId14"/>
    <p:sldId id="287" r:id="rId15"/>
    <p:sldId id="288" r:id="rId16"/>
    <p:sldId id="291" r:id="rId17"/>
    <p:sldId id="294" r:id="rId18"/>
    <p:sldId id="295" r:id="rId19"/>
    <p:sldId id="299" r:id="rId20"/>
    <p:sldId id="300" r:id="rId21"/>
    <p:sldId id="309" r:id="rId22"/>
    <p:sldId id="310" r:id="rId23"/>
    <p:sldId id="311" r:id="rId24"/>
    <p:sldId id="312" r:id="rId25"/>
    <p:sldId id="313" r:id="rId26"/>
    <p:sldId id="327" r:id="rId27"/>
    <p:sldId id="377" r:id="rId28"/>
    <p:sldId id="314" r:id="rId29"/>
    <p:sldId id="315" r:id="rId30"/>
    <p:sldId id="378" r:id="rId31"/>
    <p:sldId id="316" r:id="rId32"/>
    <p:sldId id="317" r:id="rId33"/>
    <p:sldId id="318" r:id="rId34"/>
    <p:sldId id="301" r:id="rId35"/>
    <p:sldId id="302" r:id="rId36"/>
    <p:sldId id="319" r:id="rId37"/>
    <p:sldId id="320" r:id="rId38"/>
    <p:sldId id="321" r:id="rId39"/>
    <p:sldId id="323" r:id="rId40"/>
    <p:sldId id="375" r:id="rId41"/>
    <p:sldId id="284" r:id="rId4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FE59E-C6CA-4E6B-91B3-5CB6931E30CA}" v="8" dt="2026-05-15T12:26:25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5" autoAdjust="0"/>
    <p:restoredTop sz="86384" autoAdjust="0"/>
  </p:normalViewPr>
  <p:slideViewPr>
    <p:cSldViewPr snapToGrid="0">
      <p:cViewPr varScale="1">
        <p:scale>
          <a:sx n="95" d="100"/>
          <a:sy n="95" d="100"/>
        </p:scale>
        <p:origin x="39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531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Romero" userId="92a667c11581d2b5" providerId="LiveId" clId="{B8BD633B-AC77-499D-A8BD-33E65CF11E24}"/>
    <pc:docChg chg="custSel addSld modSld">
      <pc:chgData name="Martin Romero" userId="92a667c11581d2b5" providerId="LiveId" clId="{B8BD633B-AC77-499D-A8BD-33E65CF11E24}" dt="2026-05-15T12:26:37.053" v="37" actId="1076"/>
      <pc:docMkLst>
        <pc:docMk/>
      </pc:docMkLst>
      <pc:sldChg chg="modSp modAnim">
        <pc:chgData name="Martin Romero" userId="92a667c11581d2b5" providerId="LiveId" clId="{B8BD633B-AC77-499D-A8BD-33E65CF11E24}" dt="2026-05-15T12:23:43.628" v="9" actId="20577"/>
        <pc:sldMkLst>
          <pc:docMk/>
          <pc:sldMk cId="1963550791" sldId="325"/>
        </pc:sldMkLst>
        <pc:spChg chg="mod">
          <ac:chgData name="Martin Romero" userId="92a667c11581d2b5" providerId="LiveId" clId="{B8BD633B-AC77-499D-A8BD-33E65CF11E24}" dt="2026-05-15T12:23:43.628" v="9" actId="20577"/>
          <ac:spMkLst>
            <pc:docMk/>
            <pc:sldMk cId="1963550791" sldId="325"/>
            <ac:spMk id="3" creationId="{00000000-0000-0000-0000-000000000000}"/>
          </ac:spMkLst>
        </pc:spChg>
      </pc:sldChg>
      <pc:sldChg chg="mod modShow">
        <pc:chgData name="Martin Romero" userId="92a667c11581d2b5" providerId="LiveId" clId="{B8BD633B-AC77-499D-A8BD-33E65CF11E24}" dt="2026-05-14T22:02:53.760" v="0" actId="729"/>
        <pc:sldMkLst>
          <pc:docMk/>
          <pc:sldMk cId="2239093402" sldId="373"/>
        </pc:sldMkLst>
      </pc:sldChg>
      <pc:sldChg chg="addSp delSp modSp new mod">
        <pc:chgData name="Martin Romero" userId="92a667c11581d2b5" providerId="LiveId" clId="{B8BD633B-AC77-499D-A8BD-33E65CF11E24}" dt="2026-05-15T12:26:37.053" v="37" actId="1076"/>
        <pc:sldMkLst>
          <pc:docMk/>
          <pc:sldMk cId="4263063947" sldId="378"/>
        </pc:sldMkLst>
        <pc:spChg chg="mod">
          <ac:chgData name="Martin Romero" userId="92a667c11581d2b5" providerId="LiveId" clId="{B8BD633B-AC77-499D-A8BD-33E65CF11E24}" dt="2026-05-15T12:23:54.897" v="13" actId="20577"/>
          <ac:spMkLst>
            <pc:docMk/>
            <pc:sldMk cId="4263063947" sldId="378"/>
            <ac:spMk id="2" creationId="{F428176E-E872-D6DC-35E6-68206A96EFEA}"/>
          </ac:spMkLst>
        </pc:spChg>
        <pc:spChg chg="del">
          <ac:chgData name="Martin Romero" userId="92a667c11581d2b5" providerId="LiveId" clId="{B8BD633B-AC77-499D-A8BD-33E65CF11E24}" dt="2026-05-15T12:23:59.172" v="14" actId="478"/>
          <ac:spMkLst>
            <pc:docMk/>
            <pc:sldMk cId="4263063947" sldId="378"/>
            <ac:spMk id="3" creationId="{3F43097D-8A3F-E725-F466-644E373A6DD1}"/>
          </ac:spMkLst>
        </pc:spChg>
        <pc:spChg chg="add mod">
          <ac:chgData name="Martin Romero" userId="92a667c11581d2b5" providerId="LiveId" clId="{B8BD633B-AC77-499D-A8BD-33E65CF11E24}" dt="2026-05-15T12:26:37.053" v="37" actId="1076"/>
          <ac:spMkLst>
            <pc:docMk/>
            <pc:sldMk cId="4263063947" sldId="378"/>
            <ac:spMk id="5" creationId="{1E72A959-2226-7FB3-1606-9F4BE8BD7145}"/>
          </ac:spMkLst>
        </pc:spChg>
        <pc:picChg chg="add mod modCrop">
          <ac:chgData name="Martin Romero" userId="92a667c11581d2b5" providerId="LiveId" clId="{B8BD633B-AC77-499D-A8BD-33E65CF11E24}" dt="2026-05-15T12:25:46.146" v="23" actId="1076"/>
          <ac:picMkLst>
            <pc:docMk/>
            <pc:sldMk cId="4263063947" sldId="378"/>
            <ac:picMk id="4" creationId="{5DFCE350-2BC8-0D74-CC1A-074F98DFE62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2400" dirty="0" err="1"/>
            <a:t>Análisis</a:t>
          </a:r>
          <a:r>
            <a:rPr lang="en-US" sz="2400" dirty="0"/>
            <a:t> de </a:t>
          </a:r>
          <a:r>
            <a:rPr lang="en-US" sz="2400" dirty="0" err="1"/>
            <a:t>situación</a:t>
          </a:r>
          <a:endParaRPr lang="en-US" sz="24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24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24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2400" dirty="0" err="1"/>
            <a:t>Evaluación</a:t>
          </a:r>
          <a:r>
            <a:rPr lang="en-US" sz="2400" dirty="0"/>
            <a:t> de </a:t>
          </a:r>
          <a:r>
            <a:rPr lang="en-US" sz="2400" dirty="0" err="1"/>
            <a:t>alternativas</a:t>
          </a:r>
          <a:endParaRPr lang="en-US" sz="24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24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24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2400" dirty="0" err="1"/>
            <a:t>Selección</a:t>
          </a:r>
          <a:endParaRPr lang="en-US" sz="24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24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24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2400" dirty="0" err="1"/>
            <a:t>Implemen-tación</a:t>
          </a:r>
          <a:endParaRPr lang="en-US" sz="24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24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24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/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5D9ED08-5CED-4DE0-8C71-DD10F96483C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DE36F91-7EB6-4CCA-A083-BC0874C2DB35}">
      <dgm:prSet phldrT="[Text]" custT="1"/>
      <dgm:spPr/>
      <dgm:t>
        <a:bodyPr/>
        <a:lstStyle/>
        <a:p>
          <a:r>
            <a:rPr lang="en-US" sz="1100" dirty="0" err="1"/>
            <a:t>Análisis</a:t>
          </a:r>
          <a:r>
            <a:rPr lang="en-US" sz="1100" dirty="0"/>
            <a:t> de </a:t>
          </a:r>
          <a:r>
            <a:rPr lang="en-US" sz="1100" dirty="0" err="1"/>
            <a:t>situación</a:t>
          </a:r>
          <a:endParaRPr lang="en-US" sz="1100" dirty="0"/>
        </a:p>
      </dgm:t>
    </dgm:pt>
    <dgm:pt modelId="{B142F19C-E6DD-4D13-AF6A-D28E59154DBC}" type="parTrans" cxnId="{44870021-B0F1-4CB6-8300-047711B7CEFF}">
      <dgm:prSet/>
      <dgm:spPr/>
      <dgm:t>
        <a:bodyPr/>
        <a:lstStyle/>
        <a:p>
          <a:endParaRPr lang="en-US" sz="1100"/>
        </a:p>
      </dgm:t>
    </dgm:pt>
    <dgm:pt modelId="{6DD19468-ADD6-4621-A2D6-DBC2865CD1C2}" type="sibTrans" cxnId="{44870021-B0F1-4CB6-8300-047711B7CEFF}">
      <dgm:prSet/>
      <dgm:spPr/>
      <dgm:t>
        <a:bodyPr/>
        <a:lstStyle/>
        <a:p>
          <a:endParaRPr lang="en-US" sz="1100"/>
        </a:p>
      </dgm:t>
    </dgm:pt>
    <dgm:pt modelId="{33BFF071-1844-4B19-BF02-D87207F4D3FD}">
      <dgm:prSet phldrT="[Text]" custT="1"/>
      <dgm:spPr/>
      <dgm:t>
        <a:bodyPr/>
        <a:lstStyle/>
        <a:p>
          <a:r>
            <a:rPr lang="en-US" sz="1100" dirty="0" err="1"/>
            <a:t>Evaluación</a:t>
          </a:r>
          <a:r>
            <a:rPr lang="en-US" sz="1100" dirty="0"/>
            <a:t> de </a:t>
          </a:r>
          <a:r>
            <a:rPr lang="en-US" sz="1100" dirty="0" err="1"/>
            <a:t>alternativas</a:t>
          </a:r>
          <a:endParaRPr lang="en-US" sz="1100" dirty="0"/>
        </a:p>
      </dgm:t>
    </dgm:pt>
    <dgm:pt modelId="{47BC1609-5F89-45EF-9821-A11826D08FFD}" type="parTrans" cxnId="{8A9F3C20-4842-4C7E-9B41-CC165F2E84F1}">
      <dgm:prSet/>
      <dgm:spPr/>
      <dgm:t>
        <a:bodyPr/>
        <a:lstStyle/>
        <a:p>
          <a:endParaRPr lang="en-US" sz="1100"/>
        </a:p>
      </dgm:t>
    </dgm:pt>
    <dgm:pt modelId="{B94A3F8C-C833-43D3-861B-58FFECE71EC2}" type="sibTrans" cxnId="{8A9F3C20-4842-4C7E-9B41-CC165F2E84F1}">
      <dgm:prSet/>
      <dgm:spPr/>
      <dgm:t>
        <a:bodyPr/>
        <a:lstStyle/>
        <a:p>
          <a:endParaRPr lang="en-US" sz="1100"/>
        </a:p>
      </dgm:t>
    </dgm:pt>
    <dgm:pt modelId="{994EEF2D-1205-4279-8777-EB41843BC1E8}">
      <dgm:prSet phldrT="[Text]" custT="1"/>
      <dgm:spPr/>
      <dgm:t>
        <a:bodyPr/>
        <a:lstStyle/>
        <a:p>
          <a:r>
            <a:rPr lang="en-US" sz="1100" dirty="0" err="1"/>
            <a:t>Selección</a:t>
          </a:r>
          <a:endParaRPr lang="en-US" sz="1100" dirty="0"/>
        </a:p>
      </dgm:t>
    </dgm:pt>
    <dgm:pt modelId="{E1C3725C-6D1B-4E9E-9482-96DE99C6FB03}" type="parTrans" cxnId="{5E6876C3-6E4F-44D6-834C-AF1ED2501DDB}">
      <dgm:prSet/>
      <dgm:spPr/>
      <dgm:t>
        <a:bodyPr/>
        <a:lstStyle/>
        <a:p>
          <a:endParaRPr lang="en-US" sz="1100"/>
        </a:p>
      </dgm:t>
    </dgm:pt>
    <dgm:pt modelId="{01E53A0F-0381-4B20-A820-2C64A825A02F}" type="sibTrans" cxnId="{5E6876C3-6E4F-44D6-834C-AF1ED2501DDB}">
      <dgm:prSet/>
      <dgm:spPr/>
      <dgm:t>
        <a:bodyPr/>
        <a:lstStyle/>
        <a:p>
          <a:endParaRPr lang="en-US" sz="1100"/>
        </a:p>
      </dgm:t>
    </dgm:pt>
    <dgm:pt modelId="{33A48435-77F1-47C2-8370-2E8EF69012A7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dirty="0" err="1"/>
            <a:t>Implemen-tación</a:t>
          </a:r>
          <a:endParaRPr lang="en-US" sz="1100" dirty="0"/>
        </a:p>
      </dgm:t>
    </dgm:pt>
    <dgm:pt modelId="{8F171F65-57A0-4834-880B-9E5F43C45009}" type="parTrans" cxnId="{0A23E7C3-BEA9-43DB-A40D-DA671DCD408F}">
      <dgm:prSet/>
      <dgm:spPr/>
      <dgm:t>
        <a:bodyPr/>
        <a:lstStyle/>
        <a:p>
          <a:endParaRPr lang="en-US" sz="1100"/>
        </a:p>
      </dgm:t>
    </dgm:pt>
    <dgm:pt modelId="{35C403CE-3357-4B7A-8EDB-FCE63131240F}" type="sibTrans" cxnId="{0A23E7C3-BEA9-43DB-A40D-DA671DCD408F}">
      <dgm:prSet/>
      <dgm:spPr/>
      <dgm:t>
        <a:bodyPr/>
        <a:lstStyle/>
        <a:p>
          <a:endParaRPr lang="en-US" sz="1100"/>
        </a:p>
      </dgm:t>
    </dgm:pt>
    <dgm:pt modelId="{04EAA3BE-BCDF-4172-8A39-3D3835B2B51E}" type="pres">
      <dgm:prSet presAssocID="{F5D9ED08-5CED-4DE0-8C71-DD10F96483C8}" presName="Name0" presStyleCnt="0">
        <dgm:presLayoutVars>
          <dgm:dir/>
          <dgm:animLvl val="lvl"/>
          <dgm:resizeHandles val="exact"/>
        </dgm:presLayoutVars>
      </dgm:prSet>
      <dgm:spPr/>
    </dgm:pt>
    <dgm:pt modelId="{7E71523E-5D3D-4151-9C90-5BE96D0812FA}" type="pres">
      <dgm:prSet presAssocID="{0DE36F91-7EB6-4CCA-A083-BC0874C2DB3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83FE4FD-A03D-452B-844A-7315FCD03113}" type="pres">
      <dgm:prSet presAssocID="{6DD19468-ADD6-4621-A2D6-DBC2865CD1C2}" presName="parTxOnlySpace" presStyleCnt="0"/>
      <dgm:spPr/>
    </dgm:pt>
    <dgm:pt modelId="{61F4C082-1E5E-4A36-8B5C-9A60593F2D7A}" type="pres">
      <dgm:prSet presAssocID="{33BFF071-1844-4B19-BF02-D87207F4D3F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9A70D4-AB55-43B6-AE84-F000D38B72AC}" type="pres">
      <dgm:prSet presAssocID="{B94A3F8C-C833-43D3-861B-58FFECE71EC2}" presName="parTxOnlySpace" presStyleCnt="0"/>
      <dgm:spPr/>
    </dgm:pt>
    <dgm:pt modelId="{EC06D6E9-E6B9-4B98-BBB3-2CB5BA332A19}" type="pres">
      <dgm:prSet presAssocID="{994EEF2D-1205-4279-8777-EB41843BC1E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9968C-286E-4C97-9F71-BE46D7FCA46F}" type="pres">
      <dgm:prSet presAssocID="{01E53A0F-0381-4B20-A820-2C64A825A02F}" presName="parTxOnlySpace" presStyleCnt="0"/>
      <dgm:spPr/>
    </dgm:pt>
    <dgm:pt modelId="{FFE3C9C9-7DAE-4363-BE01-DF3831D12983}" type="pres">
      <dgm:prSet presAssocID="{33A48435-77F1-47C2-8370-2E8EF69012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A9F3C20-4842-4C7E-9B41-CC165F2E84F1}" srcId="{F5D9ED08-5CED-4DE0-8C71-DD10F96483C8}" destId="{33BFF071-1844-4B19-BF02-D87207F4D3FD}" srcOrd="1" destOrd="0" parTransId="{47BC1609-5F89-45EF-9821-A11826D08FFD}" sibTransId="{B94A3F8C-C833-43D3-861B-58FFECE71EC2}"/>
    <dgm:cxn modelId="{44870021-B0F1-4CB6-8300-047711B7CEFF}" srcId="{F5D9ED08-5CED-4DE0-8C71-DD10F96483C8}" destId="{0DE36F91-7EB6-4CCA-A083-BC0874C2DB35}" srcOrd="0" destOrd="0" parTransId="{B142F19C-E6DD-4D13-AF6A-D28E59154DBC}" sibTransId="{6DD19468-ADD6-4621-A2D6-DBC2865CD1C2}"/>
    <dgm:cxn modelId="{B1E75D69-AE35-49E9-9D2A-F9C938022A8F}" type="presOf" srcId="{994EEF2D-1205-4279-8777-EB41843BC1E8}" destId="{EC06D6E9-E6B9-4B98-BBB3-2CB5BA332A19}" srcOrd="0" destOrd="0" presId="urn:microsoft.com/office/officeart/2005/8/layout/chevron1"/>
    <dgm:cxn modelId="{C1E36089-56AA-492A-B0E0-F96644D6FE1B}" type="presOf" srcId="{33BFF071-1844-4B19-BF02-D87207F4D3FD}" destId="{61F4C082-1E5E-4A36-8B5C-9A60593F2D7A}" srcOrd="0" destOrd="0" presId="urn:microsoft.com/office/officeart/2005/8/layout/chevron1"/>
    <dgm:cxn modelId="{C1D9C1AA-81D7-4948-8E08-DB2E9897964D}" type="presOf" srcId="{33A48435-77F1-47C2-8370-2E8EF69012A7}" destId="{FFE3C9C9-7DAE-4363-BE01-DF3831D12983}" srcOrd="0" destOrd="0" presId="urn:microsoft.com/office/officeart/2005/8/layout/chevron1"/>
    <dgm:cxn modelId="{D04DC3C0-948F-44DA-8464-CC3BA3401F34}" type="presOf" srcId="{0DE36F91-7EB6-4CCA-A083-BC0874C2DB35}" destId="{7E71523E-5D3D-4151-9C90-5BE96D0812FA}" srcOrd="0" destOrd="0" presId="urn:microsoft.com/office/officeart/2005/8/layout/chevron1"/>
    <dgm:cxn modelId="{5E6876C3-6E4F-44D6-834C-AF1ED2501DDB}" srcId="{F5D9ED08-5CED-4DE0-8C71-DD10F96483C8}" destId="{994EEF2D-1205-4279-8777-EB41843BC1E8}" srcOrd="2" destOrd="0" parTransId="{E1C3725C-6D1B-4E9E-9482-96DE99C6FB03}" sibTransId="{01E53A0F-0381-4B20-A820-2C64A825A02F}"/>
    <dgm:cxn modelId="{0A23E7C3-BEA9-43DB-A40D-DA671DCD408F}" srcId="{F5D9ED08-5CED-4DE0-8C71-DD10F96483C8}" destId="{33A48435-77F1-47C2-8370-2E8EF69012A7}" srcOrd="3" destOrd="0" parTransId="{8F171F65-57A0-4834-880B-9E5F43C45009}" sibTransId="{35C403CE-3357-4B7A-8EDB-FCE63131240F}"/>
    <dgm:cxn modelId="{E588C9D5-666B-40FE-ADC9-38BCE0B152CA}" type="presOf" srcId="{F5D9ED08-5CED-4DE0-8C71-DD10F96483C8}" destId="{04EAA3BE-BCDF-4172-8A39-3D3835B2B51E}" srcOrd="0" destOrd="0" presId="urn:microsoft.com/office/officeart/2005/8/layout/chevron1"/>
    <dgm:cxn modelId="{651BDD74-CA9E-4E16-804C-F0E2386238E3}" type="presParOf" srcId="{04EAA3BE-BCDF-4172-8A39-3D3835B2B51E}" destId="{7E71523E-5D3D-4151-9C90-5BE96D0812FA}" srcOrd="0" destOrd="0" presId="urn:microsoft.com/office/officeart/2005/8/layout/chevron1"/>
    <dgm:cxn modelId="{96C647FD-B1D1-4391-8AE5-AA8CF5EA4B61}" type="presParOf" srcId="{04EAA3BE-BCDF-4172-8A39-3D3835B2B51E}" destId="{D83FE4FD-A03D-452B-844A-7315FCD03113}" srcOrd="1" destOrd="0" presId="urn:microsoft.com/office/officeart/2005/8/layout/chevron1"/>
    <dgm:cxn modelId="{6001029A-BA48-419A-BDBF-0A0CAD7E8D2F}" type="presParOf" srcId="{04EAA3BE-BCDF-4172-8A39-3D3835B2B51E}" destId="{61F4C082-1E5E-4A36-8B5C-9A60593F2D7A}" srcOrd="2" destOrd="0" presId="urn:microsoft.com/office/officeart/2005/8/layout/chevron1"/>
    <dgm:cxn modelId="{F630B1AF-D5B2-4659-92D9-7E5AF6EDE909}" type="presParOf" srcId="{04EAA3BE-BCDF-4172-8A39-3D3835B2B51E}" destId="{5D9A70D4-AB55-43B6-AE84-F000D38B72AC}" srcOrd="3" destOrd="0" presId="urn:microsoft.com/office/officeart/2005/8/layout/chevron1"/>
    <dgm:cxn modelId="{F2D4A83E-B0AB-43C9-BE38-5C6DCEF655BE}" type="presParOf" srcId="{04EAA3BE-BCDF-4172-8A39-3D3835B2B51E}" destId="{EC06D6E9-E6B9-4B98-BBB3-2CB5BA332A19}" srcOrd="4" destOrd="0" presId="urn:microsoft.com/office/officeart/2005/8/layout/chevron1"/>
    <dgm:cxn modelId="{966298AD-E3B9-4AF2-A53D-60B68A044034}" type="presParOf" srcId="{04EAA3BE-BCDF-4172-8A39-3D3835B2B51E}" destId="{1AD9968C-286E-4C97-9F71-BE46D7FCA46F}" srcOrd="5" destOrd="0" presId="urn:microsoft.com/office/officeart/2005/8/layout/chevron1"/>
    <dgm:cxn modelId="{1A80A647-B37C-48B3-B85F-C5C5B63AFDAD}" type="presParOf" srcId="{04EAA3BE-BCDF-4172-8A39-3D3835B2B51E}" destId="{FFE3C9C9-7DAE-4363-BE01-DF3831D12983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4877" y="1607785"/>
          <a:ext cx="2839417" cy="11357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Análisis</a:t>
          </a:r>
          <a:r>
            <a:rPr lang="en-US" sz="2400" kern="1200" dirty="0"/>
            <a:t> de </a:t>
          </a:r>
          <a:r>
            <a:rPr lang="en-US" sz="2400" kern="1200" dirty="0" err="1"/>
            <a:t>situación</a:t>
          </a:r>
          <a:endParaRPr lang="en-US" sz="2400" kern="1200" dirty="0"/>
        </a:p>
      </dsp:txBody>
      <dsp:txXfrm>
        <a:off x="572760" y="1607785"/>
        <a:ext cx="1703651" cy="1135766"/>
      </dsp:txXfrm>
    </dsp:sp>
    <dsp:sp modelId="{61F4C082-1E5E-4A36-8B5C-9A60593F2D7A}">
      <dsp:nvSpPr>
        <dsp:cNvPr id="0" name=""/>
        <dsp:cNvSpPr/>
      </dsp:nvSpPr>
      <dsp:spPr>
        <a:xfrm>
          <a:off x="2560353" y="1607785"/>
          <a:ext cx="2839417" cy="11357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Evaluación</a:t>
          </a:r>
          <a:r>
            <a:rPr lang="en-US" sz="2400" kern="1200" dirty="0"/>
            <a:t> de </a:t>
          </a:r>
          <a:r>
            <a:rPr lang="en-US" sz="2400" kern="1200" dirty="0" err="1"/>
            <a:t>alternativas</a:t>
          </a:r>
          <a:endParaRPr lang="en-US" sz="2400" kern="1200" dirty="0"/>
        </a:p>
      </dsp:txBody>
      <dsp:txXfrm>
        <a:off x="3128236" y="1607785"/>
        <a:ext cx="1703651" cy="1135766"/>
      </dsp:txXfrm>
    </dsp:sp>
    <dsp:sp modelId="{EC06D6E9-E6B9-4B98-BBB3-2CB5BA332A19}">
      <dsp:nvSpPr>
        <dsp:cNvPr id="0" name=""/>
        <dsp:cNvSpPr/>
      </dsp:nvSpPr>
      <dsp:spPr>
        <a:xfrm>
          <a:off x="5115829" y="1607785"/>
          <a:ext cx="2839417" cy="11357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Selección</a:t>
          </a:r>
          <a:endParaRPr lang="en-US" sz="2400" kern="1200" dirty="0"/>
        </a:p>
      </dsp:txBody>
      <dsp:txXfrm>
        <a:off x="5683712" y="1607785"/>
        <a:ext cx="1703651" cy="1135766"/>
      </dsp:txXfrm>
    </dsp:sp>
    <dsp:sp modelId="{FFE3C9C9-7DAE-4363-BE01-DF3831D12983}">
      <dsp:nvSpPr>
        <dsp:cNvPr id="0" name=""/>
        <dsp:cNvSpPr/>
      </dsp:nvSpPr>
      <dsp:spPr>
        <a:xfrm>
          <a:off x="7671304" y="1607785"/>
          <a:ext cx="2839417" cy="11357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Implemen-tación</a:t>
          </a:r>
          <a:endParaRPr lang="en-US" sz="2400" kern="1200" dirty="0"/>
        </a:p>
      </dsp:txBody>
      <dsp:txXfrm>
        <a:off x="8239187" y="1607785"/>
        <a:ext cx="1703651" cy="1135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1523E-5D3D-4151-9C90-5BE96D0812FA}">
      <dsp:nvSpPr>
        <dsp:cNvPr id="0" name=""/>
        <dsp:cNvSpPr/>
      </dsp:nvSpPr>
      <dsp:spPr>
        <a:xfrm>
          <a:off x="213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Análisis</a:t>
          </a:r>
          <a:r>
            <a:rPr lang="en-US" sz="1100" kern="1200" dirty="0"/>
            <a:t> de </a:t>
          </a:r>
          <a:r>
            <a:rPr lang="en-US" sz="1100" kern="1200" dirty="0" err="1"/>
            <a:t>situación</a:t>
          </a:r>
          <a:endParaRPr lang="en-US" sz="1100" kern="1200" dirty="0"/>
        </a:p>
      </dsp:txBody>
      <dsp:txXfrm>
        <a:off x="250514" y="342753"/>
        <a:ext cx="745143" cy="496762"/>
      </dsp:txXfrm>
    </dsp:sp>
    <dsp:sp modelId="{61F4C082-1E5E-4A36-8B5C-9A60593F2D7A}">
      <dsp:nvSpPr>
        <dsp:cNvPr id="0" name=""/>
        <dsp:cNvSpPr/>
      </dsp:nvSpPr>
      <dsp:spPr>
        <a:xfrm>
          <a:off x="1119848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Evaluación</a:t>
          </a:r>
          <a:r>
            <a:rPr lang="en-US" sz="1100" kern="1200" dirty="0"/>
            <a:t> de </a:t>
          </a:r>
          <a:r>
            <a:rPr lang="en-US" sz="1100" kern="1200" dirty="0" err="1"/>
            <a:t>alternativas</a:t>
          </a:r>
          <a:endParaRPr lang="en-US" sz="1100" kern="1200" dirty="0"/>
        </a:p>
      </dsp:txBody>
      <dsp:txXfrm>
        <a:off x="1368229" y="342753"/>
        <a:ext cx="745143" cy="496762"/>
      </dsp:txXfrm>
    </dsp:sp>
    <dsp:sp modelId="{EC06D6E9-E6B9-4B98-BBB3-2CB5BA332A19}">
      <dsp:nvSpPr>
        <dsp:cNvPr id="0" name=""/>
        <dsp:cNvSpPr/>
      </dsp:nvSpPr>
      <dsp:spPr>
        <a:xfrm>
          <a:off x="2237563" y="342753"/>
          <a:ext cx="1241905" cy="4967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Selección</a:t>
          </a:r>
          <a:endParaRPr lang="en-US" sz="1100" kern="1200" dirty="0"/>
        </a:p>
      </dsp:txBody>
      <dsp:txXfrm>
        <a:off x="2485944" y="342753"/>
        <a:ext cx="745143" cy="496762"/>
      </dsp:txXfrm>
    </dsp:sp>
    <dsp:sp modelId="{FFE3C9C9-7DAE-4363-BE01-DF3831D12983}">
      <dsp:nvSpPr>
        <dsp:cNvPr id="0" name=""/>
        <dsp:cNvSpPr/>
      </dsp:nvSpPr>
      <dsp:spPr>
        <a:xfrm>
          <a:off x="3355278" y="342753"/>
          <a:ext cx="1241905" cy="49676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Implemen-tación</a:t>
          </a:r>
          <a:endParaRPr lang="en-US" sz="1100" kern="1200" dirty="0"/>
        </a:p>
      </dsp:txBody>
      <dsp:txXfrm>
        <a:off x="3603659" y="342753"/>
        <a:ext cx="745143" cy="496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280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224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105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185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138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986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08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817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236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343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942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D7F12-176D-4417-9AB8-A66609DB5CAB}" type="datetimeFigureOut">
              <a:rPr lang="es-AR" smtClean="0"/>
              <a:pPr/>
              <a:t>15/5/2026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595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sz="8800" dirty="0"/>
              <a:t>Toma de decisiones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sz="2800" dirty="0"/>
              <a:t>Organización y gestión empresaria</a:t>
            </a:r>
          </a:p>
          <a:p>
            <a:r>
              <a:rPr lang="es-AR" dirty="0"/>
              <a:t>Ing. Martín Romero</a:t>
            </a:r>
          </a:p>
        </p:txBody>
      </p:sp>
    </p:spTree>
    <p:extLst>
      <p:ext uri="{BB962C8B-B14F-4D97-AF65-F5344CB8AC3E}">
        <p14:creationId xmlns:p14="http://schemas.microsoft.com/office/powerpoint/2010/main" val="11185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3710-E217-49C3-BF49-CCF9D2B5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Parroquiales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D77B-D8CA-427C-9C86-28D92D7CA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Notas de parcial publicadas</a:t>
            </a:r>
          </a:p>
          <a:p>
            <a:r>
              <a:rPr lang="es-AR" dirty="0"/>
              <a:t>Semana que viene vence entrega TP #2.</a:t>
            </a:r>
          </a:p>
          <a:p>
            <a:r>
              <a:rPr lang="es-AR" dirty="0"/>
              <a:t>Tabla de posiciones: actualización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94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C1F9-CFBD-69E0-DDE8-9C15C5B2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8F4E-6C67-2FD5-4C36-BEDA1BAE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679E8-5FCA-4231-3142-584F21B5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396" y="365125"/>
            <a:ext cx="899920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4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9495-C7AB-4878-9CF3-50CF997E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Autoeval</a:t>
            </a:r>
            <a:r>
              <a:rPr lang="es-AR" dirty="0"/>
              <a:t> clase 7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C3D05-DA66-4DF3-B7E8-0E1B734BE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Diseño de puestos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5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1CFBE-BD97-47BE-839D-620C42D6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Diseño de puestos – pregunta 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9E1F40-E6FB-4217-B838-522A6C85D358}"/>
              </a:ext>
            </a:extLst>
          </p:cNvPr>
          <p:cNvSpPr/>
          <p:nvPr/>
        </p:nvSpPr>
        <p:spPr>
          <a:xfrm>
            <a:off x="602296" y="1403822"/>
            <a:ext cx="10328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Debajo hay conceptos sobre expansión y </a:t>
            </a:r>
            <a:r>
              <a:rPr lang="es-ES" dirty="0" err="1"/>
              <a:t>enriquecimento</a:t>
            </a:r>
            <a:r>
              <a:rPr lang="es-ES" dirty="0"/>
              <a:t> del puesto, indicar a cuáles corresponde cada uno.</a:t>
            </a:r>
            <a:endParaRPr lang="es-ES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1CBDD2-415F-417A-95B6-C470CF31E526}"/>
              </a:ext>
            </a:extLst>
          </p:cNvPr>
          <p:cNvSpPr/>
          <p:nvPr/>
        </p:nvSpPr>
        <p:spPr>
          <a:xfrm>
            <a:off x="8928131" y="4614236"/>
            <a:ext cx="231236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/>
              <a:t>Enriquecimiento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del </a:t>
            </a:r>
            <a:r>
              <a:rPr lang="en-US" sz="2400" dirty="0" err="1"/>
              <a:t>puesto</a:t>
            </a:r>
            <a:endParaRPr lang="en-US" sz="4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F274AD-BE6F-4B99-8ECB-CBD1A65E0268}"/>
              </a:ext>
            </a:extLst>
          </p:cNvPr>
          <p:cNvSpPr/>
          <p:nvPr/>
        </p:nvSpPr>
        <p:spPr>
          <a:xfrm>
            <a:off x="9095100" y="2360053"/>
            <a:ext cx="197842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/>
              <a:t>Expansión</a:t>
            </a:r>
            <a:r>
              <a:rPr lang="en-US" sz="2400" dirty="0"/>
              <a:t> del </a:t>
            </a:r>
          </a:p>
          <a:p>
            <a:pPr algn="ctr"/>
            <a:r>
              <a:rPr lang="en-US" sz="2400" dirty="0" err="1"/>
              <a:t>puesto</a:t>
            </a:r>
            <a:endParaRPr lang="es-ES" sz="48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92764D-2314-4416-990B-FA755AF74F5B}"/>
              </a:ext>
            </a:extLst>
          </p:cNvPr>
          <p:cNvCxnSpPr>
            <a:cxnSpLocks/>
          </p:cNvCxnSpPr>
          <p:nvPr/>
        </p:nvCxnSpPr>
        <p:spPr>
          <a:xfrm>
            <a:off x="5134638" y="3579338"/>
            <a:ext cx="3477734" cy="1185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334F0C-9D0C-48F8-88F0-2B90741C02B0}"/>
              </a:ext>
            </a:extLst>
          </p:cNvPr>
          <p:cNvCxnSpPr>
            <a:cxnSpLocks/>
          </p:cNvCxnSpPr>
          <p:nvPr/>
        </p:nvCxnSpPr>
        <p:spPr>
          <a:xfrm>
            <a:off x="5134638" y="2374927"/>
            <a:ext cx="3793493" cy="325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BBC74A-767E-4516-AFB6-0E3DC2B0B6DC}"/>
              </a:ext>
            </a:extLst>
          </p:cNvPr>
          <p:cNvCxnSpPr>
            <a:cxnSpLocks/>
          </p:cNvCxnSpPr>
          <p:nvPr/>
        </p:nvCxnSpPr>
        <p:spPr>
          <a:xfrm>
            <a:off x="5134638" y="4692487"/>
            <a:ext cx="3477734" cy="396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C9867E-DABF-4F73-842F-29A6730EE1EA}"/>
              </a:ext>
            </a:extLst>
          </p:cNvPr>
          <p:cNvSpPr txBox="1"/>
          <p:nvPr/>
        </p:nvSpPr>
        <p:spPr>
          <a:xfrm>
            <a:off x="341644" y="1959429"/>
            <a:ext cx="445364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Es la práctica de aumentar el número de tareas por las cuales es responsable un individuo. Aumenta la amplitud del puesto, pero no la profundidad.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3A6D2-EC23-4A65-8E74-3E05813E8825}"/>
              </a:ext>
            </a:extLst>
          </p:cNvPr>
          <p:cNvSpPr txBox="1"/>
          <p:nvPr/>
        </p:nvSpPr>
        <p:spPr>
          <a:xfrm>
            <a:off x="341643" y="3073443"/>
            <a:ext cx="44536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Es la práctica de aumentar la discrecionalidad que puede utilizar un individuo para seleccionar sus actividades y resultados.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9D8AE-24E3-4298-90FB-BB55079AC80A}"/>
              </a:ext>
            </a:extLst>
          </p:cNvPr>
          <p:cNvSpPr txBox="1"/>
          <p:nvPr/>
        </p:nvSpPr>
        <p:spPr>
          <a:xfrm>
            <a:off x="341644" y="4287655"/>
            <a:ext cx="445363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Aumenta la profundidad del puesto y de acuerdo a esto satisface las necesidades de crecimiento y de autonomía</a:t>
            </a:r>
            <a:r>
              <a:rPr lang="es-ES" sz="2400" dirty="0"/>
              <a:t>.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37C06-3F7B-4EAF-ACE0-3071073CE490}"/>
              </a:ext>
            </a:extLst>
          </p:cNvPr>
          <p:cNvSpPr txBox="1"/>
          <p:nvPr/>
        </p:nvSpPr>
        <p:spPr>
          <a:xfrm>
            <a:off x="328072" y="5445233"/>
            <a:ext cx="446721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enfocan en lo contrario a la división del trabajo y son una manera de </a:t>
            </a:r>
            <a:r>
              <a:rPr lang="es-ES" sz="1600" dirty="0" err="1"/>
              <a:t>desespecialización</a:t>
            </a:r>
            <a:r>
              <a:rPr lang="es-ES" sz="1600" dirty="0"/>
              <a:t> o aumento de la cantidad de tareas que debe ejecutar un empleado.</a:t>
            </a:r>
            <a:endParaRPr lang="en-US" sz="11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821C9A-3D0E-49D1-B178-C27A22B87B9D}"/>
              </a:ext>
            </a:extLst>
          </p:cNvPr>
          <p:cNvCxnSpPr>
            <a:cxnSpLocks/>
          </p:cNvCxnSpPr>
          <p:nvPr/>
        </p:nvCxnSpPr>
        <p:spPr>
          <a:xfrm flipV="1">
            <a:off x="4978694" y="3025071"/>
            <a:ext cx="3775532" cy="2849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091388-E600-4A5E-93BB-3A947A3F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Diseño de puestos – pregunta 2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6ADCF2-C6DF-453B-9888-6F143E27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Diseño de puestos: proceso por el cual los gerentes deciden las tareas y autoridad por el puesto.</a:t>
            </a:r>
          </a:p>
          <a:p>
            <a:endParaRPr lang="es-ES" dirty="0"/>
          </a:p>
          <a:p>
            <a:pPr marL="0" indent="0" algn="ctr">
              <a:buNone/>
            </a:pPr>
            <a:r>
              <a:rPr lang="es-ES" dirty="0"/>
              <a:t>Verdadero</a:t>
            </a:r>
            <a:r>
              <a:rPr lang="es-ES" i="1" dirty="0"/>
              <a:t>			</a:t>
            </a:r>
            <a:r>
              <a:rPr lang="es-ES" dirty="0"/>
              <a:t>Falso</a:t>
            </a:r>
          </a:p>
          <a:p>
            <a:endParaRPr lang="en-US" dirty="0"/>
          </a:p>
          <a:p>
            <a:r>
              <a:rPr lang="es-ES" dirty="0"/>
              <a:t>Los dos factores de diseño son amplitud y frecuencia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s-ES" dirty="0"/>
              <a:t>Verdadero</a:t>
            </a:r>
            <a:r>
              <a:rPr lang="es-ES" i="1" dirty="0"/>
              <a:t>			</a:t>
            </a:r>
            <a:r>
              <a:rPr lang="es-ES" dirty="0"/>
              <a:t>Falso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289FC14-75A2-416A-AB4B-5B3E503DCAEB}"/>
              </a:ext>
            </a:extLst>
          </p:cNvPr>
          <p:cNvSpPr/>
          <p:nvPr/>
        </p:nvSpPr>
        <p:spPr>
          <a:xfrm>
            <a:off x="3487480" y="3072809"/>
            <a:ext cx="2286000" cy="7974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74E22B-E637-44F3-B1D1-9C80C63877F9}"/>
              </a:ext>
            </a:extLst>
          </p:cNvPr>
          <p:cNvSpPr/>
          <p:nvPr/>
        </p:nvSpPr>
        <p:spPr>
          <a:xfrm>
            <a:off x="6797750" y="5075274"/>
            <a:ext cx="2286000" cy="7974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4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494C5-69F7-4F0D-811F-31BFC65C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Toma de decisiones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E3B92-8711-41AC-B0FC-A0447F159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9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Concepto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4000" dirty="0"/>
              <a:t>Es un proceso metodológico para determinar el </a:t>
            </a:r>
            <a:r>
              <a:rPr lang="es-AR" sz="4000" u="sng" dirty="0"/>
              <a:t>curso de acción </a:t>
            </a:r>
            <a:r>
              <a:rPr lang="es-AR" sz="4000" dirty="0"/>
              <a:t>que </a:t>
            </a:r>
            <a:r>
              <a:rPr lang="es-AR" sz="4000" u="sng" dirty="0"/>
              <a:t>mejor cumpla </a:t>
            </a:r>
            <a:r>
              <a:rPr lang="es-AR" sz="4000" dirty="0"/>
              <a:t>con los objetivos, cubriendo </a:t>
            </a:r>
            <a:r>
              <a:rPr lang="es-AR" sz="4000" u="sng" dirty="0"/>
              <a:t>riesgos aceptables</a:t>
            </a:r>
            <a:r>
              <a:rPr lang="es-AR" sz="4000" dirty="0"/>
              <a:t>.</a:t>
            </a:r>
          </a:p>
          <a:p>
            <a:r>
              <a:rPr lang="es-AR" sz="4000" dirty="0"/>
              <a:t>Ayuda a balancear el mejor curso de acción para satisfacer los objetivos contra los riesgos inherentes.</a:t>
            </a:r>
          </a:p>
          <a:p>
            <a:r>
              <a:rPr lang="es-AR" sz="4000" dirty="0"/>
              <a:t>Toma de decisiones = resolución de problemas.</a:t>
            </a:r>
          </a:p>
          <a:p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576820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3200" dirty="0"/>
              <a:t>Muchos directivos no cuentan con una mentalidad de resolución de problemas, accionando sólo cuando se presentan.</a:t>
            </a:r>
          </a:p>
          <a:p>
            <a:r>
              <a:rPr lang="es-AR" sz="3200" dirty="0"/>
              <a:t>Se suelen tomar decisiones de manera deficiente por la falta de método.</a:t>
            </a:r>
          </a:p>
          <a:p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207552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Fuera del libro #1. Análisis de causa raíz – metodologías de resolución de problemas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5115"/>
            <a:ext cx="10515600" cy="4351338"/>
          </a:xfrm>
        </p:spPr>
        <p:txBody>
          <a:bodyPr/>
          <a:lstStyle/>
          <a:p>
            <a:r>
              <a:rPr lang="es-AR" dirty="0"/>
              <a:t>Alguna vez usaron algún método?</a:t>
            </a:r>
          </a:p>
          <a:p>
            <a:endParaRPr lang="es-AR" dirty="0"/>
          </a:p>
          <a:p>
            <a:r>
              <a:rPr lang="es-AR" dirty="0"/>
              <a:t>Algunos para mencionar:</a:t>
            </a:r>
          </a:p>
          <a:p>
            <a:pPr lvl="1"/>
            <a:r>
              <a:rPr lang="es-AR" dirty="0"/>
              <a:t>5 por qué</a:t>
            </a:r>
          </a:p>
          <a:p>
            <a:pPr lvl="1"/>
            <a:r>
              <a:rPr lang="es-AR" dirty="0"/>
              <a:t>Ishikawa</a:t>
            </a:r>
          </a:p>
          <a:p>
            <a:pPr lvl="1"/>
            <a:r>
              <a:rPr lang="es-AR" dirty="0"/>
              <a:t>5W2H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5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5 por qué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Se parte de un postulado - problema:</a:t>
            </a:r>
          </a:p>
          <a:p>
            <a:pPr marL="0" indent="0">
              <a:buNone/>
            </a:pPr>
            <a:r>
              <a:rPr lang="es-ES" dirty="0"/>
              <a:t>				“Mi auto no arranca”</a:t>
            </a:r>
          </a:p>
          <a:p>
            <a:r>
              <a:rPr lang="es-ES" dirty="0"/>
              <a:t>¿Por qué no arranca? </a:t>
            </a:r>
            <a:r>
              <a:rPr lang="es-ES" i="1" dirty="0"/>
              <a:t>Porque la batería está muerta.</a:t>
            </a:r>
          </a:p>
          <a:p>
            <a:r>
              <a:rPr lang="es-ES" dirty="0"/>
              <a:t>¿Por qué la batería está muerta? </a:t>
            </a:r>
            <a:r>
              <a:rPr lang="es-ES" i="1" dirty="0"/>
              <a:t>Porque el alternador no funciona.</a:t>
            </a:r>
          </a:p>
          <a:p>
            <a:r>
              <a:rPr lang="es-ES" dirty="0"/>
              <a:t>¿Por qué el alternador no funciona? </a:t>
            </a:r>
            <a:r>
              <a:rPr lang="es-ES" i="1" dirty="0"/>
              <a:t>Porque se rompió la correa.</a:t>
            </a:r>
          </a:p>
          <a:p>
            <a:r>
              <a:rPr lang="es-ES" dirty="0"/>
              <a:t>¿Por qué se rompió la correa? </a:t>
            </a:r>
            <a:r>
              <a:rPr lang="es-ES" i="1" dirty="0"/>
              <a:t>Porque el alternador está fuera de su tiempo útil de vida y no fue reemplazado.</a:t>
            </a:r>
          </a:p>
          <a:p>
            <a:r>
              <a:rPr lang="es-ES" dirty="0"/>
              <a:t>¿Por qué no fue reemplazado? </a:t>
            </a:r>
            <a:r>
              <a:rPr lang="es-ES" i="1" dirty="0"/>
              <a:t>Porque no estoy manteniendo mi auto de acuerdo a las recomendaciones del fabricante.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553199" y="6581001"/>
            <a:ext cx="55450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Fuente: https://dosideas.com/noticias/metodologias/366-la-tecnica-de-los-5-porque</a:t>
            </a:r>
          </a:p>
        </p:txBody>
      </p:sp>
    </p:spTree>
    <p:extLst>
      <p:ext uri="{BB962C8B-B14F-4D97-AF65-F5344CB8AC3E}">
        <p14:creationId xmlns:p14="http://schemas.microsoft.com/office/powerpoint/2010/main" val="311379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Ishikawa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shikaw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155" y="1411068"/>
            <a:ext cx="9209690" cy="518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09489" y="6488668"/>
            <a:ext cx="45825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Fuente: https://think-productivity.com/diagrama-ishikawa/</a:t>
            </a:r>
          </a:p>
        </p:txBody>
      </p:sp>
    </p:spTree>
    <p:extLst>
      <p:ext uri="{BB962C8B-B14F-4D97-AF65-F5344CB8AC3E}">
        <p14:creationId xmlns:p14="http://schemas.microsoft.com/office/powerpoint/2010/main" val="1222716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3552-0C98-431A-BFAE-E13F7A7B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5W2H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C1FCB-4CF4-4414-B785-13B6C6B97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976AD-6C05-4E38-B9E8-09157F1EF0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96980" y="795128"/>
            <a:ext cx="6055304" cy="569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19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Problemática – falta de consenso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Cada participante se vuelve mas rígido e impermeable a las ideas del resto.</a:t>
            </a:r>
          </a:p>
          <a:p>
            <a:r>
              <a:rPr lang="es-AR" dirty="0"/>
              <a:t>Se impide desarrollar o pensar nuevas ideas.</a:t>
            </a:r>
          </a:p>
          <a:p>
            <a:r>
              <a:rPr lang="es-AR" dirty="0"/>
              <a:t>El foco es mas en ganar con la idea propia que la evaluación correcta.</a:t>
            </a:r>
          </a:p>
          <a:p>
            <a:r>
              <a:rPr lang="es-AR" dirty="0"/>
              <a:t>Muchas veces se gana por cansancio.</a:t>
            </a:r>
          </a:p>
          <a:p>
            <a:r>
              <a:rPr lang="es-AR" dirty="0"/>
              <a:t>No siempre la alternativa elegida es la mejor.</a:t>
            </a:r>
          </a:p>
        </p:txBody>
      </p:sp>
    </p:spTree>
    <p:extLst>
      <p:ext uri="{BB962C8B-B14F-4D97-AF65-F5344CB8AC3E}">
        <p14:creationId xmlns:p14="http://schemas.microsoft.com/office/powerpoint/2010/main" val="3849142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Criterios para tomar decisiones eficaces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Concentrarse en lo realmente importante.</a:t>
            </a:r>
          </a:p>
          <a:p>
            <a:r>
              <a:rPr lang="es-AR" dirty="0"/>
              <a:t>Correr el proceso lógica y coherentemente.</a:t>
            </a:r>
          </a:p>
          <a:p>
            <a:r>
              <a:rPr lang="es-AR" dirty="0"/>
              <a:t>Considerar los elementos tanto objetivos como subjetivos.</a:t>
            </a:r>
          </a:p>
          <a:p>
            <a:r>
              <a:rPr lang="es-AR" dirty="0"/>
              <a:t>Ser analíticos </a:t>
            </a:r>
            <a:r>
              <a:rPr lang="es-AR" u="sng" dirty="0"/>
              <a:t>e</a:t>
            </a:r>
            <a:r>
              <a:rPr lang="es-AR" dirty="0"/>
              <a:t> intuitivos.</a:t>
            </a:r>
          </a:p>
          <a:p>
            <a:r>
              <a:rPr lang="es-AR" dirty="0"/>
              <a:t>Recabar la información necesaria.</a:t>
            </a:r>
          </a:p>
          <a:p>
            <a:r>
              <a:rPr lang="es-AR" dirty="0"/>
              <a:t>Ser directos y flexibles antes, durante y después del proceso.</a:t>
            </a:r>
          </a:p>
        </p:txBody>
      </p:sp>
    </p:spTree>
    <p:extLst>
      <p:ext uri="{BB962C8B-B14F-4D97-AF65-F5344CB8AC3E}">
        <p14:creationId xmlns:p14="http://schemas.microsoft.com/office/powerpoint/2010/main" val="433296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Eficacia y eficiencia del proceso.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AR" sz="3200" dirty="0"/>
              <a:t>Se debe conocer con alto detalle:</a:t>
            </a:r>
          </a:p>
          <a:p>
            <a:r>
              <a:rPr lang="es-AR" sz="3200" dirty="0"/>
              <a:t>El Quién.  </a:t>
            </a:r>
          </a:p>
          <a:p>
            <a:r>
              <a:rPr lang="es-AR" sz="3200" dirty="0"/>
              <a:t>El Qué.</a:t>
            </a:r>
          </a:p>
          <a:p>
            <a:pPr lvl="1"/>
            <a:r>
              <a:rPr lang="es-AR" sz="2800" dirty="0"/>
              <a:t>Información.</a:t>
            </a:r>
          </a:p>
          <a:p>
            <a:pPr lvl="1"/>
            <a:r>
              <a:rPr lang="es-AR" sz="2800" dirty="0"/>
              <a:t>Ideas.</a:t>
            </a:r>
          </a:p>
          <a:p>
            <a:pPr lvl="1"/>
            <a:r>
              <a:rPr lang="es-AR" sz="2800" dirty="0"/>
              <a:t>Juicios.</a:t>
            </a:r>
          </a:p>
          <a:p>
            <a:pPr lvl="1"/>
            <a:r>
              <a:rPr lang="es-AR" sz="2800" dirty="0"/>
              <a:t>Conclusiones.</a:t>
            </a:r>
          </a:p>
          <a:p>
            <a:r>
              <a:rPr lang="es-AR" sz="3200" dirty="0"/>
              <a:t>El cómo.</a:t>
            </a:r>
          </a:p>
          <a:p>
            <a:pPr lvl="1"/>
            <a:r>
              <a:rPr lang="es-AR" sz="2800" dirty="0"/>
              <a:t>Clima interpersonal.</a:t>
            </a:r>
          </a:p>
          <a:p>
            <a:pPr lvl="1"/>
            <a:r>
              <a:rPr lang="es-AR" sz="2800" dirty="0"/>
              <a:t>Método de aplicación.</a:t>
            </a:r>
          </a:p>
          <a:p>
            <a:pPr>
              <a:buNone/>
            </a:pP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94415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Elementos esenciales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Objetivos</a:t>
            </a:r>
          </a:p>
          <a:p>
            <a:pPr lvl="1"/>
            <a:r>
              <a:rPr lang="es-AR" dirty="0"/>
              <a:t>Nivel de aspiración sobre el desempeño.</a:t>
            </a:r>
          </a:p>
          <a:p>
            <a:pPr lvl="1"/>
            <a:r>
              <a:rPr lang="es-AR" dirty="0"/>
              <a:t>Resultados o atributos a lograr.</a:t>
            </a:r>
          </a:p>
          <a:p>
            <a:pPr lvl="1"/>
            <a:r>
              <a:rPr lang="es-AR" dirty="0"/>
              <a:t>Tanto individualmente como en las organizaciones, se estructuran en base a escalas de valores.</a:t>
            </a:r>
          </a:p>
          <a:p>
            <a:r>
              <a:rPr lang="es-AR" dirty="0"/>
              <a:t>Cursos de acción (alternativas)</a:t>
            </a:r>
          </a:p>
          <a:p>
            <a:pPr lvl="1"/>
            <a:r>
              <a:rPr lang="es-AR" dirty="0"/>
              <a:t>Conductas posibles para lograr los objetivos.</a:t>
            </a:r>
          </a:p>
          <a:p>
            <a:pPr lvl="1"/>
            <a:r>
              <a:rPr lang="es-AR" dirty="0"/>
              <a:t>Implican la facultad de elección, control sobre el curso de acción y un proceso activo por parte del decisor.</a:t>
            </a:r>
          </a:p>
          <a:p>
            <a:pPr lvl="1"/>
            <a:r>
              <a:rPr lang="es-AR" dirty="0"/>
              <a:t>Sin estas 3 condiciones, es imposición y no decisión.</a:t>
            </a:r>
          </a:p>
        </p:txBody>
      </p:sp>
    </p:spTree>
    <p:extLst>
      <p:ext uri="{BB962C8B-B14F-4D97-AF65-F5344CB8AC3E}">
        <p14:creationId xmlns:p14="http://schemas.microsoft.com/office/powerpoint/2010/main" val="27476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Elementos esenciales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Variables no controlables</a:t>
            </a:r>
          </a:p>
          <a:p>
            <a:pPr lvl="1"/>
            <a:r>
              <a:rPr lang="es-AR" dirty="0"/>
              <a:t>Son importantes para la decisión, pero no se pueden controlar.</a:t>
            </a:r>
          </a:p>
          <a:p>
            <a:pPr lvl="1"/>
            <a:r>
              <a:rPr lang="es-AR" dirty="0"/>
              <a:t>Importante separarlas de las controlables.</a:t>
            </a:r>
          </a:p>
          <a:p>
            <a:r>
              <a:rPr lang="es-AR" dirty="0"/>
              <a:t>El Hombre</a:t>
            </a:r>
          </a:p>
          <a:p>
            <a:pPr lvl="1"/>
            <a:r>
              <a:rPr lang="es-AR" dirty="0"/>
              <a:t>Enfocan el problema, proyectan la situación.</a:t>
            </a:r>
          </a:p>
          <a:p>
            <a:pPr lvl="1"/>
            <a:r>
              <a:rPr lang="es-AR" dirty="0"/>
              <a:t>Establecen el objetivo, evalúan las alternativas.</a:t>
            </a:r>
          </a:p>
          <a:p>
            <a:pPr lvl="1"/>
            <a:r>
              <a:rPr lang="es-AR" dirty="0"/>
              <a:t>Alto nivel de subjetividad (valores, creencias, experiencias, conocimientos)</a:t>
            </a:r>
          </a:p>
          <a:p>
            <a:pPr lvl="1"/>
            <a:endParaRPr lang="es-AR" dirty="0"/>
          </a:p>
          <a:p>
            <a:pPr marL="971550" lvl="1" indent="-51435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62698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Etapas del proceso decisorio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7072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2698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Análisis de situación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Se reconoce la existencia de un síntoma.</a:t>
            </a:r>
          </a:p>
          <a:p>
            <a:pPr lvl="1"/>
            <a:r>
              <a:rPr lang="es-AR" sz="3200" dirty="0"/>
              <a:t>Oportunidad de decisión: brecha entre realidad prevista y realidad deseada.</a:t>
            </a:r>
          </a:p>
          <a:p>
            <a:pPr lvl="1"/>
            <a:r>
              <a:rPr lang="es-AR" sz="3200" dirty="0"/>
              <a:t>Los objetivos se definen provisoriamente.  Luego el proceso mismo puede modificarlos.</a:t>
            </a:r>
          </a:p>
          <a:p>
            <a:pPr lvl="1"/>
            <a:r>
              <a:rPr lang="es-AR" sz="3200" dirty="0"/>
              <a:t>Se deben establecer las variables relevantes y las restricciones que impiden a estas variables alcanzar los objetivos.</a:t>
            </a:r>
          </a:p>
          <a:p>
            <a:pPr lvl="1"/>
            <a:endParaRPr lang="es-AR" sz="3200" dirty="0"/>
          </a:p>
          <a:p>
            <a:pPr marL="971550" lvl="1" indent="-514350">
              <a:buNone/>
            </a:pPr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200182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988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Análisis de situación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Toma y análisis de información.  Diagnóstico.</a:t>
            </a:r>
          </a:p>
          <a:p>
            <a:pPr lvl="1"/>
            <a:r>
              <a:rPr lang="es-AR" sz="3200" dirty="0"/>
              <a:t>Se debe sumergir en la situación.</a:t>
            </a:r>
          </a:p>
          <a:p>
            <a:pPr lvl="1"/>
            <a:r>
              <a:rPr lang="es-AR" sz="3200" dirty="0"/>
              <a:t>Se deben definir claramente dos elementos fundamentales: el universo y el decisor.</a:t>
            </a:r>
          </a:p>
          <a:p>
            <a:pPr marL="971550" lvl="1" indent="-514350">
              <a:buNone/>
            </a:pPr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470126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7471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Análisis de preocupaciones (situación)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Reconocer la situación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Separar las situaciones en componentes manejables</a:t>
            </a:r>
          </a:p>
          <a:p>
            <a:pPr lvl="2"/>
            <a:r>
              <a:rPr lang="es-AR" sz="2800" dirty="0"/>
              <a:t>Enumerar situaciones adicionales que hay que resolver.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Establecer prioridades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Planear la resolución de las situaciones.</a:t>
            </a:r>
          </a:p>
          <a:p>
            <a:pPr lvl="2"/>
            <a:r>
              <a:rPr lang="es-AR" sz="2800" dirty="0"/>
              <a:t>Seleccionar el tipo de proceso a </a:t>
            </a:r>
            <a:r>
              <a:rPr lang="es-AR" sz="2800" dirty="0" err="1"/>
              <a:t>a</a:t>
            </a:r>
            <a:r>
              <a:rPr lang="es-AR" sz="2800" dirty="0"/>
              <a:t> aplicar.</a:t>
            </a:r>
          </a:p>
          <a:p>
            <a:pPr lvl="2"/>
            <a:r>
              <a:rPr lang="es-AR" sz="2800" dirty="0"/>
              <a:t>Planear el quién, qué, dónde y cuándo de la resolución.</a:t>
            </a:r>
          </a:p>
          <a:p>
            <a:pPr marL="971550" lvl="1" indent="-514350">
              <a:buNone/>
            </a:pPr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9838679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2252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Análisis de situación - priorización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220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s-AR" sz="3200" dirty="0"/>
              <a:t>Factores:</a:t>
            </a:r>
          </a:p>
          <a:p>
            <a:pPr lvl="1"/>
            <a:r>
              <a:rPr lang="es-AR" sz="3200" dirty="0"/>
              <a:t>Urgencia</a:t>
            </a:r>
          </a:p>
          <a:p>
            <a:pPr lvl="1"/>
            <a:r>
              <a:rPr lang="es-AR" sz="3200" dirty="0"/>
              <a:t>Tendencia</a:t>
            </a:r>
          </a:p>
          <a:p>
            <a:pPr lvl="1"/>
            <a:r>
              <a:rPr lang="es-AR" sz="3200" dirty="0"/>
              <a:t>Impacto</a:t>
            </a:r>
          </a:p>
          <a:p>
            <a:pPr lvl="1"/>
            <a:endParaRPr lang="es-AR" sz="3200" dirty="0"/>
          </a:p>
          <a:p>
            <a:pPr marL="457200" lvl="1" indent="0">
              <a:buNone/>
            </a:pPr>
            <a:r>
              <a:rPr lang="es-AR" sz="3200" dirty="0"/>
              <a:t>Orden de prioridades!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Urgente e importante.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Urgente o importante.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AR" sz="3200" dirty="0"/>
              <a:t>Ni urgente ni importante.</a:t>
            </a:r>
          </a:p>
          <a:p>
            <a:pPr marL="971550" lvl="1" indent="-514350">
              <a:buNone/>
            </a:pPr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0195668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Brace 4"/>
          <p:cNvSpPr/>
          <p:nvPr/>
        </p:nvSpPr>
        <p:spPr>
          <a:xfrm>
            <a:off x="3462068" y="2881223"/>
            <a:ext cx="310551" cy="8913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TextBox 5"/>
          <p:cNvSpPr txBox="1"/>
          <p:nvPr/>
        </p:nvSpPr>
        <p:spPr>
          <a:xfrm>
            <a:off x="3922143" y="3019245"/>
            <a:ext cx="2495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/>
              <a:t>Importancia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3156182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Evaluación de alternativas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Se ordenan las alternativas.</a:t>
            </a:r>
          </a:p>
          <a:p>
            <a:pPr lvl="1"/>
            <a:r>
              <a:rPr lang="es-AR" sz="3200" dirty="0"/>
              <a:t>Se establecen valores numéricos.</a:t>
            </a:r>
          </a:p>
          <a:p>
            <a:pPr lvl="1"/>
            <a:r>
              <a:rPr lang="es-AR" sz="3200" dirty="0"/>
              <a:t>Según los criterios, se elige la alternativa óptima.</a:t>
            </a:r>
          </a:p>
          <a:p>
            <a:pPr lvl="1"/>
            <a:r>
              <a:rPr lang="es-AR" sz="3200" dirty="0"/>
              <a:t>Se evalúan los posibles problemas de implementación.</a:t>
            </a:r>
          </a:p>
          <a:p>
            <a:pPr marL="971550" lvl="1" indent="-514350">
              <a:buNone/>
            </a:pPr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45794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002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Selección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Se establece cuál es la alternativa mas equilibrada.</a:t>
            </a:r>
          </a:p>
          <a:p>
            <a:pPr lvl="1"/>
            <a:r>
              <a:rPr lang="es-AR" sz="3200" dirty="0"/>
              <a:t>Riesgos aceptables.</a:t>
            </a:r>
          </a:p>
          <a:p>
            <a:pPr lvl="1"/>
            <a:r>
              <a:rPr lang="es-AR" sz="3200" dirty="0"/>
              <a:t>Tres conceptos para decidir:</a:t>
            </a:r>
          </a:p>
          <a:p>
            <a:pPr lvl="2"/>
            <a:r>
              <a:rPr lang="es-AR" sz="2800" dirty="0"/>
              <a:t>Maximizar: la mejor decisión posible.</a:t>
            </a:r>
          </a:p>
          <a:p>
            <a:pPr lvl="2"/>
            <a:r>
              <a:rPr lang="es-AR" sz="2800" dirty="0"/>
              <a:t>Satisfacer: mínimamente aceptable y que cumpla la meta.</a:t>
            </a:r>
          </a:p>
          <a:p>
            <a:pPr lvl="2"/>
            <a:r>
              <a:rPr lang="es-AR" sz="2800" dirty="0"/>
              <a:t>Optimizar: el mejor equilibrio entre las metas.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22278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2407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Fuera del libro #2.  Matriz de riesgos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://www.ceolevel.com/wp-content/uploads/2016/11/matriz_riesgos_blo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741" y="1690688"/>
            <a:ext cx="9492518" cy="447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53908" y="6584667"/>
            <a:ext cx="567396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/>
              <a:t>Fuente: http://www.ceolevel.com/como-crear-una-efectiva-matriz-de-riesgos-en-tan-solo-3-pasos</a:t>
            </a:r>
          </a:p>
        </p:txBody>
      </p:sp>
    </p:spTree>
    <p:extLst>
      <p:ext uri="{BB962C8B-B14F-4D97-AF65-F5344CB8AC3E}">
        <p14:creationId xmlns:p14="http://schemas.microsoft.com/office/powerpoint/2010/main" val="3130920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46B514-2D44-1A24-5687-D3C4857D1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65" y="0"/>
            <a:ext cx="5300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30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Implementación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Pueden hacerlo quienes decidieron o delegarlo.</a:t>
            </a:r>
          </a:p>
          <a:p>
            <a:pPr lvl="1"/>
            <a:r>
              <a:rPr lang="es-AR" sz="3200" dirty="0"/>
              <a:t>Por ello, es clave la comprensión total sobre la elección tomada y el compromiso.  </a:t>
            </a:r>
          </a:p>
          <a:p>
            <a:pPr lvl="1"/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250195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192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Implementación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La planificación debe contemplar:</a:t>
            </a:r>
          </a:p>
          <a:p>
            <a:pPr lvl="2"/>
            <a:r>
              <a:rPr lang="es-AR" sz="2800" dirty="0"/>
              <a:t>Cómo se llevará a cabo.</a:t>
            </a:r>
          </a:p>
          <a:p>
            <a:pPr lvl="2"/>
            <a:r>
              <a:rPr lang="es-AR" sz="2800" dirty="0"/>
              <a:t>Quién o quiénes serán los responsables.</a:t>
            </a:r>
          </a:p>
          <a:p>
            <a:pPr lvl="2"/>
            <a:r>
              <a:rPr lang="es-AR" sz="2800" dirty="0"/>
              <a:t>Cuánto se pretende alcanzar de resultados.</a:t>
            </a:r>
          </a:p>
          <a:p>
            <a:pPr lvl="2"/>
            <a:r>
              <a:rPr lang="es-AR" sz="2800" dirty="0"/>
              <a:t>Cuándo se lograrán.</a:t>
            </a:r>
          </a:p>
          <a:p>
            <a:pPr lvl="2"/>
            <a:r>
              <a:rPr lang="es-AR" sz="2800" dirty="0"/>
              <a:t>Adónde se actuará.</a:t>
            </a:r>
          </a:p>
          <a:p>
            <a:pPr lvl="2"/>
            <a:r>
              <a:rPr lang="es-AR" sz="2800" dirty="0"/>
              <a:t>Comunicación eficaz: motivar y orientar la acción.</a:t>
            </a:r>
          </a:p>
          <a:p>
            <a:pPr lvl="2"/>
            <a:r>
              <a:rPr lang="es-AR" sz="2800" dirty="0"/>
              <a:t>Medidas de refuerzo.</a:t>
            </a:r>
          </a:p>
          <a:p>
            <a:pPr lvl="2"/>
            <a:r>
              <a:rPr lang="es-AR" sz="2800" dirty="0"/>
              <a:t>Medidas de control. Detección de problemas en la ejecución.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5683661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3336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176E-E872-D6DC-35E6-68206A96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Fuera del libro #3.  Matriz RACI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CE350-2BC8-0D74-CC1A-074F98DFE6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46" b="11294"/>
          <a:stretch>
            <a:fillRect/>
          </a:stretch>
        </p:blipFill>
        <p:spPr>
          <a:xfrm>
            <a:off x="1602129" y="1523945"/>
            <a:ext cx="8987741" cy="4968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72A959-2226-7FB3-1606-9F4BE8BD7145}"/>
              </a:ext>
            </a:extLst>
          </p:cNvPr>
          <p:cNvSpPr txBox="1"/>
          <p:nvPr/>
        </p:nvSpPr>
        <p:spPr>
          <a:xfrm>
            <a:off x="8016690" y="6550223"/>
            <a:ext cx="41753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dirty="0"/>
              <a:t>Fuente: https://blog.hubspot.es/marketing/matriz-raci</a:t>
            </a:r>
          </a:p>
        </p:txBody>
      </p:sp>
    </p:spTree>
    <p:extLst>
      <p:ext uri="{BB962C8B-B14F-4D97-AF65-F5344CB8AC3E}">
        <p14:creationId xmlns:p14="http://schemas.microsoft.com/office/powerpoint/2010/main" val="4263063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Implementación.  Fallas.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971550" lvl="1" indent="-514350">
              <a:buNone/>
            </a:pPr>
            <a:r>
              <a:rPr lang="es-AR" sz="3200" dirty="0"/>
              <a:t>Posibles fallas:</a:t>
            </a:r>
          </a:p>
          <a:p>
            <a:pPr lvl="1"/>
            <a:r>
              <a:rPr lang="es-AR" sz="3200" dirty="0"/>
              <a:t>No realizar un buen estudio de situación.</a:t>
            </a:r>
          </a:p>
          <a:p>
            <a:pPr lvl="1"/>
            <a:r>
              <a:rPr lang="es-AR" sz="3200" dirty="0"/>
              <a:t>Sobreestimación del propio juicio.</a:t>
            </a:r>
          </a:p>
          <a:p>
            <a:pPr lvl="1"/>
            <a:r>
              <a:rPr lang="es-AR" sz="3200" dirty="0"/>
              <a:t>Resolver síntomas en lugar de las causas.</a:t>
            </a:r>
          </a:p>
          <a:p>
            <a:pPr lvl="1"/>
            <a:r>
              <a:rPr lang="es-AR" sz="3200" dirty="0"/>
              <a:t>Demorar las decisiones por temor a equivocarse.</a:t>
            </a:r>
          </a:p>
          <a:p>
            <a:pPr lvl="1"/>
            <a:r>
              <a:rPr lang="es-AR" sz="3200" dirty="0"/>
              <a:t>Cambio constante de prioridades.</a:t>
            </a:r>
          </a:p>
          <a:p>
            <a:pPr lvl="1"/>
            <a:r>
              <a:rPr lang="es-AR" sz="3200" dirty="0"/>
              <a:t>Falta de visión: proyectar la solución a un problema equivocado.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1657287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7509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Implementación.  Fallas.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Decisiones demasiado rápidas.</a:t>
            </a:r>
          </a:p>
          <a:p>
            <a:pPr lvl="1"/>
            <a:r>
              <a:rPr lang="es-AR" sz="3200" dirty="0"/>
              <a:t>Falta de estructuración: no tener un proceso sistemático para decidir.</a:t>
            </a:r>
          </a:p>
          <a:p>
            <a:pPr lvl="1"/>
            <a:r>
              <a:rPr lang="es-AR" sz="3200" dirty="0"/>
              <a:t>Tomar sólo </a:t>
            </a:r>
            <a:r>
              <a:rPr lang="es-AR" sz="3200"/>
              <a:t>la primera alternativa.</a:t>
            </a:r>
            <a:endParaRPr lang="es-AR" sz="3200" dirty="0"/>
          </a:p>
          <a:p>
            <a:pPr lvl="1"/>
            <a:r>
              <a:rPr lang="es-AR" sz="3200" dirty="0"/>
              <a:t>Descansar sobre recetas (lo que funcionó antes, no necesariamente funcionará ahora).</a:t>
            </a:r>
          </a:p>
          <a:p>
            <a:pPr lvl="1"/>
            <a:r>
              <a:rPr lang="es-AR" sz="3200" dirty="0"/>
              <a:t>Falta de previsión, de anticipación de riesgos y de imaginación.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668677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996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Implementación.  Fallas.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s-AR" sz="3200" dirty="0"/>
              <a:t>Error de manejo de grupos.</a:t>
            </a:r>
          </a:p>
          <a:p>
            <a:pPr lvl="1"/>
            <a:r>
              <a:rPr lang="es-AR" sz="3200" dirty="0"/>
              <a:t>No pedir otras opiniones.</a:t>
            </a:r>
          </a:p>
          <a:p>
            <a:pPr lvl="1"/>
            <a:r>
              <a:rPr lang="es-AR" sz="3200" dirty="0"/>
              <a:t>Falta de seguimiento posterior.</a:t>
            </a:r>
          </a:p>
          <a:p>
            <a:pPr lvl="1"/>
            <a:endParaRPr lang="es-AR" sz="32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015146"/>
              </p:ext>
            </p:extLst>
          </p:nvPr>
        </p:nvGraphicFramePr>
        <p:xfrm>
          <a:off x="7591246" y="5900468"/>
          <a:ext cx="4599317" cy="118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416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Estilos de toma de decisiones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Mas allá de ser lógico o creativo, debe ser racional y sencillo.</a:t>
            </a:r>
          </a:p>
          <a:p>
            <a:pPr marL="0" indent="0">
              <a:buNone/>
            </a:pPr>
            <a:r>
              <a:rPr lang="es-AR" dirty="0"/>
              <a:t>Estilos:</a:t>
            </a:r>
          </a:p>
          <a:p>
            <a:r>
              <a:rPr lang="es-AR" dirty="0"/>
              <a:t>Autocrático: decide el responsable, el resto aporta información.</a:t>
            </a:r>
          </a:p>
          <a:p>
            <a:r>
              <a:rPr lang="es-AR" dirty="0"/>
              <a:t>Consultivo: todos participan en el proceso decisorio con ideas y sugerencias, pero el decisor toma la suya propia.</a:t>
            </a:r>
          </a:p>
          <a:p>
            <a:r>
              <a:rPr lang="es-AR" dirty="0"/>
              <a:t>Participativo: la decisión se toma en conjunto con todo el equipo.</a:t>
            </a:r>
          </a:p>
          <a:p>
            <a:endParaRPr lang="es-AR" dirty="0"/>
          </a:p>
          <a:p>
            <a:pPr marL="0" indent="0">
              <a:buNone/>
            </a:pPr>
            <a:r>
              <a:rPr lang="es-AR" dirty="0"/>
              <a:t>Vale aclarar que no hay un estilo único, sino que dependiendo de la situación, pueden variarse.</a:t>
            </a:r>
          </a:p>
          <a:p>
            <a:pPr marL="971550" lvl="1" indent="-51435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6625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Tipos de decisiones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None/>
            </a:pPr>
            <a:r>
              <a:rPr lang="es-AR" sz="3200" dirty="0"/>
              <a:t>Según el grado de estructuración del problema:</a:t>
            </a:r>
          </a:p>
          <a:p>
            <a:pPr lvl="1"/>
            <a:r>
              <a:rPr lang="es-AR" sz="3200" dirty="0"/>
              <a:t>Programadas: se corresponden con problemas estructurados.  Por ello, se puede desarrollar una solución genérica.</a:t>
            </a:r>
          </a:p>
          <a:p>
            <a:pPr lvl="1"/>
            <a:r>
              <a:rPr lang="es-AR" sz="3200" dirty="0"/>
              <a:t>No programadas: problemas no estructurados, ya sea por su dificultad o por la infrecuencia.</a:t>
            </a:r>
          </a:p>
          <a:p>
            <a:pPr marL="971550" lvl="1" indent="-51435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3649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Tipos de decisiones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None/>
            </a:pPr>
            <a:r>
              <a:rPr lang="es-AR" sz="3200" dirty="0"/>
              <a:t>Según la dimensión temporal:</a:t>
            </a:r>
          </a:p>
          <a:p>
            <a:pPr lvl="1"/>
            <a:r>
              <a:rPr lang="es-AR" sz="3200" dirty="0"/>
              <a:t>Proactivas: solución a problemas todavía no existentes.</a:t>
            </a:r>
          </a:p>
          <a:p>
            <a:pPr lvl="1"/>
            <a:r>
              <a:rPr lang="es-AR" sz="3200" dirty="0"/>
              <a:t>Reactivas: ya existentes.  Solución mas urgente.</a:t>
            </a:r>
          </a:p>
          <a:p>
            <a:pPr marL="457200" lvl="1" indent="0">
              <a:buNone/>
            </a:pPr>
            <a:endParaRPr lang="es-AR" sz="3200" dirty="0"/>
          </a:p>
          <a:p>
            <a:pPr marL="457200" lvl="1" indent="0">
              <a:buNone/>
            </a:pPr>
            <a:r>
              <a:rPr lang="es-AR" sz="3200" dirty="0"/>
              <a:t>Según el comportamiento del decisor:</a:t>
            </a:r>
          </a:p>
          <a:p>
            <a:pPr lvl="1"/>
            <a:r>
              <a:rPr lang="es-AR" sz="3200" dirty="0"/>
              <a:t>Sistemáticas: utiliza una secuencia estandarizada.</a:t>
            </a:r>
          </a:p>
          <a:p>
            <a:pPr lvl="1"/>
            <a:r>
              <a:rPr lang="es-AR" sz="3200" dirty="0"/>
              <a:t>Intuitivas: intuición y elige por preferencias personales, criterio.</a:t>
            </a:r>
          </a:p>
        </p:txBody>
      </p:sp>
    </p:spTree>
    <p:extLst>
      <p:ext uri="{BB962C8B-B14F-4D97-AF65-F5344CB8AC3E}">
        <p14:creationId xmlns:p14="http://schemas.microsoft.com/office/powerpoint/2010/main" val="2334238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Tipos de decisiones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None/>
            </a:pPr>
            <a:r>
              <a:rPr lang="es-AR" sz="3200" dirty="0"/>
              <a:t>Según el ámbito de la organización:</a:t>
            </a:r>
          </a:p>
          <a:p>
            <a:pPr lvl="1"/>
            <a:r>
              <a:rPr lang="es-AR" sz="3200" dirty="0"/>
              <a:t>Políticas: conciliación de objetivos en conflicto.</a:t>
            </a:r>
          </a:p>
          <a:p>
            <a:pPr lvl="1"/>
            <a:r>
              <a:rPr lang="es-AR" sz="3200" dirty="0"/>
              <a:t>Administrativas: maximización de objetivos.</a:t>
            </a:r>
          </a:p>
          <a:p>
            <a:pPr lvl="1"/>
            <a:r>
              <a:rPr lang="es-AR" sz="3200" dirty="0"/>
              <a:t>Estratégicas: largo plazo, alta incertidumbre.</a:t>
            </a:r>
          </a:p>
          <a:p>
            <a:pPr lvl="1"/>
            <a:r>
              <a:rPr lang="es-AR" sz="3200" dirty="0"/>
              <a:t>Tácticas: apoyan a la estrategia.  Períodos intermedios.</a:t>
            </a:r>
          </a:p>
          <a:p>
            <a:pPr lvl="1"/>
            <a:r>
              <a:rPr lang="es-AR" sz="3200" dirty="0"/>
              <a:t>Operativas: apoyan a la táctica. Períodos cortos.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56810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Recomendaciones generales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AR" sz="3200" dirty="0"/>
              <a:t>Antes de decidir, evalúe todas las posibilidades.  A veces detalles aislados no son tenidos en cuenta y al verlos en conjunto son relevantes.</a:t>
            </a:r>
          </a:p>
          <a:p>
            <a:pPr lvl="1"/>
            <a:r>
              <a:rPr lang="es-AR" sz="3200" dirty="0"/>
              <a:t>Participación: que participen las personas enriquece el proceso.  Si bien la responsabilidad es de una persona, se pueden aprovechar algunas decisiones grupales.  Esto otorga legitimidad.</a:t>
            </a:r>
          </a:p>
          <a:p>
            <a:pPr lvl="1"/>
            <a:r>
              <a:rPr lang="es-AR" sz="3200" dirty="0"/>
              <a:t>Comunicar correctamente.</a:t>
            </a:r>
          </a:p>
          <a:p>
            <a:pPr lvl="1"/>
            <a:endParaRPr lang="es-AR" sz="3200" dirty="0"/>
          </a:p>
          <a:p>
            <a:pPr lvl="1"/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516141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Recomendaciones generales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AR" sz="3200" dirty="0"/>
              <a:t>Sopesar el impacto de la decisiones en los otros. Involucrarlos antes.</a:t>
            </a:r>
          </a:p>
          <a:p>
            <a:pPr lvl="1"/>
            <a:r>
              <a:rPr lang="es-AR" sz="3200" dirty="0"/>
              <a:t>Aunar razón e intuición.</a:t>
            </a:r>
          </a:p>
          <a:p>
            <a:pPr lvl="1"/>
            <a:r>
              <a:rPr lang="es-AR" sz="3200" dirty="0"/>
              <a:t>Considerar todos los resultados posibles.</a:t>
            </a:r>
          </a:p>
          <a:p>
            <a:pPr lvl="1"/>
            <a:r>
              <a:rPr lang="es-AR" sz="3200" dirty="0"/>
              <a:t>Prepararse para afrontar lo inesperado.</a:t>
            </a:r>
          </a:p>
          <a:p>
            <a:pPr lvl="1"/>
            <a:endParaRPr lang="es-AR" sz="3200" dirty="0"/>
          </a:p>
          <a:p>
            <a:pPr lvl="1"/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2544943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DEB911-D6F7-44FF-9C52-7B721997C64D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sng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Planteo:</a:t>
            </a:r>
          </a:p>
          <a:p>
            <a:pPr algn="l"/>
            <a:endParaRPr lang="es-ES" sz="2400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Estás conduciendo tu coche en una noche de tormenta terrible. Pasas por una parada de autobús donde se encuentran tres personas esperando:</a:t>
            </a:r>
          </a:p>
          <a:p>
            <a:pPr algn="ctr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– Una anciana que parece a punto de morir.</a:t>
            </a:r>
          </a:p>
          <a:p>
            <a:pPr algn="ctr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– Un viejo amigo que te salvó la vida una vez.</a:t>
            </a:r>
          </a:p>
          <a:p>
            <a:pPr algn="ctr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– El hombre ideal o la mujer ideal para acompañarte toda la vida.</a:t>
            </a:r>
          </a:p>
          <a:p>
            <a:pPr algn="ctr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Tienes que tomar la siguiente decisión… ¿A quién llevarías en el coche, teniendo en cuenta que sólo tienes sitio para un pasajero?</a:t>
            </a:r>
          </a:p>
          <a:p>
            <a:pPr algn="ctr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Podrías llevar a la anciana, porque va a morir y por lo tanto deberías salvarla primero; o podrías llevar al amigo, ya que él te salvó la vida una vez y estas en deuda con él. Sin embargo, tal vez nunca vuelvas a encontrar a la pareja ideal para acompañarte en la vida.</a:t>
            </a:r>
          </a:p>
          <a:p>
            <a:pPr algn="l"/>
            <a:b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</a:br>
            <a:endParaRPr lang="es-ES" sz="2400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s-ES" sz="2400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En el grupo designado, arriben a una decisión y luego haremos una puesta en común sobre lo que han determinado, y por qué.</a:t>
            </a:r>
          </a:p>
        </p:txBody>
      </p:sp>
    </p:spTree>
    <p:extLst>
      <p:ext uri="{BB962C8B-B14F-4D97-AF65-F5344CB8AC3E}">
        <p14:creationId xmlns:p14="http://schemas.microsoft.com/office/powerpoint/2010/main" val="1218514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s-AR" sz="11500" dirty="0"/>
              <a:t>FIN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5029</TotalTime>
  <Words>1814</Words>
  <Application>Microsoft Office PowerPoint</Application>
  <PresentationFormat>Widescreen</PresentationFormat>
  <Paragraphs>265</Paragraphs>
  <Slides>41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Open Sans</vt:lpstr>
      <vt:lpstr>Tema de Office</vt:lpstr>
      <vt:lpstr>Toma de decisiones</vt:lpstr>
      <vt:lpstr>Parroquiales</vt:lpstr>
      <vt:lpstr>PowerPoint Presentation</vt:lpstr>
      <vt:lpstr>Autoeval clase 7</vt:lpstr>
      <vt:lpstr>Diseño de puestos – pregunta 1</vt:lpstr>
      <vt:lpstr>Diseño de puestos – pregunta 2</vt:lpstr>
      <vt:lpstr>Toma de decisiones</vt:lpstr>
      <vt:lpstr>Concepto</vt:lpstr>
      <vt:lpstr>PowerPoint Presentation</vt:lpstr>
      <vt:lpstr>Fuera del libro #1. Análisis de causa raíz – metodologías de resolución de problemas </vt:lpstr>
      <vt:lpstr>5 por qué</vt:lpstr>
      <vt:lpstr>Ishikawa</vt:lpstr>
      <vt:lpstr>5W2H</vt:lpstr>
      <vt:lpstr>Problemática – falta de consenso</vt:lpstr>
      <vt:lpstr>Criterios para tomar decisiones eficaces</vt:lpstr>
      <vt:lpstr>Eficacia y eficiencia del proceso.</vt:lpstr>
      <vt:lpstr>Elementos esenciales</vt:lpstr>
      <vt:lpstr>Elementos esenciales</vt:lpstr>
      <vt:lpstr>Etapas del proceso decisorio</vt:lpstr>
      <vt:lpstr>Análisis de situación</vt:lpstr>
      <vt:lpstr>Análisis de situación</vt:lpstr>
      <vt:lpstr>Análisis de preocupaciones (situación)</vt:lpstr>
      <vt:lpstr>Análisis de situación - priorización</vt:lpstr>
      <vt:lpstr>Evaluación de alternativas</vt:lpstr>
      <vt:lpstr>Selección</vt:lpstr>
      <vt:lpstr>Fuera del libro #2.  Matriz de riesgos</vt:lpstr>
      <vt:lpstr>PowerPoint Presentation</vt:lpstr>
      <vt:lpstr>Implementación </vt:lpstr>
      <vt:lpstr>Implementación</vt:lpstr>
      <vt:lpstr>Fuera del libro #3.  Matriz RACI</vt:lpstr>
      <vt:lpstr>Implementación.  Fallas.</vt:lpstr>
      <vt:lpstr>Implementación.  Fallas.</vt:lpstr>
      <vt:lpstr>Implementación.  Fallas.</vt:lpstr>
      <vt:lpstr>Estilos de toma de decisiones</vt:lpstr>
      <vt:lpstr>Tipos de decisiones</vt:lpstr>
      <vt:lpstr>Tipos de decisiones</vt:lpstr>
      <vt:lpstr>Tipos de decisiones</vt:lpstr>
      <vt:lpstr>Recomendaciones generales</vt:lpstr>
      <vt:lpstr>Recomendaciones generales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Organización y gestión empresaria</dc:title>
  <dc:creator>Martin Romero</dc:creator>
  <cp:keywords>CTPClassification=CTP_NT</cp:keywords>
  <cp:lastModifiedBy>Martin Romero</cp:lastModifiedBy>
  <cp:revision>204</cp:revision>
  <dcterms:created xsi:type="dcterms:W3CDTF">2017-04-05T02:19:59Z</dcterms:created>
  <dcterms:modified xsi:type="dcterms:W3CDTF">2026-05-15T12:26:40Z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4ba39780-41cc-4850-ac54-f98f0d288ded</vt:lpwstr>
  </property>
  <property fmtid="{D5CDD505-2E9C-101B-9397-08002B2CF9AE}" pid="3" name="CTP_TimeStamp">
    <vt:lpwstr>2020-05-20 17:16:19Z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