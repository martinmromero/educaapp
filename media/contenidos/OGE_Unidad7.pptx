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15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5029200" y="-457200"/>
            <a:ext cx="5486400" cy="5486400"/>
          </a:xfrm>
          <a:prstGeom prst="line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27432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y Aspectos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Legales en Sistemas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profesional, privacidad, propiedad intelectual e inteligencia artificial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0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Martín Romero - Ing. Gianluca Lo Russo </a:t>
            </a:r>
            <a:r>
              <a:rPr lang="en-US" sz="10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Organización y Gestión Empresaria   ·   2026 – Sede Norte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 de la unidad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297680" cy="86868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365760" y="92354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92354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Ética: concepto y dimensiones morales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874520"/>
            <a:ext cx="4297680" cy="86868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228600" y="187452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65760" y="192938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" y="192938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Privacidad, datos personales y Habeas Data (Ley 25.326)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4297680" cy="86868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64008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365760" y="293522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5528" y="293522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intelectual y derechos de autor en la era digital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886200"/>
            <a:ext cx="4297680" cy="86868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228600" y="3886200"/>
            <a:ext cx="64008" cy="8686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365760" y="394106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" y="394106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Responsabilidad, rendición de cuentas y debido proceso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868680"/>
            <a:ext cx="4297680" cy="86868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892040" y="92354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21808" y="92354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artificial: sesgos, deepfakes y ética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algorítmica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874520"/>
            <a:ext cx="4297680" cy="86868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4754880" y="1874520"/>
            <a:ext cx="6400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4892040" y="192938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21808" y="192938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y ransomware: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880360"/>
            <a:ext cx="4297680" cy="86868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1" name="Shape 29"/>
          <p:cNvSpPr/>
          <p:nvPr/>
        </p:nvSpPr>
        <p:spPr>
          <a:xfrm>
            <a:off x="4754880" y="288036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4892040" y="293522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21808" y="293522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Teletrabajo, monitoreo digital y Ley 27.555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886200"/>
            <a:ext cx="4297680" cy="86868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5" name="Shape 33"/>
          <p:cNvSpPr/>
          <p:nvPr/>
        </p:nvSpPr>
        <p:spPr>
          <a:xfrm>
            <a:off x="4754880" y="3886200"/>
            <a:ext cx="64008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4892040" y="394106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21808" y="394106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ético: proceso y herramientas para decidir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Profesional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que guían nuestras decisiones como ingenieros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4434840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Gestión Empresaria  ·  Unidad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Ética?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9144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"Principios del bien y del mal que los individuos, al actuar como agentes con libre moral, utilizan para guiar sus comportamientos"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468880"/>
            <a:ext cx="4114800" cy="164592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64008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38912" y="25603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 generan cambio social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85292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de información amenazan las distribuciones existentes de poder, dinero, derechos y obligaciones.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nueva tecnología introduce dilemas éticos que antes no existían.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468880"/>
            <a:ext cx="4206240" cy="164592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4663440" y="246888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828032" y="25603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ingeniero como agente moral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2852928"/>
            <a:ext cx="39776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gerente o empleado cada uno tendrá que decidir qué constituye una conducta legal y ética apropiada.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 son instrumentales en muchos escenarios de fraude.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Dilema clásico: Privacidad vs. Comodidad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3840480" cy="356616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" cy="3566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negocio publicitario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3520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Gigantes como Google, Meta y Microsoft monetizan datos de comportamiento online.</a:t>
            </a:r>
            <a:endParaRPr lang="en-US" sz="1150" dirty="0"/>
          </a:p>
          <a:p>
            <a:pPr marL="0" indent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Construyen perfiles detallados de usuarios para publicidad segmentada.</a:t>
            </a:r>
            <a:endParaRPr lang="en-US" sz="1150" dirty="0"/>
          </a:p>
          <a:p>
            <a:pPr marL="0" indent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"paga" con sus datos a cambio de servicios gratuitos.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822960"/>
            <a:ext cx="452628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57200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INTERESES EN TENSIÓN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4023360" cy="1097280"/>
          </a:xfrm>
          <a:prstGeom prst="rect">
            <a:avLst/>
          </a:prstGeom>
          <a:solidFill>
            <a:srgbClr val="1E3A5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663440" y="1417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Ingresos publicitarios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Eficiencia de marketing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Personalización de servicios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254203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0" y="2926080"/>
            <a:ext cx="4023360" cy="1097280"/>
          </a:xfrm>
          <a:prstGeom prst="rect">
            <a:avLst/>
          </a:prstGeom>
          <a:solidFill>
            <a:srgbClr val="1E3A5F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663440" y="29718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Privacidad individual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Autonomía informacional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Control sobre los propios datos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Cambridge Analytica: datos de 87 millones de usuarios usados sin consentimiento para influir en elecciones.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Dimensiones Morales (Laudon &amp; Laudon)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788920" cy="160020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64008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356616" y="8961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896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y obligaciones de información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6616" y="1335024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derechos poseen los individuos sobre sí mismos? ¿Qué pueden proteger?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804672"/>
            <a:ext cx="2788920" cy="160020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3172968" y="804672"/>
            <a:ext cx="64008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3300984" y="8961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75888" y="896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y obligaciones de propiedad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00984" y="1335024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protegen los derechos intelectuales en una sociedad digital donde es fácil copiar?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17336" y="804672"/>
            <a:ext cx="2788920" cy="160020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6117336" y="804672"/>
            <a:ext cx="64008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6245352" y="8961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0256" y="896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Rendición de cuentas y control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45352" y="1335024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 responsable por el daño a información individual y colectiva?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37360" y="2578608"/>
            <a:ext cx="2788920" cy="160020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1737360" y="2578608"/>
            <a:ext cx="64008" cy="16002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1865376" y="267004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4028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sistema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65376" y="31089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estándares de calidad de datos y sistemas debemos exigir para proteger derechos?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2578608"/>
            <a:ext cx="2788920" cy="160020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4937760" y="2578608"/>
            <a:ext cx="6400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5065776" y="267004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4068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vida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65776" y="31089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valores preservar en una sociedad del conocimiento? ¿Qué instituciones proteger?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onda: cada nueva tecnología genera nuevos aspectos éticos, sociales y políticos en los niveles individual, social y político.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y Datos Personales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25.326 – Habeas Data y protección en la era digital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4434840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Gestión Empresaria  ·  Unidad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Privacidad: definición y desafíos tecnológicos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Privacidad: derecho de los individuos a no ser molestados, que no estén bajo vigilancia ni interferencia por parte de otros individuos u organizaciones, incluyendo el Estado.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83664"/>
            <a:ext cx="4114800" cy="118872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274320" y="1883664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38912" y="19751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búsquedas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consulta revela intereses, salud, ideología y comportamiento del usuario.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883664"/>
            <a:ext cx="4114800" cy="118872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4663440" y="1883664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828032" y="19751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y seguimiento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26771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Rastrean navegación entre sitios; permiten construir perfiles sin consentimiento explícito.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55264"/>
            <a:ext cx="4114800" cy="118872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274320" y="3255264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438912" y="33467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Spyware / bugs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63931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malicioso que registra actividad del dispositivo sin conocimiento del usuario.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255264"/>
            <a:ext cx="4114800" cy="118872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4663440" y="3255264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4828032" y="33467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perfiles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363931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de múltiples fuentes (compras, llamadas, redes) genera expedientes detallados.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25.326 – Protección de Datos Personales (Habeas Data)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Definiciones clave de la ley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14800" cy="111556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6400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38912" y="12618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5544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referida a personas físicas o de existencia ideal determinadas o determinables.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14800" cy="111556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4663440" y="1170432"/>
            <a:ext cx="6400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828032" y="12618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28032" y="15544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Revelan origen racial, opiniones políticas, convicciones religiosas, afiliación sindical, salud o vida sexual.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04872"/>
            <a:ext cx="4114800" cy="111556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274320" y="2404872"/>
            <a:ext cx="6400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438912" y="24963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del archivo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27889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física o jurídica titular del archivo, registro, base o banco de datos.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404872"/>
            <a:ext cx="4114800" cy="111556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4663440" y="2404872"/>
            <a:ext cx="6400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828032" y="24963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datos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27889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sistemáticas: recolección, conservación, modificación, evaluación, bloqueo, destrucción o cesión a terceros.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639312"/>
            <a:ext cx="4114800" cy="111556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6400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438912" y="37307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de datos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" y="40233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que realiza el tratamiento de datos, ya sea en bases propias o conectadas.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639312"/>
            <a:ext cx="4114800" cy="111556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8" name="Shape 26"/>
          <p:cNvSpPr/>
          <p:nvPr/>
        </p:nvSpPr>
        <p:spPr>
          <a:xfrm>
            <a:off x="4663440" y="3639312"/>
            <a:ext cx="6400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4828032" y="37307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Disociación de datos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40233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que hace imposible asociar la información a persona determinada o determinable.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Texto completo: https://www.oas.org/juridico/PDFs/arg_ley25326.pdf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Comparativo: marcos regulatorios de privacidad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EEUU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804672"/>
            <a:ext cx="274320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154680" y="8046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🇪🇺 Unión Europea (GDPR)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804672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035040" y="8046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🇦🇷 Argentina (Ley 25.326)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298448"/>
            <a:ext cx="2743200" cy="74980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320040" y="132588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Sectorial, fragmentado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298448"/>
            <a:ext cx="2743200" cy="74980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3200400" y="132588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transversal y unificada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298448"/>
            <a:ext cx="2743200" cy="74980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6080760" y="132588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integral desde 2000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075688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320040" y="210312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Opt-out (datos ya recolectados)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2075688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3200400" y="210312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y consentimiento explícito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2075688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080760" y="210312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informado requerido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852928"/>
            <a:ext cx="2743200" cy="74980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320040" y="288036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Autorregulación empresaria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54680" y="2852928"/>
            <a:ext cx="2743200" cy="74980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3200400" y="288036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 de hasta el 4% facturación global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2852928"/>
            <a:ext cx="2743200" cy="74980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6080760" y="288036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AAIP como autoridad de aplicación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630168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320040" y="365760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derecho al olvido general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54680" y="3630168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3200400" y="365760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 al olvido reconocido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3630168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6080760" y="365760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 de rectificación y supresión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global: mayor regulación, mayores sanciones, más derechos para el titular de los datos.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Intelectual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licencias, código abierto y contenido generado por 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4434840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Gestión Empresaria  ·  Unidad 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Intelectual: conceptos fundamentales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804672"/>
          </a:xfrm>
          <a:prstGeom prst="rect">
            <a:avLst/>
          </a:prstGeom>
          <a:solidFill>
            <a:srgbClr val="1E3A5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64008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38912" y="914400"/>
            <a:ext cx="83667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intelectual: activo intangible creado por individuos o corporaciones. Fórmulas, dispositivos, patrones, compilaciones de datos y cualquier producto del trabajo intelectual utilizado con fines comerciales.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64008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38912" y="18745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 Comercial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167128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producto del intelecto que se utilice para fines comerciales y no esté en el dominio público. Protege sin necesidad de registro.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828032" y="18745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(Derechos de Autor)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2167128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al creador contra copias no autorizadas. Argentina: vida del autor + 70 años. Corporaciones: 70 años desde creación.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64008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38912" y="3291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584448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Otorga al inventor derechos exclusivos por tiempo limitado (20 años). Requiere novedad, no obviedad y utilidad.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200400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4663440" y="3200400"/>
            <a:ext cx="64008" cy="12618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828032" y="3291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de Software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3584448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Regulan el uso permitido. Tipos: propietaria, open source (GPL, MIT, Apache), freeware, shareware, CC.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y Rendición de Cuentas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Definiciones clave para el profesional en sistemas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4434840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Gestión Empresaria  ·  Unidad 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jurídicos esenciales para el Ing. en Sistemas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175564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64008" cy="17556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11480" y="9418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552" y="9601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399032"/>
            <a:ext cx="384048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los costos, deberes y obligaciones potenciales por las decisiones que se toman. El profesional responde por sus actos técnicos.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4114800" cy="175564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64008" cy="17556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800600" y="9418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76672" y="9601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Rendición de Cuentas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399032"/>
            <a:ext cx="384048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para determinar quién tomó una acción responsable y quién está a cargo. Trazabilidad de decisiones técnicas.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114800" cy="175564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64008" cy="17556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411480" y="28620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87552" y="28803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Legal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3319272"/>
            <a:ext cx="384048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 individuos recuperar daños recibidos de actores, sistemas u organizaciones. Incluye daños por fallas de software.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788920"/>
            <a:ext cx="4114800" cy="1755648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4663440" y="2788920"/>
            <a:ext cx="64008" cy="175564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800600" y="28620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76672" y="28803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Debido Proceso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3319272"/>
            <a:ext cx="384048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normas se conocen y comprenden. Existe la habilidad de apelar a autoridades superiores. Garantía fundamental.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Análisis Ético – Cómo decidir en dilemas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548640" cy="54864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972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1554480" cy="265176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347472" y="153619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hechos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084832"/>
            <a:ext cx="140817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hizo qué? ¿A quién? ¿Dónde, cuándo y cómo?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93392" y="804672"/>
            <a:ext cx="548640" cy="54864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1993392" y="804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87752" y="1005840"/>
            <a:ext cx="10972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1993392" y="1463040"/>
            <a:ext cx="1554480" cy="265176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2066544" y="153619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dilema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66544" y="2084832"/>
            <a:ext cx="140817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valores de mayor orden están en juego? Dos cursos opuestos que apoyan distintos valores.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12464" y="804672"/>
            <a:ext cx="548640" cy="54864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3712464" y="804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005840"/>
            <a:ext cx="10972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3712464" y="1463040"/>
            <a:ext cx="1554480" cy="265176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3785616" y="153619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participantes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85616" y="2084832"/>
            <a:ext cx="140817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se ven afectados? Usuarios, empleados, clientes, sociedad.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31536" y="804672"/>
            <a:ext cx="548640" cy="54864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5431536" y="804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25896" y="1005840"/>
            <a:ext cx="10972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5431536" y="1463040"/>
            <a:ext cx="1554480" cy="265176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5504688" y="153619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opciones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04688" y="2084832"/>
            <a:ext cx="140817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acciones razonables existen? Listar opciones sin sesgo previo.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50608" y="804672"/>
            <a:ext cx="548640" cy="54864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7150608" y="804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50608" y="1463040"/>
            <a:ext cx="1554480" cy="265176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7223760" y="153619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consecuencias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2084832"/>
            <a:ext cx="140817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impacto tiene cada opción? Corto y largo plazo, individual y colectivo.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reales: Lehman Brothers, Enron — los sistemas de información fueron instrumentales en muchos de estos fraudes.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Artificial: Ética Algorítmica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Sesgos, deepfakes, derechos de autor y responsabilidad en IA generativa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4434840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Gestión Empresaria  ·  Unidad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320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 Algorítmicos: cuando la IA discrimina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sesgo algorítmico ocurre cuando un sistema de IA produce resultados sistemáticamente injustos contra ciertos grupos, generalmente porque fue entrenado con datos históricos que ya contenían esas inequidades.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38912" y="175564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Contratación de personal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048256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screening de CVs que penalizan candidatas mujeres (caso Amazon, 2018) o candidatos de ciertas minorías.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664208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4663440" y="1664208"/>
            <a:ext cx="64008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828032" y="175564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crediticio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048256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niegan crédito a personas de barrios históricamente marginados, perpetuando la exclusión financiera.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81528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274320" y="3081528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438912" y="31729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facial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465576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error hasta 35x mayor en personas de piel oscura vs. piel clara (investigación MIT Media Lab).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081528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4663440" y="3081528"/>
            <a:ext cx="64008" cy="12618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4828032" y="31729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contenido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3465576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amplifican contenido extremista porque genera más engagement, afectando la calidad del discurso.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debate: ¿Quién es responsable cuando un algoritmo toma una decisión injusta? ¿El desarrollador, la empresa, el usuario?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y Propiedad Intelectual: zona gris legal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14800" cy="393192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73152" cy="3931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Interrogantes sin resolver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¿Puede usarse cualquier obra para entrenar modelos de IA?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¿Quién es el autor de una obra generada por IA?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2374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¿Qué pasa si la salida del modelo reproduce material protegido?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¿Tiene la empresa responsabilidad si publica una pieza infractora?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¿Cómo se valida la originalidad del contenido generado?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804672"/>
            <a:ext cx="420624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800600" y="87782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 Getty Images vs. Stability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316736"/>
            <a:ext cx="39319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Getty demandó en 2023 a Stability AI por entrenar Stable Diffusion con millones de imágenes con copyright sin licencia.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imágenes generadas a veces incluían la marca de agua de Getty, evidenciando el uso del material.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toda la industria de IA generativa está bajo escrutinio legal.</a:t>
            </a:r>
            <a:endParaRPr lang="en-US" sz="1050" dirty="0"/>
          </a:p>
          <a:p>
            <a:pPr marL="0" indent="0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Ing. en Sistemas: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Revisar licencias antes de usar datasets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publicar contenido sin validación legal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Documentar las fuentes de entrenamiento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Deepfakes: identidad, consentimiento y responsabilidad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11480" y="83210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deepfake es contenido audiovisual sintético generado por IA que reemplaza o superpone la identidad de una persona en imágenes o videos de forma realista.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91056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274320" y="1591056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38912" y="168249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Desinformación política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975104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falsos de líderes declarando cosas que nunca dijeron. Elecciones de 2024 mostraron proliferación masiva.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591056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4663440" y="1591056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828032" y="168249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empresarial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975104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2024, empleado de empresa hongkonesa transfirió USD 25M tras videollamada deepfake con el 'CFO' de la compañía.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08376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274320" y="3008376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438912" y="30998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no consensuado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392424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identidad de personas reales en contenido íntimo sin consentimiento. Delito en múltiples jurisdicciones.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008376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4663440" y="3008376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4828032" y="30998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legítimos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3392424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cinematográfica, educación, accesibilidad (doblaje, lengua de señas). El problema es el consentimiento.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regulatorio emergente: la UE incluye deepfakes en la AI Act (2024). Argentina aún no tiene legislación específica.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y Deber de Diligencia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Ransomware, filtraciones y responsabilidad del equipo técnico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4434840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Gestión Empresaria  ·  Unidad 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Ciberseguridad: omisión también es responsabilidad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621792"/>
          </a:xfrm>
          <a:prstGeom prst="rect">
            <a:avLst/>
          </a:prstGeom>
          <a:solidFill>
            <a:srgbClr val="DC2626">
              <a:alpha val="8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11480" y="832104"/>
            <a:ext cx="82296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trata solo de 'ser hackeado': la responsabilidad surge cuando no existían controles razonables, respaldos, segmentación, gestión de accesos y planes de respuesta.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38912" y="16642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– Hospital Garrahan (2022)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956816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que paralizó sistemas críticos. Sin backup offline ni plan de continuidad, la operación se vio gravemente comprometida.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572768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4663440" y="1572768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828032" y="16642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Filtración – PAMI (2023)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956816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4 millones de afiliados expuestos. El grupo Rhysida reclamó haber accedido sin resistencia mayor. Sin MFA en accesos críticos.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274320" y="2990088"/>
            <a:ext cx="64008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438912" y="30815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compartidas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374136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control de acceso individual y doble factor de autenticación. Una sola cuenta comprometida da acceso total.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90088"/>
            <a:ext cx="411480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4663440" y="2990088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4828032" y="30815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 de diligencia del Ing. en Sistemas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3374136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MFA, gestión de parches, backups probados, monitoreo y plan de respuesta a incidentes no es opcional: es obligación profesional.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debate: ¿Tiene responsabilidad el equipo de IT si la empresa sufre un ataque que habría podido prevenirse con controles básicos?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Teletrabajo y Monitoreo Digital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27.555 – Derechos, límites y ética del control remoto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4434840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Gestión Empresaria  ·  Unidad 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27.555 de Teletrabajo: aspectos clave para sistemas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023360" cy="3931920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73152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del trabajador remoto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Derecho a la desconexión digital fuera del horario laboral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Reversibilidad: puede volver a presencialidad en las condiciones anteriores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Provisión o compensación de herramientas por el empleador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6382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Particularidades de tareas de cuidado familiar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785616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Privacidad del espacio doméstico del trabajador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26280" y="804672"/>
            <a:ext cx="43434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663440" y="877824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dilema del monitoreo digital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316736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Capturas de pantalla automáticas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847088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Registro de pulsaciones de teclado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Geolocalización de dispositivos corporativos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907792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Medición de tiempo activo/inactivo en pantalla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3438144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Registro de acceso a sistemas corporativos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3968496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Auditoría de logs con propósito declarado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Principio: no todo lo técnicamente posible es jurídicamente admisible ni éticamente razonable.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y Preguntas para el Debate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los ejes de la unidad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4434840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Gestión Empresaria  ·  Unidad 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disparadoras para el debate en clase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Unidad 7 </a:t>
            </a:r>
            <a:r>
              <a:rPr lang="it-IT" sz="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57200" y="859536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¿Puede una empresa hacer todo lo que técnicamente le permite una herramienta?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969264"/>
            <a:ext cx="137160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7406640" y="96926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+ Privacidad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8595360" cy="71323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57200" y="166420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¿Quién responde cuando un sistema automatizado toma una decisión injusta o dañina?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1773936"/>
            <a:ext cx="137160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7406640" y="177393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+ IA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432304"/>
            <a:ext cx="8595360" cy="71323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274320" y="2432304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457200" y="24688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¿Es ético monitorear en detalle a empleados remotos para medir productividad?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2578608"/>
            <a:ext cx="137160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7406640" y="257860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Teletrabajo + Ética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236976"/>
            <a:ext cx="8595360" cy="71323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274320" y="3236976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57200" y="327355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¿Qué diferencia existe entre usar datos para mejorar un servicio y usarlos invasivamente?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3383280"/>
            <a:ext cx="137160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7406640" y="338328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+ Datos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041648"/>
            <a:ext cx="8595360" cy="713232"/>
          </a:xfrm>
          <a:prstGeom prst="rect">
            <a:avLst/>
          </a:prstGeom>
          <a:solidFill>
            <a:srgbClr val="F0F4FF"/>
          </a:solidFill>
          <a:ln w="6350">
            <a:solidFill>
              <a:srgbClr val="E5E9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274320" y="4041648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457200" y="407822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¿Qué haría si la empresa le pidiera implementar algo legalmente dudoso o éticamente riesgoso?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06640" y="4187952"/>
            <a:ext cx="137160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7406640" y="418795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Dilema profesional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FINAL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tecnología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es gestionar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responsabilidades.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257860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ética profesional </a:t>
            </a:r>
            <a:r>
              <a:rPr lang="en-US" sz="115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cuando la norma mínima no alcanza para resolver dilemas complejos.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308152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tecnológica </a:t>
            </a:r>
            <a:r>
              <a:rPr lang="en-US" sz="115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impacto técnico, de negocio, regulatorio y ético.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358444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IA, el teletrabajo y la ciberseguridad </a:t>
            </a:r>
            <a:r>
              <a:rPr lang="en-US" sz="115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redefinen continuamente las fronteras de lo legal y lo ético.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408736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Ing. en Sistemas </a:t>
            </a:r>
            <a:r>
              <a:rPr lang="en-US" sz="115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implementa soluciones: interviene sobre derechos, riesgos y obligaciones.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Gestión Empresaria  ·  Unidad 7  · </a:t>
            </a:r>
            <a:r>
              <a:rPr lang="it-IT" sz="10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Ing. Martín Romero - Ing. Gianluca Lo Russo </a:t>
            </a:r>
            <a:r>
              <a:rPr lang="en-US" sz="10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2026 – Sede Norte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2343</Words>
  <Application>Microsoft Office PowerPoint</Application>
  <PresentationFormat>On-screen Show (16:9)</PresentationFormat>
  <Paragraphs>307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Ética y Aspectos Legales – OGE Unidad 7</dc:title>
  <dc:subject>PptxGenJS Presentation</dc:subject>
  <dc:creator>PptxGenJS</dc:creator>
  <cp:lastModifiedBy>Martín Miguel Romero</cp:lastModifiedBy>
  <cp:revision>3</cp:revision>
  <dcterms:created xsi:type="dcterms:W3CDTF">2026-04-06T05:29:58Z</dcterms:created>
  <dcterms:modified xsi:type="dcterms:W3CDTF">2026-06-18T20:09:23Z</dcterms:modified>
</cp:coreProperties>
</file>