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0" r:id="rId2"/>
    <p:sldId id="269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4" r:id="rId11"/>
    <p:sldId id="26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112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4C49-B62B-4EB8-9108-ECC85DCB183D}" type="datetimeFigureOut">
              <a:rPr lang="es-AR" smtClean="0"/>
              <a:t>29/8/2023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AFAC-7AD1-4C8D-A0A9-BE481C307C8B}" type="slidenum">
              <a:rPr lang="es-AR" smtClean="0"/>
              <a:t>‹Nº›</a:t>
            </a:fld>
            <a:endParaRPr lang="es-A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574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4C49-B62B-4EB8-9108-ECC85DCB183D}" type="datetimeFigureOut">
              <a:rPr lang="es-AR" smtClean="0"/>
              <a:t>29/8/2023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AFAC-7AD1-4C8D-A0A9-BE481C307C8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89567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4C49-B62B-4EB8-9108-ECC85DCB183D}" type="datetimeFigureOut">
              <a:rPr lang="es-AR" smtClean="0"/>
              <a:t>29/8/2023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AFAC-7AD1-4C8D-A0A9-BE481C307C8B}" type="slidenum">
              <a:rPr lang="es-AR" smtClean="0"/>
              <a:t>‹Nº›</a:t>
            </a:fld>
            <a:endParaRPr lang="es-A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450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4C49-B62B-4EB8-9108-ECC85DCB183D}" type="datetimeFigureOut">
              <a:rPr lang="es-AR" smtClean="0"/>
              <a:t>29/8/2023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AFAC-7AD1-4C8D-A0A9-BE481C307C8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7372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4C49-B62B-4EB8-9108-ECC85DCB183D}" type="datetimeFigureOut">
              <a:rPr lang="es-AR" smtClean="0"/>
              <a:t>29/8/2023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AFAC-7AD1-4C8D-A0A9-BE481C307C8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63581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4C49-B62B-4EB8-9108-ECC85DCB183D}" type="datetimeFigureOut">
              <a:rPr lang="es-AR" smtClean="0"/>
              <a:t>29/8/2023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AFAC-7AD1-4C8D-A0A9-BE481C307C8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60032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4C49-B62B-4EB8-9108-ECC85DCB183D}" type="datetimeFigureOut">
              <a:rPr lang="es-AR" smtClean="0"/>
              <a:t>29/8/2023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AFAC-7AD1-4C8D-A0A9-BE481C307C8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4796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FDC4C49-B62B-4EB8-9108-ECC85DCB183D}" type="datetimeFigureOut">
              <a:rPr lang="es-AR" smtClean="0"/>
              <a:t>29/8/2023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82AAFAC-7AD1-4C8D-A0A9-BE481C307C8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80108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4C49-B62B-4EB8-9108-ECC85DCB183D}" type="datetimeFigureOut">
              <a:rPr lang="es-AR" smtClean="0"/>
              <a:t>29/8/2023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AFAC-7AD1-4C8D-A0A9-BE481C307C8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2218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4C49-B62B-4EB8-9108-ECC85DCB183D}" type="datetimeFigureOut">
              <a:rPr lang="es-AR" smtClean="0"/>
              <a:t>29/8/2023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AFAC-7AD1-4C8D-A0A9-BE481C307C8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4078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4C49-B62B-4EB8-9108-ECC85DCB183D}" type="datetimeFigureOut">
              <a:rPr lang="es-AR" smtClean="0"/>
              <a:t>29/8/2023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AFAC-7AD1-4C8D-A0A9-BE481C307C8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98884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FDC4C49-B62B-4EB8-9108-ECC85DCB183D}" type="datetimeFigureOut">
              <a:rPr lang="es-AR" smtClean="0"/>
              <a:t>29/8/2023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82AAFAC-7AD1-4C8D-A0A9-BE481C307C8B}" type="slidenum">
              <a:rPr lang="es-AR" smtClean="0"/>
              <a:t>‹Nº›</a:t>
            </a:fld>
            <a:endParaRPr lang="es-A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446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mailto:jorge.scali@uai.edu.a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s-ES" dirty="0">
                <a:latin typeface="Cooper Black" panose="0208090404030B020404" pitchFamily="18" charset="0"/>
              </a:rPr>
              <a:t>Trabajo Final de Ingeniería </a:t>
            </a:r>
            <a:endParaRPr lang="es-AR" dirty="0">
              <a:latin typeface="Cooper Black" panose="0208090404030B020404" pitchFamily="18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848224"/>
            <a:ext cx="10058400" cy="750395"/>
          </a:xfrm>
        </p:spPr>
        <p:txBody>
          <a:bodyPr/>
          <a:lstStyle/>
          <a:p>
            <a:pPr algn="ctr"/>
            <a:r>
              <a:rPr lang="es-ES" dirty="0">
                <a:solidFill>
                  <a:schemeClr val="tx1"/>
                </a:solidFill>
                <a:latin typeface="Cooper Black" panose="0208090404030B020404" pitchFamily="18" charset="0"/>
              </a:rPr>
              <a:t>Profesor: Jorge </a:t>
            </a:r>
            <a:r>
              <a:rPr lang="es-ES" dirty="0" err="1">
                <a:solidFill>
                  <a:schemeClr val="tx1"/>
                </a:solidFill>
                <a:latin typeface="Cooper Black" panose="0208090404030B020404" pitchFamily="18" charset="0"/>
              </a:rPr>
              <a:t>Scali</a:t>
            </a:r>
            <a:endParaRPr lang="es-AR" dirty="0">
              <a:solidFill>
                <a:schemeClr val="tx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022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ES" b="1" dirty="0">
                <a:latin typeface="Cooper Black" panose="0208090404030B020404" pitchFamily="18" charset="0"/>
              </a:rPr>
            </a:br>
            <a:r>
              <a:rPr lang="es-ES" dirty="0">
                <a:solidFill>
                  <a:srgbClr val="0070C0"/>
                </a:solidFill>
                <a:latin typeface="Cooper Black" panose="0208090404030B020404" pitchFamily="18" charset="0"/>
              </a:rPr>
              <a:t>Presupuesto Financiero</a:t>
            </a:r>
            <a:br>
              <a:rPr lang="es-ES" dirty="0">
                <a:solidFill>
                  <a:srgbClr val="0070C0"/>
                </a:solidFill>
              </a:rPr>
            </a:br>
            <a:endParaRPr lang="es-AR" dirty="0">
              <a:solidFill>
                <a:srgbClr val="0070C0"/>
              </a:solidFill>
            </a:endParaRPr>
          </a:p>
        </p:txBody>
      </p:sp>
      <p:pic>
        <p:nvPicPr>
          <p:cNvPr id="6" name="Picture 4" descr="Asesor comercial que analiza financiero con nuevo plan de proyecto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505" y="2057400"/>
            <a:ext cx="7473950" cy="387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/>
          <p:cNvSpPr txBox="1"/>
          <p:nvPr/>
        </p:nvSpPr>
        <p:spPr>
          <a:xfrm>
            <a:off x="7324725" y="6334780"/>
            <a:ext cx="4867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oper Black" panose="0208090404030B020404" pitchFamily="18" charset="0"/>
              </a:rPr>
              <a:t>Dirección y Administración de Proyectos</a:t>
            </a:r>
          </a:p>
          <a:p>
            <a:pPr algn="ctr"/>
            <a:r>
              <a:rPr lang="es-ES" sz="1400" dirty="0">
                <a:latin typeface="Cooper Black" panose="0208090404030B020404" pitchFamily="18" charset="0"/>
              </a:rPr>
              <a:t>Profesor: Jorge </a:t>
            </a:r>
            <a:r>
              <a:rPr lang="es-ES" sz="1400" dirty="0" err="1">
                <a:latin typeface="Cooper Black" panose="0208090404030B020404" pitchFamily="18" charset="0"/>
              </a:rPr>
              <a:t>Scali</a:t>
            </a:r>
            <a:endParaRPr lang="es-AR" sz="1400" dirty="0"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149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71535" y="583802"/>
            <a:ext cx="10515600" cy="1005838"/>
          </a:xfrm>
        </p:spPr>
        <p:txBody>
          <a:bodyPr>
            <a:normAutofit fontScale="90000"/>
          </a:bodyPr>
          <a:lstStyle/>
          <a:p>
            <a:pPr algn="ctr"/>
            <a:r>
              <a:rPr lang="es-ES" dirty="0">
                <a:solidFill>
                  <a:srgbClr val="0070C0"/>
                </a:solidFill>
                <a:latin typeface="Cooper Black" panose="0208090404030B020404" pitchFamily="18" charset="0"/>
              </a:rPr>
              <a:t>Estructura del Presupuesto Financiero</a:t>
            </a:r>
            <a:endParaRPr lang="es-AR" dirty="0">
              <a:solidFill>
                <a:srgbClr val="0070C0"/>
              </a:solidFill>
              <a:latin typeface="Cooper Black" panose="0208090404030B020404" pitchFamily="18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4629148" y="1884072"/>
            <a:ext cx="3028948" cy="48135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Hipótesis</a:t>
            </a:r>
            <a:endParaRPr lang="es-AR" dirty="0"/>
          </a:p>
        </p:txBody>
      </p:sp>
      <p:sp>
        <p:nvSpPr>
          <p:cNvPr id="5" name="Rectángulo 4"/>
          <p:cNvSpPr/>
          <p:nvPr/>
        </p:nvSpPr>
        <p:spPr>
          <a:xfrm>
            <a:off x="4638673" y="2517537"/>
            <a:ext cx="3028948" cy="45099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Modelo de Ingresos</a:t>
            </a:r>
            <a:endParaRPr lang="es-AR" dirty="0"/>
          </a:p>
        </p:txBody>
      </p:sp>
      <p:sp>
        <p:nvSpPr>
          <p:cNvPr id="6" name="Rectángulo 5"/>
          <p:cNvSpPr/>
          <p:nvPr/>
        </p:nvSpPr>
        <p:spPr>
          <a:xfrm>
            <a:off x="4619624" y="3158468"/>
            <a:ext cx="3047998" cy="40953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Modelo de Egresos</a:t>
            </a:r>
            <a:endParaRPr lang="es-AR" dirty="0"/>
          </a:p>
        </p:txBody>
      </p:sp>
      <p:sp>
        <p:nvSpPr>
          <p:cNvPr id="7" name="Rectángulo 6"/>
          <p:cNvSpPr/>
          <p:nvPr/>
        </p:nvSpPr>
        <p:spPr>
          <a:xfrm>
            <a:off x="4619624" y="3751511"/>
            <a:ext cx="3047997" cy="45612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Modelo de Inversión</a:t>
            </a:r>
            <a:endParaRPr lang="es-AR" dirty="0"/>
          </a:p>
        </p:txBody>
      </p:sp>
      <p:sp>
        <p:nvSpPr>
          <p:cNvPr id="8" name="Rectángulo 7"/>
          <p:cNvSpPr/>
          <p:nvPr/>
        </p:nvSpPr>
        <p:spPr>
          <a:xfrm>
            <a:off x="4610098" y="4391152"/>
            <a:ext cx="3047998" cy="49881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Presupuesto Financiero</a:t>
            </a:r>
            <a:endParaRPr lang="es-AR" dirty="0"/>
          </a:p>
        </p:txBody>
      </p:sp>
      <p:sp>
        <p:nvSpPr>
          <p:cNvPr id="9" name="Rectángulo 8"/>
          <p:cNvSpPr/>
          <p:nvPr/>
        </p:nvSpPr>
        <p:spPr>
          <a:xfrm>
            <a:off x="4610098" y="5050966"/>
            <a:ext cx="3038474" cy="44315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Escenarios</a:t>
            </a:r>
            <a:endParaRPr lang="es-AR" dirty="0"/>
          </a:p>
        </p:txBody>
      </p:sp>
      <p:sp>
        <p:nvSpPr>
          <p:cNvPr id="10" name="Rectángulo 9"/>
          <p:cNvSpPr/>
          <p:nvPr/>
        </p:nvSpPr>
        <p:spPr>
          <a:xfrm>
            <a:off x="4600574" y="5684056"/>
            <a:ext cx="3057522" cy="46012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Informes</a:t>
            </a:r>
            <a:endParaRPr lang="es-AR" dirty="0"/>
          </a:p>
        </p:txBody>
      </p:sp>
      <p:sp>
        <p:nvSpPr>
          <p:cNvPr id="11" name="Flecha derecha 10"/>
          <p:cNvSpPr/>
          <p:nvPr/>
        </p:nvSpPr>
        <p:spPr>
          <a:xfrm>
            <a:off x="3159633" y="1884072"/>
            <a:ext cx="978408" cy="484632"/>
          </a:xfrm>
          <a:prstGeom prst="rightArrow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  <a:endParaRPr lang="es-AR" dirty="0"/>
          </a:p>
        </p:txBody>
      </p:sp>
      <p:sp>
        <p:nvSpPr>
          <p:cNvPr id="12" name="Flecha derecha 11"/>
          <p:cNvSpPr/>
          <p:nvPr/>
        </p:nvSpPr>
        <p:spPr>
          <a:xfrm>
            <a:off x="3159633" y="2494349"/>
            <a:ext cx="978408" cy="484632"/>
          </a:xfrm>
          <a:prstGeom prst="rightArrow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  <a:endParaRPr lang="es-AR" dirty="0"/>
          </a:p>
        </p:txBody>
      </p:sp>
      <p:sp>
        <p:nvSpPr>
          <p:cNvPr id="13" name="Flecha derecha 12"/>
          <p:cNvSpPr/>
          <p:nvPr/>
        </p:nvSpPr>
        <p:spPr>
          <a:xfrm>
            <a:off x="3184779" y="3120917"/>
            <a:ext cx="978408" cy="484632"/>
          </a:xfrm>
          <a:prstGeom prst="rightArrow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  <a:endParaRPr lang="es-AR" dirty="0"/>
          </a:p>
        </p:txBody>
      </p:sp>
      <p:sp>
        <p:nvSpPr>
          <p:cNvPr id="14" name="Flecha derecha 13"/>
          <p:cNvSpPr/>
          <p:nvPr/>
        </p:nvSpPr>
        <p:spPr>
          <a:xfrm>
            <a:off x="3184779" y="3736472"/>
            <a:ext cx="978408" cy="484632"/>
          </a:xfrm>
          <a:prstGeom prst="rightArrow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  <a:endParaRPr lang="es-AR" dirty="0"/>
          </a:p>
        </p:txBody>
      </p:sp>
      <p:sp>
        <p:nvSpPr>
          <p:cNvPr id="15" name="Flecha derecha 14"/>
          <p:cNvSpPr/>
          <p:nvPr/>
        </p:nvSpPr>
        <p:spPr>
          <a:xfrm>
            <a:off x="3184779" y="4386609"/>
            <a:ext cx="978408" cy="484632"/>
          </a:xfrm>
          <a:prstGeom prst="rightArrow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  <a:endParaRPr lang="es-AR" dirty="0"/>
          </a:p>
        </p:txBody>
      </p:sp>
      <p:sp>
        <p:nvSpPr>
          <p:cNvPr id="16" name="Flecha derecha 15"/>
          <p:cNvSpPr/>
          <p:nvPr/>
        </p:nvSpPr>
        <p:spPr>
          <a:xfrm>
            <a:off x="3184779" y="5030225"/>
            <a:ext cx="978408" cy="484632"/>
          </a:xfrm>
          <a:prstGeom prst="rightArrow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  <a:endParaRPr lang="es-AR" dirty="0"/>
          </a:p>
        </p:txBody>
      </p:sp>
      <p:sp>
        <p:nvSpPr>
          <p:cNvPr id="17" name="Flecha derecha 16"/>
          <p:cNvSpPr/>
          <p:nvPr/>
        </p:nvSpPr>
        <p:spPr>
          <a:xfrm>
            <a:off x="3184779" y="5673841"/>
            <a:ext cx="978408" cy="484632"/>
          </a:xfrm>
          <a:prstGeom prst="rightArrow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  <a:endParaRPr lang="es-AR" dirty="0"/>
          </a:p>
        </p:txBody>
      </p:sp>
      <p:sp>
        <p:nvSpPr>
          <p:cNvPr id="20" name="CuadroTexto 19"/>
          <p:cNvSpPr txBox="1"/>
          <p:nvPr/>
        </p:nvSpPr>
        <p:spPr>
          <a:xfrm>
            <a:off x="7324725" y="6334780"/>
            <a:ext cx="4867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oper Black" panose="0208090404030B020404" pitchFamily="18" charset="0"/>
              </a:rPr>
              <a:t>Dirección y Administración de Proyectos</a:t>
            </a:r>
          </a:p>
          <a:p>
            <a:pPr algn="ctr"/>
            <a:r>
              <a:rPr lang="es-ES" sz="1400" dirty="0">
                <a:latin typeface="Cooper Black" panose="0208090404030B020404" pitchFamily="18" charset="0"/>
              </a:rPr>
              <a:t>Profesor: Jorge </a:t>
            </a:r>
            <a:r>
              <a:rPr lang="es-ES" sz="1400" dirty="0" err="1">
                <a:latin typeface="Cooper Black" panose="0208090404030B020404" pitchFamily="18" charset="0"/>
              </a:rPr>
              <a:t>Scali</a:t>
            </a:r>
            <a:endParaRPr lang="es-AR" sz="1400" dirty="0"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166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ES" b="1" dirty="0">
                <a:latin typeface="Cooper Black" panose="0208090404030B020404" pitchFamily="18" charset="0"/>
              </a:rPr>
            </a:br>
            <a:r>
              <a:rPr lang="es-ES" b="1" dirty="0">
                <a:solidFill>
                  <a:srgbClr val="0070C0"/>
                </a:solidFill>
                <a:latin typeface="Cooper Black" panose="0208090404030B020404" pitchFamily="18" charset="0"/>
              </a:rPr>
              <a:t>Hipótesis</a:t>
            </a:r>
            <a:br>
              <a:rPr lang="es-ES" dirty="0">
                <a:solidFill>
                  <a:srgbClr val="0070C0"/>
                </a:solidFill>
              </a:rPr>
            </a:br>
            <a:endParaRPr lang="es-AR" dirty="0">
              <a:solidFill>
                <a:srgbClr val="0070C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2436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s-ES" dirty="0">
              <a:solidFill>
                <a:srgbClr val="0070C0"/>
              </a:solidFill>
            </a:endParaRPr>
          </a:p>
          <a:p>
            <a:pPr marL="0" indent="0" algn="ctr">
              <a:buNone/>
            </a:pPr>
            <a:r>
              <a:rPr lang="es-ES" sz="2400" dirty="0">
                <a:solidFill>
                  <a:srgbClr val="0070C0"/>
                </a:solidFill>
              </a:rPr>
              <a:t>Valoración prospectiva del mercado meta</a:t>
            </a:r>
          </a:p>
          <a:p>
            <a:pPr marL="0" indent="0" algn="ctr">
              <a:buNone/>
            </a:pPr>
            <a:endParaRPr lang="es-ES" sz="2400" dirty="0">
              <a:solidFill>
                <a:srgbClr val="0070C0"/>
              </a:solidFill>
            </a:endParaRPr>
          </a:p>
          <a:p>
            <a:pPr marL="0" indent="0" algn="ctr">
              <a:buNone/>
            </a:pPr>
            <a:r>
              <a:rPr lang="es-ES" sz="2400" dirty="0">
                <a:solidFill>
                  <a:srgbClr val="0070C0"/>
                </a:solidFill>
              </a:rPr>
              <a:t> Objetivo de participación del mercado</a:t>
            </a:r>
          </a:p>
          <a:p>
            <a:pPr marL="0" indent="0">
              <a:buNone/>
            </a:pPr>
            <a:endParaRPr lang="es-ES" sz="24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s-ES" sz="2400" dirty="0">
              <a:solidFill>
                <a:srgbClr val="0070C0"/>
              </a:solidFill>
            </a:endParaRPr>
          </a:p>
          <a:p>
            <a:pPr marL="0" indent="0" algn="ctr">
              <a:buNone/>
            </a:pPr>
            <a:r>
              <a:rPr lang="es-ES" sz="2400" dirty="0">
                <a:solidFill>
                  <a:srgbClr val="0070C0"/>
                </a:solidFill>
              </a:rPr>
              <a:t>Estimación de evolución de variables económico - financieras</a:t>
            </a:r>
          </a:p>
          <a:p>
            <a:pPr marL="0" indent="0">
              <a:buNone/>
            </a:pPr>
            <a:endParaRPr lang="es-ES" sz="2400" dirty="0">
              <a:solidFill>
                <a:srgbClr val="0070C0"/>
              </a:solidFill>
            </a:endParaRPr>
          </a:p>
          <a:p>
            <a:pPr marL="0" indent="0" algn="ctr">
              <a:buNone/>
            </a:pPr>
            <a:r>
              <a:rPr lang="es-ES" sz="2400" dirty="0">
                <a:solidFill>
                  <a:srgbClr val="0070C0"/>
                </a:solidFill>
              </a:rPr>
              <a:t>Ajustes al presupuesto</a:t>
            </a:r>
            <a:endParaRPr lang="es-AR" sz="2400" dirty="0">
              <a:solidFill>
                <a:srgbClr val="0070C0"/>
              </a:solidFill>
            </a:endParaRPr>
          </a:p>
        </p:txBody>
      </p:sp>
      <p:sp>
        <p:nvSpPr>
          <p:cNvPr id="4" name="Flecha abajo 3"/>
          <p:cNvSpPr/>
          <p:nvPr/>
        </p:nvSpPr>
        <p:spPr>
          <a:xfrm>
            <a:off x="5888355" y="2546132"/>
            <a:ext cx="495300" cy="581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Flecha abajo 4"/>
          <p:cNvSpPr/>
          <p:nvPr/>
        </p:nvSpPr>
        <p:spPr>
          <a:xfrm>
            <a:off x="5878830" y="5133975"/>
            <a:ext cx="495300" cy="581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CuadroTexto 7"/>
          <p:cNvSpPr txBox="1"/>
          <p:nvPr/>
        </p:nvSpPr>
        <p:spPr>
          <a:xfrm>
            <a:off x="7324725" y="6334780"/>
            <a:ext cx="4867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oper Black" panose="0208090404030B020404" pitchFamily="18" charset="0"/>
              </a:rPr>
              <a:t>Dirección y Administración de Proyectos</a:t>
            </a:r>
          </a:p>
          <a:p>
            <a:pPr algn="ctr"/>
            <a:r>
              <a:rPr lang="es-ES" sz="1400" dirty="0">
                <a:latin typeface="Cooper Black" panose="0208090404030B020404" pitchFamily="18" charset="0"/>
              </a:rPr>
              <a:t>Profesor: Jorge </a:t>
            </a:r>
            <a:r>
              <a:rPr lang="es-ES" sz="1400" dirty="0" err="1">
                <a:latin typeface="Cooper Black" panose="0208090404030B020404" pitchFamily="18" charset="0"/>
              </a:rPr>
              <a:t>Scali</a:t>
            </a:r>
            <a:endParaRPr lang="es-AR" sz="1400" dirty="0"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48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ES" dirty="0">
                <a:latin typeface="Cooper Black" panose="0208090404030B020404" pitchFamily="18" charset="0"/>
              </a:rPr>
            </a:br>
            <a:r>
              <a:rPr lang="es-ES" dirty="0">
                <a:solidFill>
                  <a:srgbClr val="0070C0"/>
                </a:solidFill>
                <a:latin typeface="Cooper Black" panose="0208090404030B020404" pitchFamily="18" charset="0"/>
              </a:rPr>
              <a:t>Modelo de Ingresos</a:t>
            </a:r>
            <a:br>
              <a:rPr lang="es-ES" dirty="0">
                <a:solidFill>
                  <a:srgbClr val="0070C0"/>
                </a:solidFill>
              </a:rPr>
            </a:br>
            <a:endParaRPr lang="es-AR" dirty="0">
              <a:solidFill>
                <a:srgbClr val="0070C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s-ES" dirty="0">
                <a:solidFill>
                  <a:srgbClr val="0070C0"/>
                </a:solidFill>
              </a:rPr>
              <a:t> </a:t>
            </a:r>
            <a:r>
              <a:rPr lang="es-ES" sz="2800" dirty="0">
                <a:solidFill>
                  <a:srgbClr val="0070C0"/>
                </a:solidFill>
              </a:rPr>
              <a:t>Proyección de venta</a:t>
            </a:r>
          </a:p>
          <a:p>
            <a:pPr marL="1343025" indent="-90488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rgbClr val="0070C0"/>
                </a:solidFill>
              </a:rPr>
              <a:t> Estimación del crecimiento de ventas</a:t>
            </a:r>
          </a:p>
          <a:p>
            <a:pPr marL="1343025" indent="-90488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rgbClr val="0070C0"/>
                </a:solidFill>
              </a:rPr>
              <a:t> Estacionalidad</a:t>
            </a:r>
          </a:p>
          <a:p>
            <a:pPr marL="0" indent="0">
              <a:buNone/>
            </a:pPr>
            <a:endParaRPr lang="es-AR" dirty="0"/>
          </a:p>
        </p:txBody>
      </p:sp>
      <p:sp>
        <p:nvSpPr>
          <p:cNvPr id="5" name="CuadroTexto 4"/>
          <p:cNvSpPr txBox="1"/>
          <p:nvPr/>
        </p:nvSpPr>
        <p:spPr>
          <a:xfrm>
            <a:off x="7324725" y="6334780"/>
            <a:ext cx="4867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oper Black" panose="0208090404030B020404" pitchFamily="18" charset="0"/>
              </a:rPr>
              <a:t>Dirección y Administración de Proyectos</a:t>
            </a:r>
          </a:p>
          <a:p>
            <a:pPr algn="ctr"/>
            <a:r>
              <a:rPr lang="es-ES" sz="1400" dirty="0">
                <a:latin typeface="Cooper Black" panose="0208090404030B020404" pitchFamily="18" charset="0"/>
              </a:rPr>
              <a:t>Profesor: Jorge </a:t>
            </a:r>
            <a:r>
              <a:rPr lang="es-ES" sz="1400" dirty="0" err="1">
                <a:latin typeface="Cooper Black" panose="0208090404030B020404" pitchFamily="18" charset="0"/>
              </a:rPr>
              <a:t>Scali</a:t>
            </a:r>
            <a:endParaRPr lang="es-AR" sz="1400" dirty="0"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603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ES" dirty="0"/>
            </a:br>
            <a:r>
              <a:rPr lang="es-ES" dirty="0">
                <a:solidFill>
                  <a:srgbClr val="0070C0"/>
                </a:solidFill>
                <a:latin typeface="Cooper Black" panose="0208090404030B020404" pitchFamily="18" charset="0"/>
              </a:rPr>
              <a:t>Modelo de Egresos</a:t>
            </a:r>
            <a:br>
              <a:rPr lang="es-ES" dirty="0"/>
            </a:b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190749"/>
            <a:ext cx="10515600" cy="3986213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s-ES" dirty="0">
                <a:solidFill>
                  <a:srgbClr val="0070C0"/>
                </a:solidFill>
              </a:rPr>
              <a:t> </a:t>
            </a:r>
            <a:r>
              <a:rPr lang="es-ES" sz="2800" dirty="0">
                <a:solidFill>
                  <a:srgbClr val="0070C0"/>
                </a:solidFill>
              </a:rPr>
              <a:t>Estructura de costos fijos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s-ES" sz="2800" dirty="0">
                <a:solidFill>
                  <a:srgbClr val="0070C0"/>
                </a:solidFill>
              </a:rPr>
              <a:t> Estructura de costos variables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s-ES" sz="2800" dirty="0">
                <a:solidFill>
                  <a:srgbClr val="0070C0"/>
                </a:solidFill>
              </a:rPr>
              <a:t> Estructura de costos de RRHH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324725" y="6334780"/>
            <a:ext cx="4867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oper Black" panose="0208090404030B020404" pitchFamily="18" charset="0"/>
              </a:rPr>
              <a:t>Dirección y Administración de Proyectos</a:t>
            </a:r>
          </a:p>
          <a:p>
            <a:pPr algn="ctr"/>
            <a:r>
              <a:rPr lang="es-ES" sz="1400" dirty="0">
                <a:latin typeface="Cooper Black" panose="0208090404030B020404" pitchFamily="18" charset="0"/>
              </a:rPr>
              <a:t>Profesor: Jorge </a:t>
            </a:r>
            <a:r>
              <a:rPr lang="es-ES" sz="1400" dirty="0" err="1">
                <a:latin typeface="Cooper Black" panose="0208090404030B020404" pitchFamily="18" charset="0"/>
              </a:rPr>
              <a:t>Scali</a:t>
            </a:r>
            <a:endParaRPr lang="es-AR" sz="1400" dirty="0"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4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ES" dirty="0"/>
            </a:br>
            <a:r>
              <a:rPr lang="es-ES" dirty="0">
                <a:solidFill>
                  <a:srgbClr val="0070C0"/>
                </a:solidFill>
                <a:latin typeface="Cooper Black" panose="0208090404030B020404" pitchFamily="18" charset="0"/>
              </a:rPr>
              <a:t>Modelo de Inversión</a:t>
            </a:r>
            <a:br>
              <a:rPr lang="es-ES" dirty="0"/>
            </a:b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228849"/>
            <a:ext cx="10934700" cy="394811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s-ES" dirty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ES" sz="2800" dirty="0">
                <a:solidFill>
                  <a:srgbClr val="0070C0"/>
                </a:solidFill>
              </a:rPr>
              <a:t> Inversión Inicial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sz="2800" dirty="0">
                <a:solidFill>
                  <a:srgbClr val="0070C0"/>
                </a:solidFill>
              </a:rPr>
              <a:t> Inversión dentro del marco temporal del proyecto</a:t>
            </a:r>
          </a:p>
          <a:p>
            <a:pPr marL="0" indent="0">
              <a:buNone/>
            </a:pPr>
            <a:endParaRPr lang="es-AR" dirty="0"/>
          </a:p>
        </p:txBody>
      </p:sp>
      <p:sp>
        <p:nvSpPr>
          <p:cNvPr id="5" name="CuadroTexto 4"/>
          <p:cNvSpPr txBox="1"/>
          <p:nvPr/>
        </p:nvSpPr>
        <p:spPr>
          <a:xfrm>
            <a:off x="7324725" y="6334780"/>
            <a:ext cx="4867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oper Black" panose="0208090404030B020404" pitchFamily="18" charset="0"/>
              </a:rPr>
              <a:t>Dirección y Administración de Proyectos</a:t>
            </a:r>
          </a:p>
          <a:p>
            <a:pPr algn="ctr"/>
            <a:r>
              <a:rPr lang="es-ES" sz="1400" dirty="0">
                <a:latin typeface="Cooper Black" panose="0208090404030B020404" pitchFamily="18" charset="0"/>
              </a:rPr>
              <a:t>Profesor: Jorge </a:t>
            </a:r>
            <a:r>
              <a:rPr lang="es-ES" sz="1400" dirty="0" err="1">
                <a:latin typeface="Cooper Black" panose="0208090404030B020404" pitchFamily="18" charset="0"/>
              </a:rPr>
              <a:t>Scali</a:t>
            </a:r>
            <a:endParaRPr lang="es-AR" sz="1400" dirty="0"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879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ES" dirty="0"/>
            </a:br>
            <a:r>
              <a:rPr lang="es-ES" dirty="0">
                <a:solidFill>
                  <a:srgbClr val="0070C0"/>
                </a:solidFill>
                <a:latin typeface="Cooper Black" panose="0208090404030B020404" pitchFamily="18" charset="0"/>
              </a:rPr>
              <a:t>Presupuesto Financiero</a:t>
            </a:r>
            <a:br>
              <a:rPr lang="es-ES" dirty="0">
                <a:solidFill>
                  <a:srgbClr val="0070C0"/>
                </a:solidFill>
              </a:rPr>
            </a:br>
            <a:endParaRPr lang="es-AR" dirty="0">
              <a:solidFill>
                <a:srgbClr val="0070C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981200"/>
            <a:ext cx="10515600" cy="39576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400" dirty="0">
                <a:solidFill>
                  <a:srgbClr val="0070C0"/>
                </a:solidFill>
              </a:rPr>
              <a:t> Determinación de Flujo de Fondos</a:t>
            </a:r>
          </a:p>
          <a:p>
            <a:pPr marL="1419225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ES" sz="2400" dirty="0">
                <a:solidFill>
                  <a:srgbClr val="0070C0"/>
                </a:solidFill>
              </a:rPr>
              <a:t>Definición de Tasa de Corte</a:t>
            </a:r>
          </a:p>
          <a:p>
            <a:pPr marL="1419225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ES" sz="2400" dirty="0">
                <a:solidFill>
                  <a:srgbClr val="0070C0"/>
                </a:solidFill>
              </a:rPr>
              <a:t>VAN</a:t>
            </a:r>
          </a:p>
          <a:p>
            <a:pPr marL="1419225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ES" sz="2400" dirty="0">
                <a:solidFill>
                  <a:srgbClr val="0070C0"/>
                </a:solidFill>
              </a:rPr>
              <a:t>TIR</a:t>
            </a:r>
          </a:p>
          <a:p>
            <a:pPr marL="1419225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ES" sz="2400" dirty="0">
                <a:solidFill>
                  <a:srgbClr val="0070C0"/>
                </a:solidFill>
              </a:rPr>
              <a:t>Break Point</a:t>
            </a:r>
          </a:p>
          <a:p>
            <a:pPr marL="1419225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ES" sz="2400" dirty="0">
                <a:solidFill>
                  <a:srgbClr val="0070C0"/>
                </a:solidFill>
              </a:rPr>
              <a:t>Periodo de repago de la inversión</a:t>
            </a:r>
          </a:p>
          <a:p>
            <a:endParaRPr lang="es-AR" dirty="0"/>
          </a:p>
        </p:txBody>
      </p:sp>
      <p:sp>
        <p:nvSpPr>
          <p:cNvPr id="5" name="CuadroTexto 4"/>
          <p:cNvSpPr txBox="1"/>
          <p:nvPr/>
        </p:nvSpPr>
        <p:spPr>
          <a:xfrm>
            <a:off x="7324725" y="6334780"/>
            <a:ext cx="4867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oper Black" panose="0208090404030B020404" pitchFamily="18" charset="0"/>
              </a:rPr>
              <a:t>Dirección y Administración de Proyectos</a:t>
            </a:r>
          </a:p>
          <a:p>
            <a:pPr algn="ctr"/>
            <a:r>
              <a:rPr lang="es-ES" sz="1400" dirty="0">
                <a:latin typeface="Cooper Black" panose="0208090404030B020404" pitchFamily="18" charset="0"/>
              </a:rPr>
              <a:t>Profesor: Jorge </a:t>
            </a:r>
            <a:r>
              <a:rPr lang="es-ES" sz="1400" dirty="0" err="1">
                <a:latin typeface="Cooper Black" panose="0208090404030B020404" pitchFamily="18" charset="0"/>
              </a:rPr>
              <a:t>Scali</a:t>
            </a:r>
            <a:endParaRPr lang="es-AR" sz="1400" dirty="0"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89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3150"/>
          </a:xfrm>
        </p:spPr>
        <p:txBody>
          <a:bodyPr>
            <a:normAutofit fontScale="90000"/>
          </a:bodyPr>
          <a:lstStyle/>
          <a:p>
            <a:br>
              <a:rPr lang="es-ES" dirty="0"/>
            </a:br>
            <a:br>
              <a:rPr lang="es-ES" dirty="0"/>
            </a:b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97280" y="2171700"/>
            <a:ext cx="10058400" cy="3697394"/>
          </a:xfrm>
        </p:spPr>
        <p:txBody>
          <a:bodyPr>
            <a:normAutofit/>
          </a:bodyPr>
          <a:lstStyle/>
          <a:p>
            <a:pPr marL="447675" indent="-2667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s-ES" sz="2800" dirty="0">
                <a:solidFill>
                  <a:srgbClr val="0070C0"/>
                </a:solidFill>
              </a:rPr>
              <a:t>Matriz de riesgos</a:t>
            </a:r>
          </a:p>
          <a:p>
            <a:pPr marL="447675" indent="-2667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s-ES" sz="2800" dirty="0">
                <a:solidFill>
                  <a:srgbClr val="0070C0"/>
                </a:solidFill>
              </a:rPr>
              <a:t>Hipótesis de posibles escenarios</a:t>
            </a:r>
            <a:endParaRPr lang="es-AR" sz="2800" dirty="0">
              <a:solidFill>
                <a:srgbClr val="0070C0"/>
              </a:solidFill>
            </a:endParaRP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981075" y="517525"/>
            <a:ext cx="10525125" cy="1120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s-ES" dirty="0"/>
            </a:br>
            <a:r>
              <a:rPr lang="es-ES" dirty="0">
                <a:solidFill>
                  <a:srgbClr val="0070C0"/>
                </a:solidFill>
                <a:latin typeface="Cooper Black" panose="0208090404030B020404" pitchFamily="18" charset="0"/>
              </a:rPr>
              <a:t>Escenarios</a:t>
            </a:r>
          </a:p>
          <a:p>
            <a:endParaRPr lang="es-AR" dirty="0"/>
          </a:p>
        </p:txBody>
      </p:sp>
      <p:sp>
        <p:nvSpPr>
          <p:cNvPr id="6" name="CuadroTexto 5"/>
          <p:cNvSpPr txBox="1"/>
          <p:nvPr/>
        </p:nvSpPr>
        <p:spPr>
          <a:xfrm>
            <a:off x="7324725" y="6334780"/>
            <a:ext cx="4867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oper Black" panose="0208090404030B020404" pitchFamily="18" charset="0"/>
              </a:rPr>
              <a:t>Dirección y Administración de Proyectos</a:t>
            </a:r>
          </a:p>
          <a:p>
            <a:pPr algn="ctr"/>
            <a:r>
              <a:rPr lang="es-ES" sz="1400" dirty="0">
                <a:latin typeface="Cooper Black" panose="0208090404030B020404" pitchFamily="18" charset="0"/>
              </a:rPr>
              <a:t>Profesor: Jorge </a:t>
            </a:r>
            <a:r>
              <a:rPr lang="es-ES" sz="1400" dirty="0" err="1">
                <a:latin typeface="Cooper Black" panose="0208090404030B020404" pitchFamily="18" charset="0"/>
              </a:rPr>
              <a:t>Scali</a:t>
            </a:r>
            <a:endParaRPr lang="es-AR" sz="1400" dirty="0"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37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ES" dirty="0"/>
            </a:br>
            <a:r>
              <a:rPr lang="es-ES" dirty="0">
                <a:solidFill>
                  <a:srgbClr val="0070C0"/>
                </a:solidFill>
                <a:latin typeface="Cooper Black" panose="0208090404030B020404" pitchFamily="18" charset="0"/>
              </a:rPr>
              <a:t>Informes</a:t>
            </a:r>
            <a:br>
              <a:rPr lang="es-ES" dirty="0">
                <a:solidFill>
                  <a:srgbClr val="0070C0"/>
                </a:solidFill>
              </a:rPr>
            </a:br>
            <a:endParaRPr lang="es-AR" dirty="0">
              <a:solidFill>
                <a:srgbClr val="0070C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809625" indent="-3619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s-ES" sz="2800" dirty="0">
                <a:solidFill>
                  <a:srgbClr val="0070C0"/>
                </a:solidFill>
              </a:rPr>
              <a:t>Plan Proyecto</a:t>
            </a:r>
          </a:p>
          <a:p>
            <a:pPr marL="809625" indent="-3619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s-ES" sz="2800" dirty="0">
                <a:solidFill>
                  <a:srgbClr val="0070C0"/>
                </a:solidFill>
              </a:rPr>
              <a:t>Resumen </a:t>
            </a:r>
          </a:p>
          <a:p>
            <a:pPr marL="809625" indent="-3619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s-ES" sz="2800" dirty="0">
                <a:solidFill>
                  <a:srgbClr val="0070C0"/>
                </a:solidFill>
              </a:rPr>
              <a:t>Presentación en PPT</a:t>
            </a:r>
          </a:p>
          <a:p>
            <a:pPr marL="809625" indent="-3619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s-ES" sz="2800" dirty="0">
                <a:solidFill>
                  <a:srgbClr val="0070C0"/>
                </a:solidFill>
              </a:rPr>
              <a:t>Video Pitch</a:t>
            </a:r>
          </a:p>
          <a:p>
            <a:endParaRPr lang="es-AR" dirty="0"/>
          </a:p>
        </p:txBody>
      </p:sp>
      <p:sp>
        <p:nvSpPr>
          <p:cNvPr id="5" name="CuadroTexto 4"/>
          <p:cNvSpPr txBox="1"/>
          <p:nvPr/>
        </p:nvSpPr>
        <p:spPr>
          <a:xfrm>
            <a:off x="7324725" y="6334780"/>
            <a:ext cx="4867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oper Black" panose="0208090404030B020404" pitchFamily="18" charset="0"/>
              </a:rPr>
              <a:t>Dirección y Administración de Proyectos</a:t>
            </a:r>
          </a:p>
          <a:p>
            <a:pPr algn="ctr"/>
            <a:r>
              <a:rPr lang="es-ES" sz="1400" dirty="0">
                <a:latin typeface="Cooper Black" panose="0208090404030B020404" pitchFamily="18" charset="0"/>
              </a:rPr>
              <a:t>Profesor: Jorge </a:t>
            </a:r>
            <a:r>
              <a:rPr lang="es-ES" sz="1400" dirty="0" err="1">
                <a:latin typeface="Cooper Black" panose="0208090404030B020404" pitchFamily="18" charset="0"/>
              </a:rPr>
              <a:t>Scali</a:t>
            </a:r>
            <a:endParaRPr lang="es-AR" sz="1400" dirty="0"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88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OTRAƎDUCACION: Preguntas sobre la educación finlandesa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846263"/>
            <a:ext cx="6438900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/>
          <p:cNvSpPr txBox="1"/>
          <p:nvPr/>
        </p:nvSpPr>
        <p:spPr>
          <a:xfrm>
            <a:off x="7324725" y="6334780"/>
            <a:ext cx="4867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oper Black" panose="0208090404030B020404" pitchFamily="18" charset="0"/>
              </a:rPr>
              <a:t>Dirección y Administración de Proyectos</a:t>
            </a:r>
          </a:p>
          <a:p>
            <a:pPr algn="ctr"/>
            <a:r>
              <a:rPr lang="es-ES" sz="1400" dirty="0">
                <a:latin typeface="Cooper Black" panose="0208090404030B020404" pitchFamily="18" charset="0"/>
              </a:rPr>
              <a:t>Profesor: Jorge </a:t>
            </a:r>
            <a:r>
              <a:rPr lang="es-ES" sz="1400" dirty="0" err="1">
                <a:latin typeface="Cooper Black" panose="0208090404030B020404" pitchFamily="18" charset="0"/>
              </a:rPr>
              <a:t>Scali</a:t>
            </a:r>
            <a:endParaRPr lang="es-AR" sz="1400" dirty="0"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593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97280" y="2724150"/>
            <a:ext cx="10058400" cy="3144944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</a:t>
            </a:r>
            <a:r>
              <a:rPr lang="en-US" dirty="0" err="1">
                <a:latin typeface="Arial Black" panose="020B0A04020102020204" pitchFamily="34" charset="0"/>
              </a:rPr>
              <a:t>Profesor</a:t>
            </a:r>
            <a:r>
              <a:rPr lang="en-US" dirty="0">
                <a:latin typeface="Arial Black" panose="020B0A04020102020204" pitchFamily="34" charset="0"/>
              </a:rPr>
              <a:t>: Dr. CPN </a:t>
            </a:r>
            <a:r>
              <a:rPr lang="en-US" b="1" dirty="0">
                <a:latin typeface="Arial Black" panose="020B0A04020102020204" pitchFamily="34" charset="0"/>
              </a:rPr>
              <a:t>Jorge </a:t>
            </a:r>
            <a:r>
              <a:rPr lang="en-US" b="1" dirty="0" err="1">
                <a:latin typeface="Arial Black" panose="020B0A04020102020204" pitchFamily="34" charset="0"/>
              </a:rPr>
              <a:t>Scali</a:t>
            </a:r>
            <a:r>
              <a:rPr lang="en-US" b="1" dirty="0">
                <a:latin typeface="Arial Black" panose="020B0A04020102020204" pitchFamily="34" charset="0"/>
              </a:rPr>
              <a:t>  </a:t>
            </a:r>
            <a:r>
              <a:rPr lang="en-US" u="sng" dirty="0">
                <a:latin typeface="Arial Black" panose="020B0A04020102020204" pitchFamily="34" charset="0"/>
                <a:hlinkClick r:id="rId2"/>
              </a:rPr>
              <a:t>jorge.scali@uai.edu.ar</a:t>
            </a:r>
            <a:endParaRPr lang="es-AR" dirty="0">
              <a:latin typeface="Arial Black" panose="020B0A04020102020204" pitchFamily="34" charset="0"/>
            </a:endParaRPr>
          </a:p>
          <a:p>
            <a:endParaRPr lang="es-AR" dirty="0">
              <a:latin typeface="Arial Black" panose="020B0A040201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825" y="2800765"/>
            <a:ext cx="1292087" cy="113306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CuadroTexto 5"/>
          <p:cNvSpPr txBox="1"/>
          <p:nvPr/>
        </p:nvSpPr>
        <p:spPr>
          <a:xfrm>
            <a:off x="7324725" y="6334780"/>
            <a:ext cx="4867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oper Black" panose="0208090404030B020404" pitchFamily="18" charset="0"/>
              </a:rPr>
              <a:t>Dirección y Administración de Proyectos</a:t>
            </a:r>
          </a:p>
          <a:p>
            <a:pPr algn="ctr"/>
            <a:r>
              <a:rPr lang="es-ES" sz="1400" dirty="0">
                <a:latin typeface="Cooper Black" panose="0208090404030B020404" pitchFamily="18" charset="0"/>
              </a:rPr>
              <a:t>Profesor: Jorge </a:t>
            </a:r>
            <a:r>
              <a:rPr lang="es-ES" sz="1400" dirty="0" err="1">
                <a:latin typeface="Cooper Black" panose="0208090404030B020404" pitchFamily="18" charset="0"/>
              </a:rPr>
              <a:t>Scali</a:t>
            </a:r>
            <a:endParaRPr lang="es-AR" sz="1400" dirty="0"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55205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TM02900769[[fn=Retrospección]]</Template>
  <TotalTime>140</TotalTime>
  <Words>279</Words>
  <Application>Microsoft Office PowerPoint</Application>
  <PresentationFormat>Panorámica</PresentationFormat>
  <Paragraphs>80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 Black</vt:lpstr>
      <vt:lpstr>Calibri</vt:lpstr>
      <vt:lpstr>Calibri Light</vt:lpstr>
      <vt:lpstr>Cooper Black</vt:lpstr>
      <vt:lpstr>Wingdings</vt:lpstr>
      <vt:lpstr>Retrospección</vt:lpstr>
      <vt:lpstr>Trabajo Final de Ingeniería </vt:lpstr>
      <vt:lpstr> Presupuesto Financiero </vt:lpstr>
      <vt:lpstr>Estructura del Presupuesto Financiero</vt:lpstr>
      <vt:lpstr> Hipótesis </vt:lpstr>
      <vt:lpstr> Modelo de Ingresos </vt:lpstr>
      <vt:lpstr> Modelo de Egresos </vt:lpstr>
      <vt:lpstr> Modelo de Inversión </vt:lpstr>
      <vt:lpstr> Presupuesto Financiero </vt:lpstr>
      <vt:lpstr>  </vt:lpstr>
      <vt:lpstr> Informes 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Presupuestos</dc:title>
  <dc:creator>Jorge</dc:creator>
  <cp:lastModifiedBy>Scali, Jorge</cp:lastModifiedBy>
  <cp:revision>20</cp:revision>
  <dcterms:created xsi:type="dcterms:W3CDTF">2020-07-22T19:52:03Z</dcterms:created>
  <dcterms:modified xsi:type="dcterms:W3CDTF">2023-08-29T13:30:19Z</dcterms:modified>
</cp:coreProperties>
</file>